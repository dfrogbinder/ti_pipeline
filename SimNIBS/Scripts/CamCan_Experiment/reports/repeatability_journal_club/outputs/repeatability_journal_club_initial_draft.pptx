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slides/slide24.xml" ContentType="application/vnd.openxmlformats-officedocument.presentationml.slide+xml"/>
  <Override PartName="/ppt/slides/slide25.xml" ContentType="application/vnd.openxmlformats-officedocument.presentationml.slide+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Slides/notesSlide6.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12191695"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notesMaster" Target="notesMasters/notesMaster1.xml"/><Relationship Id="rId30" Type="http://schemas.openxmlformats.org/officeDocument/2006/relationships/presProps" Target="presProps.xml" /><Relationship Id="rId31" Type="http://schemas.openxmlformats.org/officeDocument/2006/relationships/tableStyles" Target="tableStyles.xml" /><Relationship Id="rId3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480062090"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048983917"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812540926"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725752832"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543818918"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1197419848"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52464673" name="Slide Image Placeholder 1"/>
          <p:cNvSpPr>
            <a:spLocks noGrp="1"/>
          </p:cNvSpPr>
          <p:nvPr>
            <p:ph type="sldImg" idx="2"/>
          </p:nvPr>
        </p:nvSpPr>
        <p:spPr bwMode="auto"/>
      </p:sp>
      <p:sp>
        <p:nvSpPr>
          <p:cNvPr id="1167372639" name="Notes Placeholder 2"/>
          <p:cNvSpPr>
            <a:spLocks noGrp="1"/>
          </p:cNvSpPr>
          <p:nvPr>
            <p:ph type="body" sz="quarter" idx="3"/>
          </p:nvPr>
        </p:nvSpPr>
        <p:spPr bwMode="auto"/>
        <p:txBody>
          <a:bodyPr/>
          <a:lstStyle/>
          <a:p>
            <a:pPr>
              <a:defRPr/>
            </a:pPr>
            <a:r>
              <a:rPr/>
              <a:t>Opening (about 40 seconds): Individualized TI simulations are usually spoken about as though one anatomy and one montage produce one field map. This experiment asks whether that output is actually unique when the tetrahedral mesh is regenerated. The answer is no: in this workflow, the mesh realization contributes percent-level uncertainty.</a:t>
            </a:r>
            <a:endParaRPr/>
          </a:p>
          <a:p>
            <a:pPr>
              <a:defRPr/>
            </a:pPr>
            <a:endParaRPr/>
          </a:p>
          <a:p>
            <a:pPr>
              <a:defRPr/>
            </a:pPr>
            <a:r>
              <a:rPr/>
              <a:t>        Preview the two experiments: a ten-participant remesh-versus-fixed comparison and one fully nested 40-by-40 case that separates between-mesh from within-mesh variation.</a:t>
            </a:r>
            <a:endParaRPr/>
          </a:p>
        </p:txBody>
      </p:sp>
      <p:sp>
        <p:nvSpPr>
          <p:cNvPr id="457869106" name="Slide Number Placeholder 3"/>
          <p:cNvSpPr>
            <a:spLocks noGrp="1"/>
          </p:cNvSpPr>
          <p:nvPr>
            <p:ph type="sldNum" sz="quarter" idx="5"/>
          </p:nvPr>
        </p:nvSpPr>
        <p:spPr bwMode="auto"/>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2824458" name="Slide Image Placeholder 1"/>
          <p:cNvSpPr>
            <a:spLocks noGrp="1"/>
          </p:cNvSpPr>
          <p:nvPr>
            <p:ph type="sldImg" idx="2"/>
          </p:nvPr>
        </p:nvSpPr>
        <p:spPr bwMode="auto"/>
      </p:sp>
      <p:sp>
        <p:nvSpPr>
          <p:cNvPr id="81573287" name="Notes Placeholder 2"/>
          <p:cNvSpPr>
            <a:spLocks noGrp="1"/>
          </p:cNvSpPr>
          <p:nvPr>
            <p:ph type="body" sz="quarter" idx="3"/>
          </p:nvPr>
        </p:nvSpPr>
        <p:spPr bwMode="auto"/>
        <p:txBody>
          <a:bodyPr/>
          <a:lstStyle/>
          <a:p>
            <a:pPr>
              <a:defRPr/>
            </a:pPr>
            <a:r>
              <a:rPr/>
              <a:t>Walk left to right. The anatomy, labels, montage, currents, conductivities, software, and ROI stay fixed. The experimental factor is whether CHARM creates a fresh tetrahedral mesh or the same mesh workspace is reused.</a:t>
            </a:r>
            <a:endParaRPr/>
          </a:p>
          <a:p>
            <a:pPr>
              <a:defRPr/>
            </a:pPr>
            <a:endParaRPr/>
          </a:p>
          <a:p>
            <a:pPr>
              <a:defRPr/>
            </a:pPr>
            <a:r>
              <a:rPr/>
              <a:t>        The study is not comparing two biological states. It is measuring numerical repeatability of the modelling pipeline.</a:t>
            </a:r>
            <a:endParaRPr/>
          </a:p>
        </p:txBody>
      </p:sp>
      <p:sp>
        <p:nvSpPr>
          <p:cNvPr id="1946577666" name="Slide Number Placeholder 3"/>
          <p:cNvSpPr>
            <a:spLocks noGrp="1"/>
          </p:cNvSpPr>
          <p:nvPr>
            <p:ph type="sldNum" sz="quarter" idx="5"/>
          </p:nvPr>
        </p:nvSpPr>
        <p:spPr bwMode="auto"/>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9947639" name="Slide Image Placeholder 1"/>
          <p:cNvSpPr>
            <a:spLocks noGrp="1"/>
          </p:cNvSpPr>
          <p:nvPr>
            <p:ph type="sldImg" idx="2"/>
          </p:nvPr>
        </p:nvSpPr>
        <p:spPr bwMode="auto"/>
      </p:sp>
      <p:sp>
        <p:nvSpPr>
          <p:cNvPr id="2085897809" name="Notes Placeholder 2"/>
          <p:cNvSpPr>
            <a:spLocks noGrp="1"/>
          </p:cNvSpPr>
          <p:nvPr>
            <p:ph type="body" sz="quarter" idx="3"/>
          </p:nvPr>
        </p:nvSpPr>
        <p:spPr bwMode="auto"/>
        <p:txBody>
          <a:bodyPr/>
          <a:lstStyle/>
          <a:p>
            <a:pPr>
              <a:defRPr/>
            </a:pPr>
            <a:r>
              <a:rPr/>
              <a:t>The cohort contrast asks whether remesh-versus-fixed behavior is consistent across ten participants and both a deep and superficial target. The fully nested experiment asks where variation enters by crossing 40 independently generated meshes with 40 repeated solutions per mesh.</a:t>
            </a:r>
            <a:endParaRPr/>
          </a:p>
          <a:p>
            <a:pPr>
              <a:defRPr/>
            </a:pPr>
            <a:endParaRPr/>
          </a:p>
          <a:p>
            <a:pPr>
              <a:defRPr/>
            </a:pPr>
            <a:r>
              <a:rPr/>
              <a:t>        Do not combine the two sample sizes as though 3,200 were independent biological observations. These are technical simulation records.</a:t>
            </a:r>
            <a:endParaRPr/>
          </a:p>
        </p:txBody>
      </p:sp>
      <p:sp>
        <p:nvSpPr>
          <p:cNvPr id="311433866" name="Slide Number Placeholder 3"/>
          <p:cNvSpPr>
            <a:spLocks noGrp="1"/>
          </p:cNvSpPr>
          <p:nvPr>
            <p:ph type="sldNum" sz="quarter" idx="5"/>
          </p:nvPr>
        </p:nvSpPr>
        <p:spPr bwMode="auto"/>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44347489" name="Slide Image Placeholder 1"/>
          <p:cNvSpPr>
            <a:spLocks noGrp="1"/>
          </p:cNvSpPr>
          <p:nvPr>
            <p:ph type="sldImg" idx="2"/>
          </p:nvPr>
        </p:nvSpPr>
        <p:spPr bwMode="auto"/>
      </p:sp>
      <p:sp>
        <p:nvSpPr>
          <p:cNvPr id="244399682" name="Notes Placeholder 2"/>
          <p:cNvSpPr>
            <a:spLocks noGrp="1"/>
          </p:cNvSpPr>
          <p:nvPr>
            <p:ph type="body" sz="quarter" idx="3"/>
          </p:nvPr>
        </p:nvSpPr>
        <p:spPr bwMode="auto"/>
        <p:txBody>
          <a:bodyPr/>
          <a:lstStyle/>
          <a:p>
            <a:pPr>
              <a:defRPr/>
            </a:pPr>
            <a:r>
              <a:rPr/>
              <a:t>The remesh arm includes everything that can vary after the fixed inputs, including tetrahedralization. The fixed arm measures only residual solution and post-processing variation conditional on one selected mesh.</a:t>
            </a:r>
            <a:endParaRPr/>
          </a:p>
          <a:p>
            <a:pPr>
              <a:defRPr/>
            </a:pPr>
            <a:endParaRPr/>
          </a:p>
          <a:p>
            <a:pPr>
              <a:defRPr/>
            </a:pPr>
            <a:r>
              <a:rPr/>
              <a:t>        The fixed mesh is the remesh geometry nearest the median spherical-ROI result for that participant and target. This deliberately makes it representative of the remesh distribution; it does not make it the most anatomically accurate mesh.</a:t>
            </a:r>
            <a:endParaRPr/>
          </a:p>
          <a:p>
            <a:pPr>
              <a:defRPr/>
            </a:pPr>
            <a:endParaRPr/>
          </a:p>
          <a:p>
            <a:pPr>
              <a:defRPr/>
            </a:pPr>
            <a:r>
              <a:rPr/>
              <a:t>        Mention the correction only if useful here: the current fixed arm was rebuilt after aligning mesh selection with the optimizer-matched spherical ROI.</a:t>
            </a:r>
            <a:endParaRPr/>
          </a:p>
        </p:txBody>
      </p:sp>
      <p:sp>
        <p:nvSpPr>
          <p:cNvPr id="1403299752" name="Slide Number Placeholder 3"/>
          <p:cNvSpPr>
            <a:spLocks noGrp="1"/>
          </p:cNvSpPr>
          <p:nvPr>
            <p:ph type="sldNum" sz="quarter" idx="5"/>
          </p:nvPr>
        </p:nvSpPr>
        <p:spPr bwMode="auto"/>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8860107" name="Slide Image Placeholder 1"/>
          <p:cNvSpPr>
            <a:spLocks noGrp="1"/>
          </p:cNvSpPr>
          <p:nvPr>
            <p:ph type="sldImg" idx="2"/>
          </p:nvPr>
        </p:nvSpPr>
        <p:spPr bwMode="auto"/>
      </p:sp>
      <p:sp>
        <p:nvSpPr>
          <p:cNvPr id="1495866306" name="Notes Placeholder 2"/>
          <p:cNvSpPr>
            <a:spLocks noGrp="1"/>
          </p:cNvSpPr>
          <p:nvPr>
            <p:ph type="body" sz="quarter" idx="3"/>
          </p:nvPr>
        </p:nvSpPr>
        <p:spPr bwMode="auto"/>
        <p:txBody>
          <a:bodyPr/>
          <a:lstStyle/>
          <a:p>
            <a:pPr>
              <a:defRPr/>
            </a:pPr>
            <a:r>
              <a:rPr/>
              <a:t>Read the plot as within-participant technical variability, not between-person uncertainty. Each pale blue cloud is 40 independently remeshed simulations. The orange fixed-mesh repeats are visually collapsed.</a:t>
            </a:r>
            <a:endParaRPr/>
          </a:p>
          <a:p>
            <a:pPr>
              <a:defRPr/>
            </a:pPr>
            <a:endParaRPr/>
          </a:p>
          <a:p>
            <a:pPr>
              <a:defRPr/>
            </a:pPr>
            <a:r>
              <a:rPr/>
              <a:t>        The corrected spherical-ROI remesh CV range is 1.81–3.65%, with a median of 2.40%. The smallest participant-level SD reduction after mesh reuse is 99.19%.</a:t>
            </a:r>
            <a:endParaRPr/>
          </a:p>
        </p:txBody>
      </p:sp>
      <p:sp>
        <p:nvSpPr>
          <p:cNvPr id="914769752" name="Slide Number Placeholder 3"/>
          <p:cNvSpPr>
            <a:spLocks noGrp="1"/>
          </p:cNvSpPr>
          <p:nvPr>
            <p:ph type="sldNum" sz="quarter" idx="5"/>
          </p:nvPr>
        </p:nvSpPr>
        <p:spPr bwMode="auto"/>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4418267" name="Slide Image Placeholder 1"/>
          <p:cNvSpPr>
            <a:spLocks noGrp="1"/>
          </p:cNvSpPr>
          <p:nvPr>
            <p:ph type="sldImg" idx="2"/>
          </p:nvPr>
        </p:nvSpPr>
        <p:spPr bwMode="auto"/>
      </p:sp>
      <p:sp>
        <p:nvSpPr>
          <p:cNvPr id="2117234992" name="Notes Placeholder 2"/>
          <p:cNvSpPr>
            <a:spLocks noGrp="1"/>
          </p:cNvSpPr>
          <p:nvPr>
            <p:ph type="body" sz="quarter" idx="3"/>
          </p:nvPr>
        </p:nvSpPr>
        <p:spPr bwMode="auto"/>
        <p:txBody>
          <a:bodyPr/>
          <a:lstStyle/>
          <a:p>
            <a:pPr>
              <a:defRPr/>
            </a:pPr>
            <a:r>
              <a:rPr/>
              <a:t>The right-M1 result is qualitatively the same. Corrected spherical-ROI remesh CVs range from 1.62% to 2.79%, median 2.54%. The fixed-mesh SD reduction is at least 99.78%.</a:t>
            </a:r>
            <a:endParaRPr/>
          </a:p>
          <a:p>
            <a:pPr>
              <a:defRPr/>
            </a:pPr>
            <a:endParaRPr/>
          </a:p>
          <a:p>
            <a:pPr>
              <a:defRPr/>
            </a:pPr>
            <a:r>
              <a:rPr/>
              <a:t>        This replication supports robustness across the two evaluated targets, but not universal generalization to all montages, meshing tools, or ROIs.</a:t>
            </a:r>
            <a:endParaRPr/>
          </a:p>
        </p:txBody>
      </p:sp>
      <p:sp>
        <p:nvSpPr>
          <p:cNvPr id="2052317774" name="Slide Number Placeholder 3"/>
          <p:cNvSpPr>
            <a:spLocks noGrp="1"/>
          </p:cNvSpPr>
          <p:nvPr>
            <p:ph type="sldNum" sz="quarter" idx="5"/>
          </p:nvPr>
        </p:nvSpPr>
        <p:spPr bwMode="auto"/>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131909" name="Slide Image Placeholder 1"/>
          <p:cNvSpPr>
            <a:spLocks noGrp="1"/>
          </p:cNvSpPr>
          <p:nvPr>
            <p:ph type="sldImg" idx="2"/>
          </p:nvPr>
        </p:nvSpPr>
        <p:spPr bwMode="auto"/>
      </p:sp>
      <p:sp>
        <p:nvSpPr>
          <p:cNvPr id="1202294473" name="Notes Placeholder 2"/>
          <p:cNvSpPr>
            <a:spLocks noGrp="1"/>
          </p:cNvSpPr>
          <p:nvPr>
            <p:ph type="body" sz="quarter" idx="3"/>
          </p:nvPr>
        </p:nvSpPr>
        <p:spPr bwMode="auto"/>
        <p:txBody>
          <a:bodyPr/>
          <a:lstStyle/>
          <a:p>
            <a:pPr>
              <a:defRPr/>
            </a:pPr>
            <a:r>
              <a:rPr/>
              <a:t>The reference ordering uses each participant's 40-repeat mean. In each of 20,000 draws, one repeat is selected independently per participant.</a:t>
            </a:r>
            <a:endParaRPr/>
          </a:p>
          <a:p>
            <a:pPr>
              <a:defRPr/>
            </a:pPr>
            <a:endParaRPr/>
          </a:p>
          <a:p>
            <a:pPr>
              <a:defRPr/>
            </a:pPr>
            <a:r>
              <a:rPr/>
              <a:t>        At least one pair reverses in 95.7% of hippocampal draws and 88.5% of M1 draws. Median agreement remains high, so the message is not that all rankings are random. It is that close pairs are sensitive to which valid mesh was selected.</a:t>
            </a:r>
            <a:endParaRPr/>
          </a:p>
          <a:p>
            <a:pPr>
              <a:defRPr/>
            </a:pPr>
            <a:endParaRPr/>
          </a:p>
          <a:p>
            <a:pPr>
              <a:defRPr/>
            </a:pPr>
            <a:r>
              <a:rPr/>
              <a:t>        These are uncertainty measures, not p-values.</a:t>
            </a:r>
            <a:endParaRPr/>
          </a:p>
        </p:txBody>
      </p:sp>
      <p:sp>
        <p:nvSpPr>
          <p:cNvPr id="1700391616" name="Slide Number Placeholder 3"/>
          <p:cNvSpPr>
            <a:spLocks noGrp="1"/>
          </p:cNvSpPr>
          <p:nvPr>
            <p:ph type="sldNum" sz="quarter" idx="5"/>
          </p:nvPr>
        </p:nvSpPr>
        <p:spPr bwMode="auto"/>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6866278" name="Slide Image Placeholder 1"/>
          <p:cNvSpPr>
            <a:spLocks noGrp="1"/>
          </p:cNvSpPr>
          <p:nvPr>
            <p:ph type="sldImg" idx="2"/>
          </p:nvPr>
        </p:nvSpPr>
        <p:spPr bwMode="auto"/>
      </p:sp>
      <p:sp>
        <p:nvSpPr>
          <p:cNvPr id="1262137695" name="Notes Placeholder 2"/>
          <p:cNvSpPr>
            <a:spLocks noGrp="1"/>
          </p:cNvSpPr>
          <p:nvPr>
            <p:ph type="body" sz="quarter" idx="3"/>
          </p:nvPr>
        </p:nvSpPr>
        <p:spPr bwMode="auto"/>
        <p:txBody>
          <a:bodyPr/>
          <a:lstStyle/>
          <a:p>
            <a:pPr>
              <a:defRPr/>
            </a:pPr>
            <a:r>
              <a:rPr/>
              <a:t>The heatmap shows small but structured shifts in the proportion of volume assigned to tissue classes across remesh realizations. Total tetrahedral element count also varies substantially within participant, while it is constant when the mesh is reused.</a:t>
            </a:r>
            <a:endParaRPr/>
          </a:p>
          <a:p>
            <a:pPr>
              <a:defRPr/>
            </a:pPr>
            <a:endParaRPr/>
          </a:p>
          <a:p>
            <a:pPr>
              <a:defRPr/>
            </a:pPr>
            <a:r>
              <a:rPr/>
              <a:t>        Do not claim that a particular tissue transition caused the field changes. Element count is coarse, and local boundaries, element quality, electrode–skin geometry, and interpolation can also matter.</a:t>
            </a:r>
            <a:endParaRPr/>
          </a:p>
        </p:txBody>
      </p:sp>
      <p:sp>
        <p:nvSpPr>
          <p:cNvPr id="491929379" name="Slide Number Placeholder 3"/>
          <p:cNvSpPr>
            <a:spLocks noGrp="1"/>
          </p:cNvSpPr>
          <p:nvPr>
            <p:ph type="sldNum" sz="quarter" idx="5"/>
          </p:nvPr>
        </p:nvSpPr>
        <p:spPr bwMode="auto"/>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0096983" name="Slide Image Placeholder 1"/>
          <p:cNvSpPr>
            <a:spLocks noGrp="1"/>
          </p:cNvSpPr>
          <p:nvPr>
            <p:ph type="sldImg" idx="2"/>
          </p:nvPr>
        </p:nvSpPr>
        <p:spPr bwMode="auto"/>
      </p:sp>
      <p:sp>
        <p:nvSpPr>
          <p:cNvPr id="1225808999" name="Notes Placeholder 2"/>
          <p:cNvSpPr>
            <a:spLocks noGrp="1"/>
          </p:cNvSpPr>
          <p:nvPr>
            <p:ph type="body" sz="quarter" idx="3"/>
          </p:nvPr>
        </p:nvSpPr>
        <p:spPr bwMode="auto"/>
        <p:txBody>
          <a:bodyPr/>
          <a:lstStyle/>
          <a:p>
            <a:pPr>
              <a:defRPr/>
            </a:pPr>
            <a:r>
              <a:rPr/>
              <a:t>The heatmap shows small but structured shifts in the proportion of volume assigned to tissue classes across remesh realizations. Total tetrahedral element count also varies substantially within participant, while it is constant when the mesh is reused.</a:t>
            </a:r>
            <a:endParaRPr/>
          </a:p>
          <a:p>
            <a:pPr>
              <a:defRPr/>
            </a:pPr>
            <a:endParaRPr/>
          </a:p>
          <a:p>
            <a:pPr>
              <a:defRPr/>
            </a:pPr>
            <a:r>
              <a:rPr/>
              <a:t>        Do not claim that a particular tissue transition caused the field changes. Element count is coarse, and local boundaries, element quality, electrode–skin geometry, and interpolation can also matter.</a:t>
            </a:r>
            <a:endParaRPr/>
          </a:p>
        </p:txBody>
      </p:sp>
      <p:sp>
        <p:nvSpPr>
          <p:cNvPr id="1314442046" name="Slide Number Placeholder 3"/>
          <p:cNvSpPr>
            <a:spLocks noGrp="1"/>
          </p:cNvSpPr>
          <p:nvPr>
            <p:ph type="sldNum" sz="quarter" idx="5"/>
          </p:nvPr>
        </p:nvSpPr>
        <p:spPr bwMode="auto"/>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3237908" name="Slide Image Placeholder 1"/>
          <p:cNvSpPr>
            <a:spLocks noGrp="1"/>
          </p:cNvSpPr>
          <p:nvPr>
            <p:ph type="sldImg" idx="2"/>
          </p:nvPr>
        </p:nvSpPr>
        <p:spPr bwMode="auto"/>
      </p:sp>
      <p:sp>
        <p:nvSpPr>
          <p:cNvPr id="564815791" name="Notes Placeholder 2"/>
          <p:cNvSpPr>
            <a:spLocks noGrp="1"/>
          </p:cNvSpPr>
          <p:nvPr>
            <p:ph type="body" sz="quarter" idx="3"/>
          </p:nvPr>
        </p:nvSpPr>
        <p:spPr bwMode="auto"/>
        <p:txBody>
          <a:bodyPr/>
          <a:lstStyle/>
          <a:p>
            <a:pPr>
              <a:defRPr/>
            </a:pPr>
            <a:r>
              <a:rPr/>
              <a:t>Each outer level is a freshly generated mesh. Each mesh is then copied and solved 40 times. The balanced one-way random-effects model separates variance among mesh means from residual variation among repeated solutions conditional on the same geometry.</a:t>
            </a:r>
            <a:endParaRPr/>
          </a:p>
          <a:p>
            <a:pPr>
              <a:defRPr/>
            </a:pPr>
            <a:endParaRPr/>
          </a:p>
          <a:p>
            <a:pPr>
              <a:defRPr/>
            </a:pPr>
            <a:r>
              <a:rPr/>
              <a:t>        The subject was selected once from the ten eligible participants with a fixed seed and persisted. The target was prespecified as left hippocampus.</a:t>
            </a:r>
            <a:endParaRPr/>
          </a:p>
        </p:txBody>
      </p:sp>
      <p:sp>
        <p:nvSpPr>
          <p:cNvPr id="222890235" name="Slide Number Placeholder 3"/>
          <p:cNvSpPr>
            <a:spLocks noGrp="1"/>
          </p:cNvSpPr>
          <p:nvPr>
            <p:ph type="sldNum" sz="quarter" idx="5"/>
          </p:nvPr>
        </p:nvSpPr>
        <p:spPr bwMode="auto"/>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87850879" name="Slide Image Placeholder 1"/>
          <p:cNvSpPr>
            <a:spLocks noGrp="1"/>
          </p:cNvSpPr>
          <p:nvPr>
            <p:ph type="sldImg" idx="2"/>
          </p:nvPr>
        </p:nvSpPr>
        <p:spPr bwMode="auto"/>
      </p:sp>
      <p:sp>
        <p:nvSpPr>
          <p:cNvPr id="1771956767" name="Notes Placeholder 2"/>
          <p:cNvSpPr>
            <a:spLocks noGrp="1"/>
          </p:cNvSpPr>
          <p:nvPr>
            <p:ph type="body" sz="quarter" idx="3"/>
          </p:nvPr>
        </p:nvSpPr>
        <p:spPr bwMode="auto"/>
        <p:txBody>
          <a:bodyPr/>
          <a:lstStyle/>
          <a:p>
            <a:pPr>
              <a:defRPr/>
            </a:pPr>
            <a:r>
              <a:rPr/>
              <a:t>The hierarchy matters before the equation. The design is balanced because all 40 meshes have 40 solutions. It is nested because every solution belongs to exactly one mesh. Mesh is a random effect because the numbered meshes are sampled realizations of the pipeline, not scientific conditions of interest. The subject and target are fixed.</a:t>
            </a:r>
            <a:endParaRPr/>
          </a:p>
        </p:txBody>
      </p:sp>
      <p:sp>
        <p:nvSpPr>
          <p:cNvPr id="172696440" name="Slide Number Placeholder 3"/>
          <p:cNvSpPr>
            <a:spLocks noGrp="1"/>
          </p:cNvSpPr>
          <p:nvPr>
            <p:ph type="sldNum" sz="quarter" idx="5"/>
          </p:nvPr>
        </p:nvSpPr>
        <p:spPr bwMode="auto"/>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78548250" name="Slide Image Placeholder 1"/>
          <p:cNvSpPr>
            <a:spLocks noGrp="1"/>
          </p:cNvSpPr>
          <p:nvPr>
            <p:ph type="sldImg" idx="2"/>
          </p:nvPr>
        </p:nvSpPr>
        <p:spPr bwMode="auto"/>
      </p:sp>
      <p:sp>
        <p:nvSpPr>
          <p:cNvPr id="512566180" name="Notes Placeholder 2"/>
          <p:cNvSpPr>
            <a:spLocks noGrp="1"/>
          </p:cNvSpPr>
          <p:nvPr>
            <p:ph type="body" sz="quarter" idx="3"/>
          </p:nvPr>
        </p:nvSpPr>
        <p:spPr bwMode="auto"/>
        <p:txBody>
          <a:bodyPr/>
          <a:lstStyle/>
          <a:p>
            <a:pPr>
              <a:defRPr/>
            </a:pPr>
            <a:r>
              <a:rPr/>
              <a:t>Read the equation in plain language: an observed field is the overall mean plus the shift associated with that mesh plus residual repeat-to-repeat variation. The left component is estimated from the spread of mesh means. The right component is estimated from scatter around each mesh's own mean. Because there is one fixed participant and target, this is source attribution within this workflow, not population inference.</a:t>
            </a:r>
            <a:endParaRPr/>
          </a:p>
        </p:txBody>
      </p:sp>
      <p:sp>
        <p:nvSpPr>
          <p:cNvPr id="745562534" name="Slide Number Placeholder 3"/>
          <p:cNvSpPr>
            <a:spLocks noGrp="1"/>
          </p:cNvSpPr>
          <p:nvPr>
            <p:ph type="sldNum" sz="quarter" idx="5"/>
          </p:nvPr>
        </p:nvSpPr>
        <p:spPr bwMode="auto"/>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2280129" name="Slide Image Placeholder 1"/>
          <p:cNvSpPr>
            <a:spLocks noGrp="1"/>
          </p:cNvSpPr>
          <p:nvPr>
            <p:ph type="sldImg" idx="2"/>
          </p:nvPr>
        </p:nvSpPr>
        <p:spPr bwMode="auto"/>
      </p:sp>
      <p:sp>
        <p:nvSpPr>
          <p:cNvPr id="403921590" name="Notes Placeholder 2"/>
          <p:cNvSpPr>
            <a:spLocks noGrp="1"/>
          </p:cNvSpPr>
          <p:nvPr>
            <p:ph type="body" sz="quarter" idx="3"/>
          </p:nvPr>
        </p:nvSpPr>
        <p:spPr bwMode="auto"/>
        <p:txBody>
          <a:bodyPr/>
          <a:lstStyle/>
          <a:p>
            <a:pPr>
              <a:defRPr/>
            </a:pPr>
            <a:r>
              <a:rPr/>
              <a:t>Read this chart from the blue points outward. Each blue point is not a mesh mean: it is the CV across 40 repeated solutions performed on one fixed mesh. The orange dashed line pools that within-mesh residual variability across all 40 meshes. The between-mesh CV of 2.018% is a different summary calculated from the spread of the 40 mesh means, so it is not drawn on this small within-mesh y-axis. Even the largest within-mesh CV is only 0.023%. In this participant and workflow, the between-mesh component SD is 501-fold larger and accounts for 99.9996% of the observed variance.</a:t>
            </a:r>
            <a:endParaRPr/>
          </a:p>
        </p:txBody>
      </p:sp>
      <p:sp>
        <p:nvSpPr>
          <p:cNvPr id="56742225" name="Slide Number Placeholder 3"/>
          <p:cNvSpPr>
            <a:spLocks noGrp="1"/>
          </p:cNvSpPr>
          <p:nvPr>
            <p:ph type="sldNum" sz="quarter" idx="5"/>
          </p:nvPr>
        </p:nvSpPr>
        <p:spPr bwMode="auto"/>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4164962" name="Slide Image Placeholder 1"/>
          <p:cNvSpPr>
            <a:spLocks noGrp="1"/>
          </p:cNvSpPr>
          <p:nvPr>
            <p:ph type="sldImg" idx="2"/>
          </p:nvPr>
        </p:nvSpPr>
        <p:spPr bwMode="auto"/>
      </p:sp>
      <p:sp>
        <p:nvSpPr>
          <p:cNvPr id="601594619" name="Notes Placeholder 2"/>
          <p:cNvSpPr>
            <a:spLocks noGrp="1"/>
          </p:cNvSpPr>
          <p:nvPr>
            <p:ph type="body" sz="quarter" idx="3"/>
          </p:nvPr>
        </p:nvSpPr>
        <p:spPr bwMode="auto"/>
        <p:txBody>
          <a:bodyPr/>
          <a:lstStyle/>
          <a:p>
            <a:pPr>
              <a:defRPr/>
            </a:pPr>
            <a:r>
              <a:rPr/>
              <a:t>Each point is the CV across 40 repeated solutions on one mesh. Most are exactly or effectively zero. The dashed line is the pooled within-mesh CV.</a:t>
            </a:r>
            <a:endParaRPr/>
          </a:p>
          <a:p>
            <a:pPr>
              <a:defRPr/>
            </a:pPr>
            <a:endParaRPr/>
          </a:p>
          <a:p>
            <a:pPr>
              <a:defRPr/>
            </a:pPr>
            <a:r>
              <a:rPr/>
              <a:t>        The between-mesh CV is 2.018%; pooled within-mesh CV is 0.0040%. The component SD ratio is 501-fold, and 99.9996% of total observed variance is attributed to mesh generation.</a:t>
            </a:r>
            <a:endParaRPr/>
          </a:p>
          <a:p>
            <a:pPr>
              <a:defRPr/>
            </a:pPr>
            <a:endParaRPr/>
          </a:p>
          <a:p>
            <a:pPr>
              <a:defRPr/>
            </a:pPr>
            <a:r>
              <a:rPr/>
              <a:t>        Keep saying 'in this participant' and 'in this workflow.'</a:t>
            </a:r>
            <a:endParaRPr/>
          </a:p>
        </p:txBody>
      </p:sp>
      <p:sp>
        <p:nvSpPr>
          <p:cNvPr id="2011167898" name="Slide Number Placeholder 3"/>
          <p:cNvSpPr>
            <a:spLocks noGrp="1"/>
          </p:cNvSpPr>
          <p:nvPr>
            <p:ph type="sldNum" sz="quarter" idx="5"/>
          </p:nvPr>
        </p:nvSpPr>
        <p:spPr bwMode="auto"/>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668500" name="Slide Image Placeholder 1"/>
          <p:cNvSpPr>
            <a:spLocks noGrp="1"/>
          </p:cNvSpPr>
          <p:nvPr>
            <p:ph type="sldImg" idx="2"/>
          </p:nvPr>
        </p:nvSpPr>
        <p:spPr bwMode="auto"/>
      </p:sp>
      <p:sp>
        <p:nvSpPr>
          <p:cNvPr id="1449765743" name="Notes Placeholder 2"/>
          <p:cNvSpPr>
            <a:spLocks noGrp="1"/>
          </p:cNvSpPr>
          <p:nvPr>
            <p:ph type="body" sz="quarter" idx="3"/>
          </p:nvPr>
        </p:nvSpPr>
        <p:spPr bwMode="auto"/>
        <p:txBody>
          <a:bodyPr/>
          <a:lstStyle/>
          <a:p>
            <a:pPr>
              <a:defRPr/>
            </a:pPr>
            <a:r>
              <a:rPr/>
              <a:t>This is a separate sensitivity analysis on one fixed MNI152 model. The mesh, reference image, ROI definitions, montages, conductivities, currents, and electrode geometry were held constant; only the SimNIBS runtime version changed.</a:t>
            </a:r>
            <a:endParaRPr/>
          </a:p>
          <a:p>
            <a:pPr>
              <a:defRPr/>
            </a:pPr>
            <a:endParaRPr/>
          </a:p>
          <a:p>
            <a:pPr>
              <a:defRPr/>
            </a:pPr>
            <a:r>
              <a:rPr/>
              <a:t>        SimNIBS 4.0.1 produced a lower mean ROI field than 4.5.0 in all 4 ROIs. The relative shift ranged from −1.13% to −2.97%. Whole-brain spatial agreement remained extremely high, with Pearson r at least 0.99983; relative L2 differences ranged from 0.82% to 3.54%.</a:t>
            </a:r>
            <a:endParaRPr/>
          </a:p>
          <a:p>
            <a:pPr>
              <a:defRPr/>
            </a:pPr>
            <a:endParaRPr/>
          </a:p>
          <a:p>
            <a:pPr>
              <a:defRPr/>
            </a:pPr>
            <a:r>
              <a:rPr/>
              <a:t>        The interpretation is a small, systematic amplitude shift with the spatial pattern largely preserved. Do not pool this fixed-model version comparison with the participant or remeshing distributions, and do not attach population inference to the four ROIs.</a:t>
            </a:r>
            <a:endParaRPr/>
          </a:p>
        </p:txBody>
      </p:sp>
      <p:sp>
        <p:nvSpPr>
          <p:cNvPr id="1439508768" name="Slide Number Placeholder 3"/>
          <p:cNvSpPr>
            <a:spLocks noGrp="1"/>
          </p:cNvSpPr>
          <p:nvPr>
            <p:ph type="sldNum" sz="quarter" idx="5"/>
          </p:nvPr>
        </p:nvSpPr>
        <p:spPr bwMode="auto"/>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32817752" name="Slide Image Placeholder 1"/>
          <p:cNvSpPr>
            <a:spLocks noGrp="1"/>
          </p:cNvSpPr>
          <p:nvPr>
            <p:ph type="sldImg" idx="2"/>
          </p:nvPr>
        </p:nvSpPr>
        <p:spPr bwMode="auto"/>
      </p:sp>
      <p:sp>
        <p:nvSpPr>
          <p:cNvPr id="1226876896" name="Notes Placeholder 2"/>
          <p:cNvSpPr>
            <a:spLocks noGrp="1"/>
          </p:cNvSpPr>
          <p:nvPr>
            <p:ph type="body" sz="quarter" idx="3"/>
          </p:nvPr>
        </p:nvSpPr>
        <p:spPr bwMode="auto"/>
        <p:txBody>
          <a:bodyPr/>
          <a:lstStyle/>
          <a:p>
            <a:pPr>
              <a:defRPr/>
            </a:pPr>
            <a:r>
              <a:rPr/>
              <a:t>The cohort analysis shows remesh CVs of 1.81–3.65% in left hippocampus and 1.62–2.79% in right M1. A single remesh repeat often changes at least one pairwise subject ordering. In the fully nested subject, 99.9996% of observed variance is assigned to differences between meshes.</a:t>
            </a:r>
            <a:endParaRPr/>
          </a:p>
          <a:p>
            <a:pPr>
              <a:defRPr/>
            </a:pPr>
            <a:endParaRPr/>
          </a:p>
          <a:p>
            <a:pPr>
              <a:defRPr/>
            </a:pPr>
            <a:r>
              <a:rPr/>
              <a:t>        Emphasize the boundary: the nested percentage is conditional on one subject, one target, and this workflow. It is not a claim that all simulation uncertainty everywhere is mesh-driven.</a:t>
            </a:r>
            <a:endParaRPr/>
          </a:p>
        </p:txBody>
      </p:sp>
      <p:sp>
        <p:nvSpPr>
          <p:cNvPr id="2033617630" name="Slide Number Placeholder 3"/>
          <p:cNvSpPr>
            <a:spLocks noGrp="1"/>
          </p:cNvSpPr>
          <p:nvPr>
            <p:ph type="sldNum" sz="quarter" idx="5"/>
          </p:nvPr>
        </p:nvSpPr>
        <p:spPr bwMode="auto"/>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2910467" name="Slide Image Placeholder 1"/>
          <p:cNvSpPr>
            <a:spLocks noGrp="1"/>
          </p:cNvSpPr>
          <p:nvPr>
            <p:ph type="sldImg" idx="2"/>
          </p:nvPr>
        </p:nvSpPr>
        <p:spPr bwMode="auto"/>
      </p:sp>
      <p:sp>
        <p:nvSpPr>
          <p:cNvPr id="1431891637" name="Notes Placeholder 2"/>
          <p:cNvSpPr>
            <a:spLocks noGrp="1"/>
          </p:cNvSpPr>
          <p:nvPr>
            <p:ph type="body" sz="quarter" idx="3"/>
          </p:nvPr>
        </p:nvSpPr>
        <p:spPr bwMode="auto"/>
        <p:txBody>
          <a:bodyPr/>
          <a:lstStyle/>
          <a:p>
            <a:pPr>
              <a:defRPr/>
            </a:pPr>
            <a:r>
              <a:rPr/>
              <a:t>The conclusion does not rest on a single plot. The main cohort shows the condition contrast, the nested experiment attributes the variance source, and structural metrics show that remeshing creates different numerical head models.</a:t>
            </a:r>
            <a:endParaRPr/>
          </a:p>
          <a:p>
            <a:pPr>
              <a:defRPr/>
            </a:pPr>
            <a:endParaRPr/>
          </a:p>
          <a:p>
            <a:pPr>
              <a:defRPr/>
            </a:pPr>
            <a:r>
              <a:rPr/>
              <a:t>        This is evidence that mesh realization is part of the computational specification. It is not evidence that any one realization is anatomically truer.</a:t>
            </a:r>
            <a:endParaRPr/>
          </a:p>
        </p:txBody>
      </p:sp>
      <p:sp>
        <p:nvSpPr>
          <p:cNvPr id="1617003897" name="Slide Number Placeholder 3"/>
          <p:cNvSpPr>
            <a:spLocks noGrp="1"/>
          </p:cNvSpPr>
          <p:nvPr>
            <p:ph type="sldNum" sz="quarter" idx="5"/>
          </p:nvPr>
        </p:nvSpPr>
        <p:spPr bwMode="auto"/>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60024998" name="Slide Image Placeholder 1"/>
          <p:cNvSpPr>
            <a:spLocks noGrp="1"/>
          </p:cNvSpPr>
          <p:nvPr>
            <p:ph type="sldImg" idx="2"/>
          </p:nvPr>
        </p:nvSpPr>
        <p:spPr bwMode="auto"/>
      </p:sp>
      <p:sp>
        <p:nvSpPr>
          <p:cNvPr id="1224854513" name="Notes Placeholder 2"/>
          <p:cNvSpPr>
            <a:spLocks noGrp="1"/>
          </p:cNvSpPr>
          <p:nvPr>
            <p:ph type="body" sz="quarter" idx="3"/>
          </p:nvPr>
        </p:nvSpPr>
        <p:spPr bwMode="auto"/>
        <p:txBody>
          <a:bodyPr/>
          <a:lstStyle/>
          <a:p>
            <a:pPr>
              <a:defRPr/>
            </a:pPr>
            <a:r>
              <a:rPr/>
              <a:t>Mesh reuse is useful for controlled comparisons because it removes a nuisance source. It is not automatically the best strategy for absolute dosimetry or accuracy claims.</a:t>
            </a:r>
            <a:endParaRPr/>
          </a:p>
          <a:p>
            <a:pPr>
              <a:defRPr/>
            </a:pPr>
            <a:endParaRPr/>
          </a:p>
          <a:p>
            <a:pPr>
              <a:defRPr/>
            </a:pPr>
            <a:r>
              <a:rPr/>
              <a:t>        If the effect of interest is a few percent, either average or model multiple mesh realizations, or demonstrate empirically that mesh uncertainty is negligible relative to that contrast. Preserve and checksum the chosen mesh so the model can be reproduced.</a:t>
            </a:r>
            <a:endParaRPr/>
          </a:p>
        </p:txBody>
      </p:sp>
      <p:sp>
        <p:nvSpPr>
          <p:cNvPr id="1566743578" name="Slide Number Placeholder 3"/>
          <p:cNvSpPr>
            <a:spLocks noGrp="1"/>
          </p:cNvSpPr>
          <p:nvPr>
            <p:ph type="sldNum" sz="quarter" idx="5"/>
          </p:nvPr>
        </p:nvSpPr>
        <p:spPr bwMode="auto"/>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0862896" name="Slide Image Placeholder 1"/>
          <p:cNvSpPr>
            <a:spLocks noGrp="1"/>
          </p:cNvSpPr>
          <p:nvPr>
            <p:ph type="sldImg" idx="2"/>
          </p:nvPr>
        </p:nvSpPr>
        <p:spPr bwMode="auto"/>
      </p:sp>
      <p:sp>
        <p:nvSpPr>
          <p:cNvPr id="1740160596" name="Notes Placeholder 2"/>
          <p:cNvSpPr>
            <a:spLocks noGrp="1"/>
          </p:cNvSpPr>
          <p:nvPr>
            <p:ph type="body" sz="quarter" idx="3"/>
          </p:nvPr>
        </p:nvSpPr>
        <p:spPr bwMode="auto"/>
        <p:txBody>
          <a:bodyPr/>
          <a:lstStyle/>
          <a:p>
            <a:pPr>
              <a:defRPr/>
            </a:pPr>
            <a:r>
              <a:rPr/>
              <a:t>The experiment is designed to quantify numerical repeatability, not validation against measured fields. Ten anatomical datasets and two targets provide replication, but not broad coverage of every montage or software stack.</a:t>
            </a:r>
            <a:endParaRPr/>
          </a:p>
          <a:p>
            <a:pPr>
              <a:defRPr/>
            </a:pPr>
            <a:endParaRPr/>
          </a:p>
          <a:p>
            <a:pPr>
              <a:defRPr/>
            </a:pPr>
            <a:r>
              <a:rPr/>
              <a:t>        The representative fixed mesh was selected using the primary field outcome, so its central value is expected to sit near the remesh center. The meaningful fixed-arm result is the near-zero spread conditional on that mesh—not independent accuracy.</a:t>
            </a:r>
            <a:endParaRPr/>
          </a:p>
        </p:txBody>
      </p:sp>
      <p:sp>
        <p:nvSpPr>
          <p:cNvPr id="980682901" name="Slide Number Placeholder 3"/>
          <p:cNvSpPr>
            <a:spLocks noGrp="1"/>
          </p:cNvSpPr>
          <p:nvPr>
            <p:ph type="sldNum" sz="quarter" idx="5"/>
          </p:nvPr>
        </p:nvSpPr>
        <p:spPr bwMode="auto"/>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406565" name="Slide Image Placeholder 1"/>
          <p:cNvSpPr>
            <a:spLocks noGrp="1"/>
          </p:cNvSpPr>
          <p:nvPr>
            <p:ph type="sldImg" idx="2"/>
          </p:nvPr>
        </p:nvSpPr>
        <p:spPr bwMode="auto"/>
      </p:sp>
      <p:sp>
        <p:nvSpPr>
          <p:cNvPr id="1390377352" name="Notes Placeholder 2"/>
          <p:cNvSpPr>
            <a:spLocks noGrp="1"/>
          </p:cNvSpPr>
          <p:nvPr>
            <p:ph type="body" sz="quarter" idx="3"/>
          </p:nvPr>
        </p:nvSpPr>
        <p:spPr bwMode="auto"/>
        <p:txBody>
          <a:bodyPr/>
          <a:lstStyle/>
          <a:p>
            <a:pPr>
              <a:defRPr/>
            </a:pPr>
            <a:r>
              <a:rPr/>
              <a:t>Pause on the take-home sentence, then invite discussion. These questions are intentionally methodological: whether to average or standardize, how to set a numerical tolerance, and what experiment would most efficiently test generalization.</a:t>
            </a:r>
            <a:endParaRPr/>
          </a:p>
        </p:txBody>
      </p:sp>
      <p:sp>
        <p:nvSpPr>
          <p:cNvPr id="1565224249" name="Slide Number Placeholder 3"/>
          <p:cNvSpPr>
            <a:spLocks noGrp="1"/>
          </p:cNvSpPr>
          <p:nvPr>
            <p:ph type="sldNum" sz="quarter" idx="5"/>
          </p:nvPr>
        </p:nvSpPr>
        <p:spPr bwMode="auto"/>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1187301" name="Slide Image Placeholder 1"/>
          <p:cNvSpPr>
            <a:spLocks noGrp="1"/>
          </p:cNvSpPr>
          <p:nvPr>
            <p:ph type="sldImg" idx="2"/>
          </p:nvPr>
        </p:nvSpPr>
        <p:spPr bwMode="auto"/>
      </p:sp>
      <p:sp>
        <p:nvSpPr>
          <p:cNvPr id="1001413465" name="Notes Placeholder 2"/>
          <p:cNvSpPr>
            <a:spLocks noGrp="1"/>
          </p:cNvSpPr>
          <p:nvPr>
            <p:ph type="body" sz="quarter" idx="3"/>
          </p:nvPr>
        </p:nvSpPr>
        <p:spPr bwMode="auto"/>
        <p:txBody>
          <a:bodyPr/>
          <a:lstStyle/>
          <a:p>
            <a:pPr>
              <a:defRPr/>
            </a:pPr>
            <a:r>
              <a:rPr/>
              <a:t>Use only if the audience wants to inspect which pairs drive ranking uncertainty.</a:t>
            </a:r>
            <a:endParaRPr/>
          </a:p>
        </p:txBody>
      </p:sp>
      <p:sp>
        <p:nvSpPr>
          <p:cNvPr id="1336381046" name="Slide Number Placeholder 3"/>
          <p:cNvSpPr>
            <a:spLocks noGrp="1"/>
          </p:cNvSpPr>
          <p:nvPr>
            <p:ph type="sldNum" sz="quarter" idx="5"/>
          </p:nvPr>
        </p:nvSpPr>
        <p:spPr bwMode="auto"/>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3564247" name="Slide Image Placeholder 1"/>
          <p:cNvSpPr>
            <a:spLocks noGrp="1"/>
          </p:cNvSpPr>
          <p:nvPr>
            <p:ph type="sldImg" idx="2"/>
          </p:nvPr>
        </p:nvSpPr>
        <p:spPr bwMode="auto"/>
      </p:sp>
      <p:sp>
        <p:nvSpPr>
          <p:cNvPr id="1638467937" name="Notes Placeholder 2"/>
          <p:cNvSpPr>
            <a:spLocks noGrp="1"/>
          </p:cNvSpPr>
          <p:nvPr>
            <p:ph type="body" sz="quarter" idx="3"/>
          </p:nvPr>
        </p:nvSpPr>
        <p:spPr bwMode="auto"/>
        <p:txBody>
          <a:bodyPr/>
          <a:lstStyle/>
          <a:p>
            <a:pPr>
              <a:defRPr/>
            </a:pPr>
            <a:r>
              <a:rPr/>
              <a:t>Use only if the audience wants to inspect which pairs drive ranking uncertainty.</a:t>
            </a:r>
            <a:endParaRPr/>
          </a:p>
        </p:txBody>
      </p:sp>
      <p:sp>
        <p:nvSpPr>
          <p:cNvPr id="984621153" name="Slide Number Placeholder 3"/>
          <p:cNvSpPr>
            <a:spLocks noGrp="1"/>
          </p:cNvSpPr>
          <p:nvPr>
            <p:ph type="sldNum" sz="quarter" idx="5"/>
          </p:nvPr>
        </p:nvSpPr>
        <p:spPr bwMode="auto"/>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56110847" name="Slide Image Placeholder 1"/>
          <p:cNvSpPr>
            <a:spLocks noGrp="1"/>
          </p:cNvSpPr>
          <p:nvPr>
            <p:ph type="sldImg" idx="2"/>
          </p:nvPr>
        </p:nvSpPr>
        <p:spPr bwMode="auto"/>
      </p:sp>
      <p:sp>
        <p:nvSpPr>
          <p:cNvPr id="745579400" name="Notes Placeholder 2"/>
          <p:cNvSpPr>
            <a:spLocks noGrp="1"/>
          </p:cNvSpPr>
          <p:nvPr>
            <p:ph type="body" sz="quarter" idx="3"/>
          </p:nvPr>
        </p:nvSpPr>
        <p:spPr bwMode="auto"/>
        <p:txBody>
          <a:bodyPr/>
          <a:lstStyle/>
          <a:p>
            <a:pPr>
              <a:defRPr/>
            </a:pPr>
            <a:r>
              <a:rPr/>
              <a:t>The cohort is balanced by recorded sex and covers five age bands. Both target experiments use the same ten participants.</a:t>
            </a:r>
            <a:endParaRPr/>
          </a:p>
        </p:txBody>
      </p:sp>
      <p:sp>
        <p:nvSpPr>
          <p:cNvPr id="73349819" name="Slide Number Placeholder 3"/>
          <p:cNvSpPr>
            <a:spLocks noGrp="1"/>
          </p:cNvSpPr>
          <p:nvPr>
            <p:ph type="sldNum" sz="quarter" idx="5"/>
          </p:nvPr>
        </p:nvSpPr>
        <p:spPr bwMode="auto"/>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34629831" name="Slide Image Placeholder 1"/>
          <p:cNvSpPr>
            <a:spLocks noGrp="1"/>
          </p:cNvSpPr>
          <p:nvPr>
            <p:ph type="sldImg" idx="2"/>
          </p:nvPr>
        </p:nvSpPr>
        <p:spPr bwMode="auto"/>
      </p:sp>
      <p:sp>
        <p:nvSpPr>
          <p:cNvPr id="1151624342" name="Notes Placeholder 2"/>
          <p:cNvSpPr>
            <a:spLocks noGrp="1"/>
          </p:cNvSpPr>
          <p:nvPr>
            <p:ph type="body" sz="quarter" idx="3"/>
          </p:nvPr>
        </p:nvSpPr>
        <p:spPr bwMode="auto"/>
        <p:txBody>
          <a:bodyPr/>
          <a:lstStyle/>
          <a:p>
            <a:pPr>
              <a:defRPr/>
            </a:pPr>
            <a:r>
              <a:rPr/>
              <a:t>The historical fixed mesh was selected using the anatomical parcel median, while the paper endpoint was refreshed to the optimizer-matched spherical ROI. Recomputing selection changed 18 of 20 participant–target representatives. The current presentation uses the regenerated spherical-fixed runs.</a:t>
            </a:r>
            <a:endParaRPr/>
          </a:p>
          <a:p>
            <a:pPr>
              <a:defRPr/>
            </a:pPr>
            <a:endParaRPr/>
          </a:p>
          <a:p>
            <a:pPr>
              <a:defRPr/>
            </a:pPr>
            <a:r>
              <a:rPr/>
              <a:t>        Some spherical ROI voxels were non-finite in a subset of runs, but support remained at least 97% in hippocampus and 99% in M1. Within-group correlations with the field metric were weak and are descriptive only.</a:t>
            </a:r>
            <a:endParaRPr/>
          </a:p>
        </p:txBody>
      </p:sp>
      <p:sp>
        <p:nvSpPr>
          <p:cNvPr id="28958951" name="Slide Number Placeholder 3"/>
          <p:cNvSpPr>
            <a:spLocks noGrp="1"/>
          </p:cNvSpPr>
          <p:nvPr>
            <p:ph type="sldNum" sz="quarter" idx="5"/>
          </p:nvPr>
        </p:nvSpPr>
        <p:spPr bwMode="auto"/>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72664655" name="Slide Image Placeholder 1"/>
          <p:cNvSpPr>
            <a:spLocks noGrp="1"/>
          </p:cNvSpPr>
          <p:nvPr>
            <p:ph type="sldImg" idx="2"/>
          </p:nvPr>
        </p:nvSpPr>
        <p:spPr bwMode="auto"/>
      </p:sp>
      <p:sp>
        <p:nvSpPr>
          <p:cNvPr id="1968956142" name="Notes Placeholder 2"/>
          <p:cNvSpPr>
            <a:spLocks noGrp="1"/>
          </p:cNvSpPr>
          <p:nvPr>
            <p:ph type="body" sz="quarter" idx="3"/>
          </p:nvPr>
        </p:nvSpPr>
        <p:spPr bwMode="auto"/>
        <p:txBody>
          <a:bodyPr/>
          <a:lstStyle/>
          <a:p>
            <a:pPr>
              <a:defRPr/>
            </a:pPr>
            <a:r>
              <a:rPr/>
              <a:t>These references support the TI, SimNIBS, finite-element, and CamCAN context. The numerical results in the deck come from the corrected local analysis artifacts, not the older manuscript tables.</a:t>
            </a:r>
            <a:endParaRPr/>
          </a:p>
        </p:txBody>
      </p:sp>
      <p:sp>
        <p:nvSpPr>
          <p:cNvPr id="1848568240" name="Slide Number Placeholder 3"/>
          <p:cNvSpPr>
            <a:spLocks noGrp="1"/>
          </p:cNvSpPr>
          <p:nvPr>
            <p:ph type="sldNum" sz="quarter" idx="5"/>
          </p:nvPr>
        </p:nvSpPr>
        <p:spPr bwMode="auto"/>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2039756938"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600919524"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1205716160"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917412373" name="Footer Placeholder 4"/>
          <p:cNvSpPr>
            <a:spLocks noGrp="1"/>
          </p:cNvSpPr>
          <p:nvPr>
            <p:ph type="ftr" sz="quarter" idx="11"/>
          </p:nvPr>
        </p:nvSpPr>
        <p:spPr bwMode="auto"/>
        <p:txBody>
          <a:bodyPr/>
          <a:lstStyle/>
          <a:p>
            <a:pPr>
              <a:defRPr/>
            </a:pPr>
            <a:endParaRPr lang="en-US"/>
          </a:p>
        </p:txBody>
      </p:sp>
      <p:sp>
        <p:nvSpPr>
          <p:cNvPr id="181393393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986643247" name="Title 1"/>
          <p:cNvSpPr>
            <a:spLocks noGrp="1"/>
          </p:cNvSpPr>
          <p:nvPr>
            <p:ph type="title"/>
          </p:nvPr>
        </p:nvSpPr>
        <p:spPr bwMode="auto"/>
        <p:txBody>
          <a:bodyPr/>
          <a:lstStyle/>
          <a:p>
            <a:pPr>
              <a:defRPr/>
            </a:pPr>
            <a:r>
              <a:rPr lang="en-US"/>
              <a:t>Click to edit Master title style</a:t>
            </a:r>
            <a:endParaRPr lang="en-US"/>
          </a:p>
        </p:txBody>
      </p:sp>
      <p:sp>
        <p:nvSpPr>
          <p:cNvPr id="1539154200"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48408970"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86849308" name="Footer Placeholder 4"/>
          <p:cNvSpPr>
            <a:spLocks noGrp="1"/>
          </p:cNvSpPr>
          <p:nvPr>
            <p:ph type="ftr" sz="quarter" idx="11"/>
          </p:nvPr>
        </p:nvSpPr>
        <p:spPr bwMode="auto"/>
        <p:txBody>
          <a:bodyPr/>
          <a:lstStyle/>
          <a:p>
            <a:pPr>
              <a:defRPr/>
            </a:pPr>
            <a:endParaRPr lang="en-US"/>
          </a:p>
        </p:txBody>
      </p:sp>
      <p:sp>
        <p:nvSpPr>
          <p:cNvPr id="31894133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2101008559"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018934403"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666672067"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28792052" name="Footer Placeholder 4"/>
          <p:cNvSpPr>
            <a:spLocks noGrp="1"/>
          </p:cNvSpPr>
          <p:nvPr>
            <p:ph type="ftr" sz="quarter" idx="11"/>
          </p:nvPr>
        </p:nvSpPr>
        <p:spPr bwMode="auto"/>
        <p:txBody>
          <a:bodyPr/>
          <a:lstStyle/>
          <a:p>
            <a:pPr>
              <a:defRPr/>
            </a:pPr>
            <a:endParaRPr lang="en-US"/>
          </a:p>
        </p:txBody>
      </p:sp>
      <p:sp>
        <p:nvSpPr>
          <p:cNvPr id="985351302"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212396414" name="Title 1"/>
          <p:cNvSpPr>
            <a:spLocks noGrp="1"/>
          </p:cNvSpPr>
          <p:nvPr>
            <p:ph type="title"/>
          </p:nvPr>
        </p:nvSpPr>
        <p:spPr bwMode="auto"/>
        <p:txBody>
          <a:bodyPr/>
          <a:lstStyle/>
          <a:p>
            <a:pPr>
              <a:defRPr/>
            </a:pPr>
            <a:r>
              <a:rPr lang="en-US"/>
              <a:t>Click to edit Master title style</a:t>
            </a:r>
            <a:endParaRPr lang="en-US"/>
          </a:p>
        </p:txBody>
      </p:sp>
      <p:sp>
        <p:nvSpPr>
          <p:cNvPr id="1935223916"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48444029"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40066975"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61511204" name="Footer Placeholder 5"/>
          <p:cNvSpPr>
            <a:spLocks noGrp="1"/>
          </p:cNvSpPr>
          <p:nvPr>
            <p:ph type="ftr" sz="quarter" idx="11"/>
          </p:nvPr>
        </p:nvSpPr>
        <p:spPr bwMode="auto"/>
        <p:txBody>
          <a:bodyPr/>
          <a:lstStyle/>
          <a:p>
            <a:pPr>
              <a:defRPr/>
            </a:pPr>
            <a:endParaRPr lang="en-US"/>
          </a:p>
        </p:txBody>
      </p:sp>
      <p:sp>
        <p:nvSpPr>
          <p:cNvPr id="339401479"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2062903395"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1272830371"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014980278"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46090833"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141082141"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91637209"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55549528" name="Footer Placeholder 7"/>
          <p:cNvSpPr>
            <a:spLocks noGrp="1"/>
          </p:cNvSpPr>
          <p:nvPr>
            <p:ph type="ftr" sz="quarter" idx="11"/>
          </p:nvPr>
        </p:nvSpPr>
        <p:spPr bwMode="auto"/>
        <p:txBody>
          <a:bodyPr/>
          <a:lstStyle/>
          <a:p>
            <a:pPr>
              <a:defRPr/>
            </a:pPr>
            <a:endParaRPr lang="en-US"/>
          </a:p>
        </p:txBody>
      </p:sp>
      <p:sp>
        <p:nvSpPr>
          <p:cNvPr id="1741219423"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903511872" name="Title 1"/>
          <p:cNvSpPr>
            <a:spLocks noGrp="1"/>
          </p:cNvSpPr>
          <p:nvPr>
            <p:ph type="title"/>
          </p:nvPr>
        </p:nvSpPr>
        <p:spPr bwMode="auto"/>
        <p:txBody>
          <a:bodyPr/>
          <a:lstStyle/>
          <a:p>
            <a:pPr>
              <a:defRPr/>
            </a:pPr>
            <a:r>
              <a:rPr lang="en-US"/>
              <a:t>Click to edit Master title style</a:t>
            </a:r>
            <a:endParaRPr lang="en-US"/>
          </a:p>
        </p:txBody>
      </p:sp>
      <p:sp>
        <p:nvSpPr>
          <p:cNvPr id="1764654781"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626423356" name="Footer Placeholder 3"/>
          <p:cNvSpPr>
            <a:spLocks noGrp="1"/>
          </p:cNvSpPr>
          <p:nvPr>
            <p:ph type="ftr" sz="quarter" idx="11"/>
          </p:nvPr>
        </p:nvSpPr>
        <p:spPr bwMode="auto"/>
        <p:txBody>
          <a:bodyPr/>
          <a:lstStyle/>
          <a:p>
            <a:pPr>
              <a:defRPr/>
            </a:pPr>
            <a:endParaRPr lang="en-US"/>
          </a:p>
        </p:txBody>
      </p:sp>
      <p:sp>
        <p:nvSpPr>
          <p:cNvPr id="561624101"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748942701"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773220022" name="Footer Placeholder 2"/>
          <p:cNvSpPr>
            <a:spLocks noGrp="1"/>
          </p:cNvSpPr>
          <p:nvPr>
            <p:ph type="ftr" sz="quarter" idx="11"/>
          </p:nvPr>
        </p:nvSpPr>
        <p:spPr bwMode="auto"/>
        <p:txBody>
          <a:bodyPr/>
          <a:lstStyle/>
          <a:p>
            <a:pPr>
              <a:defRPr/>
            </a:pPr>
            <a:endParaRPr lang="en-US"/>
          </a:p>
        </p:txBody>
      </p:sp>
      <p:sp>
        <p:nvSpPr>
          <p:cNvPr id="1133279269"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062975147"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538832247"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100940131"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900153667"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830540635" name="Footer Placeholder 5"/>
          <p:cNvSpPr>
            <a:spLocks noGrp="1"/>
          </p:cNvSpPr>
          <p:nvPr>
            <p:ph type="ftr" sz="quarter" idx="11"/>
          </p:nvPr>
        </p:nvSpPr>
        <p:spPr bwMode="auto"/>
        <p:txBody>
          <a:bodyPr/>
          <a:lstStyle/>
          <a:p>
            <a:pPr>
              <a:defRPr/>
            </a:pPr>
            <a:endParaRPr lang="en-US"/>
          </a:p>
        </p:txBody>
      </p:sp>
      <p:sp>
        <p:nvSpPr>
          <p:cNvPr id="1446848495"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813278997"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632707600"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382328276"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153068034"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422211253" name="Footer Placeholder 5"/>
          <p:cNvSpPr>
            <a:spLocks noGrp="1"/>
          </p:cNvSpPr>
          <p:nvPr>
            <p:ph type="ftr" sz="quarter" idx="11"/>
          </p:nvPr>
        </p:nvSpPr>
        <p:spPr bwMode="auto"/>
        <p:txBody>
          <a:bodyPr/>
          <a:lstStyle/>
          <a:p>
            <a:pPr>
              <a:defRPr/>
            </a:pPr>
            <a:endParaRPr lang="en-US"/>
          </a:p>
        </p:txBody>
      </p:sp>
      <p:sp>
        <p:nvSpPr>
          <p:cNvPr id="517193127"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660117599" name="Title 1"/>
          <p:cNvSpPr>
            <a:spLocks noGrp="1"/>
          </p:cNvSpPr>
          <p:nvPr>
            <p:ph type="title"/>
          </p:nvPr>
        </p:nvSpPr>
        <p:spPr bwMode="auto"/>
        <p:txBody>
          <a:bodyPr/>
          <a:lstStyle/>
          <a:p>
            <a:pPr>
              <a:defRPr/>
            </a:pPr>
            <a:r>
              <a:rPr lang="en-US"/>
              <a:t>Click to edit Master title style</a:t>
            </a:r>
            <a:endParaRPr lang="en-US"/>
          </a:p>
        </p:txBody>
      </p:sp>
      <p:sp>
        <p:nvSpPr>
          <p:cNvPr id="376041308"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60305786"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440921639" name="Footer Placeholder 4"/>
          <p:cNvSpPr>
            <a:spLocks noGrp="1"/>
          </p:cNvSpPr>
          <p:nvPr>
            <p:ph type="ftr" sz="quarter" idx="11"/>
          </p:nvPr>
        </p:nvSpPr>
        <p:spPr bwMode="auto"/>
        <p:txBody>
          <a:bodyPr/>
          <a:lstStyle/>
          <a:p>
            <a:pPr>
              <a:defRPr/>
            </a:pPr>
            <a:endParaRPr lang="en-US"/>
          </a:p>
        </p:txBody>
      </p:sp>
      <p:sp>
        <p:nvSpPr>
          <p:cNvPr id="160076125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460864014"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840085657"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21041020"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080074399" name="Footer Placeholder 4"/>
          <p:cNvSpPr>
            <a:spLocks noGrp="1"/>
          </p:cNvSpPr>
          <p:nvPr>
            <p:ph type="ftr" sz="quarter" idx="11"/>
          </p:nvPr>
        </p:nvSpPr>
        <p:spPr bwMode="auto"/>
        <p:txBody>
          <a:bodyPr/>
          <a:lstStyle/>
          <a:p>
            <a:pPr>
              <a:defRPr/>
            </a:pPr>
            <a:endParaRPr lang="en-US"/>
          </a:p>
        </p:txBody>
      </p:sp>
      <p:sp>
        <p:nvSpPr>
          <p:cNvPr id="198610045"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428027283"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687707771"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27640200"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119752419"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024436679"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C1E30"/>
        </a:solidFill>
      </p:bgPr>
    </p:bg>
    <p:spTree>
      <p:nvGrpSpPr>
        <p:cNvPr id="1" name=""/>
        <p:cNvGrpSpPr/>
        <p:nvPr/>
      </p:nvGrpSpPr>
      <p:grpSpPr bwMode="auto">
        <a:xfrm>
          <a:off x="0" y="0"/>
          <a:ext cx="0" cy="0"/>
          <a:chOff x="0" y="0"/>
          <a:chExt cx="0" cy="0"/>
        </a:xfrm>
      </p:grpSpPr>
      <p:sp>
        <p:nvSpPr>
          <p:cNvPr id="29984995" name="Rectangle 1"/>
          <p:cNvSpPr/>
          <p:nvPr/>
        </p:nvSpPr>
        <p:spPr bwMode="auto">
          <a:xfrm>
            <a:off x="0" y="0"/>
            <a:ext cx="12191695" cy="118872"/>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9746957" name="TextBox 4"/>
          <p:cNvSpPr txBox="1"/>
          <p:nvPr/>
        </p:nvSpPr>
        <p:spPr bwMode="auto">
          <a:xfrm>
            <a:off x="621792" y="1143000"/>
            <a:ext cx="6675120" cy="1508759"/>
          </a:xfrm>
          <a:prstGeom prst="rect">
            <a:avLst/>
          </a:prstGeom>
          <a:noFill/>
        </p:spPr>
        <p:txBody>
          <a:bodyPr wrap="square" lIns="36576" tIns="0" rIns="36576" bIns="0" anchor="t">
            <a:spAutoFit/>
          </a:bodyPr>
          <a:lstStyle/>
          <a:p>
            <a:pPr algn="l">
              <a:defRPr sz="3800" b="1">
                <a:solidFill>
                  <a:srgbClr val="FFFFFF"/>
                </a:solidFill>
                <a:latin typeface="Noto Sans"/>
              </a:defRPr>
            </a:pPr>
            <a:r>
              <a:rPr/>
              <a:t>Mesh realization is</a:t>
            </a:r>
            <a:br>
              <a:rPr/>
            </a:br>
            <a:r>
              <a:rPr/>
              <a:t>part of the result</a:t>
            </a:r>
            <a:endParaRPr/>
          </a:p>
        </p:txBody>
      </p:sp>
      <p:sp>
        <p:nvSpPr>
          <p:cNvPr id="1248549580" name="TextBox 5"/>
          <p:cNvSpPr txBox="1"/>
          <p:nvPr/>
        </p:nvSpPr>
        <p:spPr bwMode="auto">
          <a:xfrm>
            <a:off x="658368" y="2907792"/>
            <a:ext cx="6263640" cy="658368"/>
          </a:xfrm>
          <a:prstGeom prst="rect">
            <a:avLst/>
          </a:prstGeom>
          <a:noFill/>
        </p:spPr>
        <p:txBody>
          <a:bodyPr wrap="square" lIns="36576" tIns="0" rIns="36576" bIns="0" anchor="t">
            <a:spAutoFit/>
          </a:bodyPr>
          <a:lstStyle/>
          <a:p>
            <a:pPr algn="l">
              <a:defRPr sz="2000" b="0">
                <a:solidFill>
                  <a:srgbClr val="CBD9E4"/>
                </a:solidFill>
                <a:latin typeface="Noto Sans"/>
              </a:defRPr>
            </a:pPr>
            <a:r>
              <a:rPr/>
              <a:t>Repeatability of individualized temporal-interference E-field simulations</a:t>
            </a:r>
            <a:endParaRPr/>
          </a:p>
        </p:txBody>
      </p:sp>
      <p:sp>
        <p:nvSpPr>
          <p:cNvPr id="750877903" name="TextBox 7"/>
          <p:cNvSpPr txBox="1"/>
          <p:nvPr/>
        </p:nvSpPr>
        <p:spPr bwMode="auto">
          <a:xfrm>
            <a:off x="658368" y="5870448"/>
            <a:ext cx="6355080" cy="438912"/>
          </a:xfrm>
          <a:prstGeom prst="rect">
            <a:avLst/>
          </a:prstGeom>
          <a:noFill/>
        </p:spPr>
        <p:txBody>
          <a:bodyPr wrap="square" lIns="36576" tIns="0" rIns="36576" bIns="0" anchor="t">
            <a:spAutoFit/>
          </a:bodyPr>
          <a:lstStyle/>
          <a:p>
            <a:pPr algn="l">
              <a:defRPr sz="1150" b="1">
                <a:solidFill>
                  <a:srgbClr val="FFFFFF"/>
                </a:solidFill>
                <a:latin typeface="Noto Sans"/>
              </a:defRPr>
            </a:pPr>
            <a:r>
              <a:rPr/>
              <a:t>Fresh remeshing produces percent-level spread; repeated solving on one mesh is nearly deterministic.</a:t>
            </a:r>
            <a:endParaRPr/>
          </a:p>
        </p:txBody>
      </p:sp>
      <p:sp>
        <p:nvSpPr>
          <p:cNvPr id="1451982820" name="TextBox 8"/>
          <p:cNvSpPr txBox="1"/>
          <p:nvPr/>
        </p:nvSpPr>
        <p:spPr bwMode="auto">
          <a:xfrm>
            <a:off x="7744968" y="758952"/>
            <a:ext cx="3383280" cy="228600"/>
          </a:xfrm>
          <a:prstGeom prst="rect">
            <a:avLst/>
          </a:prstGeom>
          <a:noFill/>
        </p:spPr>
        <p:txBody>
          <a:bodyPr wrap="square" lIns="36576" tIns="0" rIns="36576" bIns="0" anchor="t">
            <a:spAutoFit/>
          </a:bodyPr>
          <a:lstStyle/>
          <a:p>
            <a:pPr algn="ctr">
              <a:defRPr sz="900" b="1">
                <a:solidFill>
                  <a:srgbClr val="DDA83F"/>
                </a:solidFill>
                <a:latin typeface="Noto Sans"/>
              </a:defRPr>
            </a:pPr>
            <a:r>
              <a:rPr/>
              <a:t>FULLY NESTED CHECK</a:t>
            </a:r>
            <a:endParaRPr/>
          </a:p>
        </p:txBody>
      </p:sp>
      <p:sp>
        <p:nvSpPr>
          <p:cNvPr id="1165610968" name="Rounded Rectangle 9"/>
          <p:cNvSpPr/>
          <p:nvPr/>
        </p:nvSpPr>
        <p:spPr bwMode="auto">
          <a:xfrm>
            <a:off x="7552944" y="1225296"/>
            <a:ext cx="3794760" cy="4206240"/>
          </a:xfrm>
          <a:prstGeom prst="roundRect">
            <a:avLst>
              <a:gd name="adj" fmla="val 16667"/>
            </a:avLst>
          </a:prstGeom>
          <a:solidFill>
            <a:srgbClr val="112A3F"/>
          </a:solidFill>
          <a:ln w="10160">
            <a:solidFill>
              <a:srgbClr val="365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18855698" name="Oval 10"/>
          <p:cNvSpPr/>
          <p:nvPr/>
        </p:nvSpPr>
        <p:spPr bwMode="auto">
          <a:xfrm>
            <a:off x="7936992" y="1627632"/>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77500574" name="Oval 11"/>
          <p:cNvSpPr/>
          <p:nvPr/>
        </p:nvSpPr>
        <p:spPr bwMode="auto">
          <a:xfrm>
            <a:off x="8430767" y="162763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42547086" name="Oval 12"/>
          <p:cNvSpPr/>
          <p:nvPr/>
        </p:nvSpPr>
        <p:spPr bwMode="auto">
          <a:xfrm>
            <a:off x="8924544" y="162763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23899931" name="Oval 13"/>
          <p:cNvSpPr/>
          <p:nvPr/>
        </p:nvSpPr>
        <p:spPr bwMode="auto">
          <a:xfrm>
            <a:off x="9418320" y="1627632"/>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14287213" name="Oval 14"/>
          <p:cNvSpPr/>
          <p:nvPr/>
        </p:nvSpPr>
        <p:spPr bwMode="auto">
          <a:xfrm>
            <a:off x="9912096" y="162763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19793003" name="Oval 15"/>
          <p:cNvSpPr/>
          <p:nvPr/>
        </p:nvSpPr>
        <p:spPr bwMode="auto">
          <a:xfrm>
            <a:off x="10405872" y="162763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86423995" name="Oval 16"/>
          <p:cNvSpPr/>
          <p:nvPr/>
        </p:nvSpPr>
        <p:spPr bwMode="auto">
          <a:xfrm>
            <a:off x="7936992" y="2121408"/>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454919" name="Oval 17"/>
          <p:cNvSpPr/>
          <p:nvPr/>
        </p:nvSpPr>
        <p:spPr bwMode="auto">
          <a:xfrm>
            <a:off x="8430767" y="2121408"/>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74214335" name="Oval 18"/>
          <p:cNvSpPr/>
          <p:nvPr/>
        </p:nvSpPr>
        <p:spPr bwMode="auto">
          <a:xfrm>
            <a:off x="8924544" y="2121408"/>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99198526" name="Oval 19"/>
          <p:cNvSpPr/>
          <p:nvPr/>
        </p:nvSpPr>
        <p:spPr bwMode="auto">
          <a:xfrm>
            <a:off x="9418320" y="2121408"/>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18493098" name="Oval 20"/>
          <p:cNvSpPr/>
          <p:nvPr/>
        </p:nvSpPr>
        <p:spPr bwMode="auto">
          <a:xfrm>
            <a:off x="9912096" y="2121408"/>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31517685" name="Oval 21"/>
          <p:cNvSpPr/>
          <p:nvPr/>
        </p:nvSpPr>
        <p:spPr bwMode="auto">
          <a:xfrm>
            <a:off x="10405872" y="2121408"/>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77639157" name="Oval 22"/>
          <p:cNvSpPr/>
          <p:nvPr/>
        </p:nvSpPr>
        <p:spPr bwMode="auto">
          <a:xfrm>
            <a:off x="7936992" y="2615184"/>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17893519" name="Oval 23"/>
          <p:cNvSpPr/>
          <p:nvPr/>
        </p:nvSpPr>
        <p:spPr bwMode="auto">
          <a:xfrm>
            <a:off x="8430767" y="2615184"/>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98397973" name="Oval 24"/>
          <p:cNvSpPr/>
          <p:nvPr/>
        </p:nvSpPr>
        <p:spPr bwMode="auto">
          <a:xfrm>
            <a:off x="8924544" y="2615184"/>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56373124" name="Oval 25"/>
          <p:cNvSpPr/>
          <p:nvPr/>
        </p:nvSpPr>
        <p:spPr bwMode="auto">
          <a:xfrm>
            <a:off x="9418320" y="2615184"/>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17913182" name="Oval 26"/>
          <p:cNvSpPr/>
          <p:nvPr/>
        </p:nvSpPr>
        <p:spPr bwMode="auto">
          <a:xfrm>
            <a:off x="9912096" y="2615184"/>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9445389" name="Oval 27"/>
          <p:cNvSpPr/>
          <p:nvPr/>
        </p:nvSpPr>
        <p:spPr bwMode="auto">
          <a:xfrm>
            <a:off x="10405872" y="2615184"/>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17988604" name="Oval 28"/>
          <p:cNvSpPr/>
          <p:nvPr/>
        </p:nvSpPr>
        <p:spPr bwMode="auto">
          <a:xfrm>
            <a:off x="7936992" y="3108960"/>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41840416" name="Oval 29"/>
          <p:cNvSpPr/>
          <p:nvPr/>
        </p:nvSpPr>
        <p:spPr bwMode="auto">
          <a:xfrm>
            <a:off x="8430767" y="3108960"/>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7722249" name="Oval 30"/>
          <p:cNvSpPr/>
          <p:nvPr/>
        </p:nvSpPr>
        <p:spPr bwMode="auto">
          <a:xfrm>
            <a:off x="8924544" y="3108960"/>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06619430" name="Oval 31"/>
          <p:cNvSpPr/>
          <p:nvPr/>
        </p:nvSpPr>
        <p:spPr bwMode="auto">
          <a:xfrm>
            <a:off x="9418320" y="3108960"/>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13920369" name="Oval 32"/>
          <p:cNvSpPr/>
          <p:nvPr/>
        </p:nvSpPr>
        <p:spPr bwMode="auto">
          <a:xfrm>
            <a:off x="9912096" y="3108960"/>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49020735" name="Oval 33"/>
          <p:cNvSpPr/>
          <p:nvPr/>
        </p:nvSpPr>
        <p:spPr bwMode="auto">
          <a:xfrm>
            <a:off x="10405872" y="3108960"/>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51315016" name="Oval 34"/>
          <p:cNvSpPr/>
          <p:nvPr/>
        </p:nvSpPr>
        <p:spPr bwMode="auto">
          <a:xfrm>
            <a:off x="7936992" y="3602735"/>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04481187" name="Oval 35"/>
          <p:cNvSpPr/>
          <p:nvPr/>
        </p:nvSpPr>
        <p:spPr bwMode="auto">
          <a:xfrm>
            <a:off x="8430767" y="3602735"/>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34221732" name="Oval 36"/>
          <p:cNvSpPr/>
          <p:nvPr/>
        </p:nvSpPr>
        <p:spPr bwMode="auto">
          <a:xfrm>
            <a:off x="8924544" y="3602735"/>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8693436" name="Oval 37"/>
          <p:cNvSpPr/>
          <p:nvPr/>
        </p:nvSpPr>
        <p:spPr bwMode="auto">
          <a:xfrm>
            <a:off x="9418320" y="3602735"/>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36131015" name="Oval 38"/>
          <p:cNvSpPr/>
          <p:nvPr/>
        </p:nvSpPr>
        <p:spPr bwMode="auto">
          <a:xfrm>
            <a:off x="9912096" y="3602735"/>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45717718" name="Oval 39"/>
          <p:cNvSpPr/>
          <p:nvPr/>
        </p:nvSpPr>
        <p:spPr bwMode="auto">
          <a:xfrm>
            <a:off x="10405872" y="3602735"/>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36990329" name="Oval 40"/>
          <p:cNvSpPr/>
          <p:nvPr/>
        </p:nvSpPr>
        <p:spPr bwMode="auto">
          <a:xfrm>
            <a:off x="7936992" y="409651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99541993" name="Oval 41"/>
          <p:cNvSpPr/>
          <p:nvPr/>
        </p:nvSpPr>
        <p:spPr bwMode="auto">
          <a:xfrm>
            <a:off x="8430767" y="4096512"/>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69756629" name="Oval 42"/>
          <p:cNvSpPr/>
          <p:nvPr/>
        </p:nvSpPr>
        <p:spPr bwMode="auto">
          <a:xfrm>
            <a:off x="8924544" y="409651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8109745" name="Oval 43"/>
          <p:cNvSpPr/>
          <p:nvPr/>
        </p:nvSpPr>
        <p:spPr bwMode="auto">
          <a:xfrm>
            <a:off x="9418320" y="409651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11917797" name="Oval 44"/>
          <p:cNvSpPr/>
          <p:nvPr/>
        </p:nvSpPr>
        <p:spPr bwMode="auto">
          <a:xfrm>
            <a:off x="9912096" y="4096512"/>
            <a:ext cx="210312" cy="210312"/>
          </a:xfrm>
          <a:prstGeom prst="ellipse">
            <a:avLst/>
          </a:prstGeom>
          <a:solidFill>
            <a:srgbClr val="9DD8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64219730" name="Oval 45"/>
          <p:cNvSpPr/>
          <p:nvPr/>
        </p:nvSpPr>
        <p:spPr bwMode="auto">
          <a:xfrm>
            <a:off x="10405872" y="4096512"/>
            <a:ext cx="210312" cy="210312"/>
          </a:xfrm>
          <a:prstGeom prst="ellipse">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07907986" name="TextBox 46"/>
          <p:cNvSpPr txBox="1"/>
          <p:nvPr/>
        </p:nvSpPr>
        <p:spPr bwMode="auto">
          <a:xfrm>
            <a:off x="7982712" y="4572000"/>
            <a:ext cx="1143000" cy="502920"/>
          </a:xfrm>
          <a:prstGeom prst="rect">
            <a:avLst/>
          </a:prstGeom>
          <a:noFill/>
        </p:spPr>
        <p:txBody>
          <a:bodyPr wrap="square" lIns="36576" tIns="0" rIns="36576" bIns="0" anchor="t">
            <a:spAutoFit/>
          </a:bodyPr>
          <a:lstStyle/>
          <a:p>
            <a:pPr algn="ctr">
              <a:defRPr sz="3000" b="1">
                <a:solidFill>
                  <a:srgbClr val="FFFFFF"/>
                </a:solidFill>
                <a:latin typeface="Noto Sans"/>
              </a:defRPr>
            </a:pPr>
            <a:r>
              <a:rPr/>
              <a:t>40</a:t>
            </a:r>
            <a:endParaRPr/>
          </a:p>
        </p:txBody>
      </p:sp>
      <p:sp>
        <p:nvSpPr>
          <p:cNvPr id="607907153" name="TextBox 47"/>
          <p:cNvSpPr txBox="1"/>
          <p:nvPr/>
        </p:nvSpPr>
        <p:spPr bwMode="auto">
          <a:xfrm>
            <a:off x="7827264" y="5084064"/>
            <a:ext cx="1508759" cy="310896"/>
          </a:xfrm>
          <a:prstGeom prst="rect">
            <a:avLst/>
          </a:prstGeom>
          <a:noFill/>
        </p:spPr>
        <p:txBody>
          <a:bodyPr wrap="square" lIns="36576" tIns="0" rIns="36576" bIns="0" anchor="t">
            <a:spAutoFit/>
          </a:bodyPr>
          <a:lstStyle/>
          <a:p>
            <a:pPr algn="ctr">
              <a:defRPr sz="900" b="0">
                <a:solidFill>
                  <a:srgbClr val="B7CAD7"/>
                </a:solidFill>
                <a:latin typeface="Noto Sans"/>
              </a:defRPr>
            </a:pPr>
            <a:r>
              <a:rPr/>
              <a:t>independent meshes</a:t>
            </a:r>
            <a:endParaRPr/>
          </a:p>
        </p:txBody>
      </p:sp>
      <p:sp>
        <p:nvSpPr>
          <p:cNvPr id="1283542704" name="TextBox 48"/>
          <p:cNvSpPr txBox="1"/>
          <p:nvPr/>
        </p:nvSpPr>
        <p:spPr bwMode="auto">
          <a:xfrm>
            <a:off x="9308592" y="4617720"/>
            <a:ext cx="411480" cy="411480"/>
          </a:xfrm>
          <a:prstGeom prst="rect">
            <a:avLst/>
          </a:prstGeom>
          <a:noFill/>
        </p:spPr>
        <p:txBody>
          <a:bodyPr wrap="square" lIns="36576" tIns="0" rIns="36576" bIns="0" anchor="t">
            <a:spAutoFit/>
          </a:bodyPr>
          <a:lstStyle/>
          <a:p>
            <a:pPr algn="ctr">
              <a:defRPr sz="2400" b="1">
                <a:solidFill>
                  <a:srgbClr val="DDA83F"/>
                </a:solidFill>
                <a:latin typeface="Noto Sans"/>
              </a:defRPr>
            </a:pPr>
            <a:r>
              <a:rPr/>
              <a:t>×</a:t>
            </a:r>
            <a:endParaRPr/>
          </a:p>
        </p:txBody>
      </p:sp>
      <p:sp>
        <p:nvSpPr>
          <p:cNvPr id="461965238" name="TextBox 49"/>
          <p:cNvSpPr txBox="1"/>
          <p:nvPr/>
        </p:nvSpPr>
        <p:spPr bwMode="auto">
          <a:xfrm>
            <a:off x="9802368" y="4572000"/>
            <a:ext cx="1143000" cy="502920"/>
          </a:xfrm>
          <a:prstGeom prst="rect">
            <a:avLst/>
          </a:prstGeom>
          <a:noFill/>
        </p:spPr>
        <p:txBody>
          <a:bodyPr wrap="square" lIns="36576" tIns="0" rIns="36576" bIns="0" anchor="t">
            <a:spAutoFit/>
          </a:bodyPr>
          <a:lstStyle/>
          <a:p>
            <a:pPr algn="ctr">
              <a:defRPr sz="3000" b="1">
                <a:solidFill>
                  <a:srgbClr val="FFFFFF"/>
                </a:solidFill>
                <a:latin typeface="Noto Sans"/>
              </a:defRPr>
            </a:pPr>
            <a:r>
              <a:rPr/>
              <a:t>40</a:t>
            </a:r>
            <a:endParaRPr/>
          </a:p>
        </p:txBody>
      </p:sp>
      <p:sp>
        <p:nvSpPr>
          <p:cNvPr id="1278020174" name="TextBox 50"/>
          <p:cNvSpPr txBox="1"/>
          <p:nvPr/>
        </p:nvSpPr>
        <p:spPr bwMode="auto">
          <a:xfrm>
            <a:off x="9710928" y="5084064"/>
            <a:ext cx="1325880" cy="310896"/>
          </a:xfrm>
          <a:prstGeom prst="rect">
            <a:avLst/>
          </a:prstGeom>
          <a:noFill/>
        </p:spPr>
        <p:txBody>
          <a:bodyPr wrap="square" lIns="36576" tIns="0" rIns="36576" bIns="0" anchor="t">
            <a:spAutoFit/>
          </a:bodyPr>
          <a:lstStyle/>
          <a:p>
            <a:pPr algn="ctr">
              <a:defRPr sz="900" b="0">
                <a:solidFill>
                  <a:srgbClr val="B7CAD7"/>
                </a:solidFill>
                <a:latin typeface="Noto Sans"/>
              </a:defRPr>
            </a:pPr>
            <a:r>
              <a:rPr/>
              <a:t>solves per mesh</a:t>
            </a:r>
            <a:endParaRPr/>
          </a:p>
        </p:txBody>
      </p:sp>
      <p:sp>
        <p:nvSpPr>
          <p:cNvPr id="1867663646" name="TextBox 51"/>
          <p:cNvSpPr txBox="1"/>
          <p:nvPr/>
        </p:nvSpPr>
        <p:spPr bwMode="auto">
          <a:xfrm>
            <a:off x="7598664" y="5989320"/>
            <a:ext cx="3675887" cy="347472"/>
          </a:xfrm>
          <a:prstGeom prst="rect">
            <a:avLst/>
          </a:prstGeom>
          <a:noFill/>
        </p:spPr>
        <p:txBody>
          <a:bodyPr wrap="square" lIns="36576" tIns="0" rIns="36576" bIns="0" anchor="t">
            <a:spAutoFit/>
          </a:bodyPr>
          <a:lstStyle/>
          <a:p>
            <a:pPr algn="ctr">
              <a:defRPr sz="1000" b="1">
                <a:solidFill>
                  <a:srgbClr val="CBD9E4"/>
                </a:solidFill>
                <a:latin typeface="Noto Sans"/>
              </a:defRPr>
            </a:pPr>
            <a:r>
              <a:rPr/>
              <a:t>3,200 simulation records across cohort + nested experiments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8FA"/>
        </a:solidFill>
      </p:bgPr>
    </p:bg>
    <p:spTree>
      <p:nvGrpSpPr>
        <p:cNvPr id="1" name=""/>
        <p:cNvGrpSpPr/>
        <p:nvPr/>
      </p:nvGrpSpPr>
      <p:grpSpPr bwMode="auto">
        <a:xfrm>
          <a:off x="0" y="0"/>
          <a:ext cx="0" cy="0"/>
          <a:chOff x="0" y="0"/>
          <a:chExt cx="0" cy="0"/>
        </a:xfrm>
      </p:grpSpPr>
      <p:sp>
        <p:nvSpPr>
          <p:cNvPr id="1874703150"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WHY THIS MATTERS</a:t>
            </a:r>
            <a:endParaRPr/>
          </a:p>
        </p:txBody>
      </p:sp>
      <p:sp>
        <p:nvSpPr>
          <p:cNvPr id="865131559"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Identical inputs still pass through a variable numerical representation</a:t>
            </a:r>
            <a:endParaRPr/>
          </a:p>
        </p:txBody>
      </p:sp>
      <p:cxnSp>
        <p:nvCxnSpPr>
          <p:cNvPr id="1033169728"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1625079150"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03</a:t>
            </a:r>
            <a:endParaRPr/>
          </a:p>
        </p:txBody>
      </p:sp>
      <p:sp>
        <p:nvSpPr>
          <p:cNvPr id="966642966" name="Rounded Rectangle 6"/>
          <p:cNvSpPr/>
          <p:nvPr/>
        </p:nvSpPr>
        <p:spPr bwMode="auto">
          <a:xfrm>
            <a:off x="530352" y="1993392"/>
            <a:ext cx="1938528" cy="1417320"/>
          </a:xfrm>
          <a:prstGeom prst="roundRect">
            <a:avLst>
              <a:gd name="adj" fmla="val 16667"/>
            </a:avLst>
          </a:prstGeom>
          <a:solidFill>
            <a:srgbClr val="E0EFF9"/>
          </a:solidFill>
          <a:ln w="10160">
            <a:solidFill>
              <a:srgbClr val="194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62022614" name="Oval 7"/>
          <p:cNvSpPr/>
          <p:nvPr/>
        </p:nvSpPr>
        <p:spPr bwMode="auto">
          <a:xfrm>
            <a:off x="1298448" y="1581912"/>
            <a:ext cx="384048" cy="384048"/>
          </a:xfrm>
          <a:prstGeom prst="ellipse">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03945194" name="TextBox 8"/>
          <p:cNvSpPr txBox="1"/>
          <p:nvPr/>
        </p:nvSpPr>
        <p:spPr bwMode="auto">
          <a:xfrm>
            <a:off x="1298448" y="1700782"/>
            <a:ext cx="384048" cy="146304"/>
          </a:xfrm>
          <a:prstGeom prst="rect">
            <a:avLst/>
          </a:prstGeom>
          <a:noFill/>
        </p:spPr>
        <p:txBody>
          <a:bodyPr wrap="square" lIns="36576" tIns="0" rIns="36576" bIns="0" anchor="t">
            <a:spAutoFit/>
          </a:bodyPr>
          <a:lstStyle/>
          <a:p>
            <a:pPr algn="ctr">
              <a:defRPr sz="850" b="1">
                <a:solidFill>
                  <a:srgbClr val="FFFFFF"/>
                </a:solidFill>
                <a:latin typeface="Noto Sans"/>
              </a:defRPr>
            </a:pPr>
            <a:r>
              <a:rPr/>
              <a:t>1</a:t>
            </a:r>
            <a:endParaRPr/>
          </a:p>
        </p:txBody>
      </p:sp>
      <p:sp>
        <p:nvSpPr>
          <p:cNvPr id="1447330677" name="TextBox 9"/>
          <p:cNvSpPr txBox="1"/>
          <p:nvPr/>
        </p:nvSpPr>
        <p:spPr bwMode="auto">
          <a:xfrm>
            <a:off x="658368" y="2313432"/>
            <a:ext cx="1682496" cy="301752"/>
          </a:xfrm>
          <a:prstGeom prst="rect">
            <a:avLst/>
          </a:prstGeom>
          <a:noFill/>
        </p:spPr>
        <p:txBody>
          <a:bodyPr wrap="square" lIns="36576" tIns="0" rIns="36576" bIns="0" anchor="t">
            <a:spAutoFit/>
          </a:bodyPr>
          <a:lstStyle/>
          <a:p>
            <a:pPr algn="ctr">
              <a:defRPr sz="1500" b="1">
                <a:solidFill>
                  <a:srgbClr val="0C1E30"/>
                </a:solidFill>
                <a:latin typeface="Noto Sans"/>
              </a:defRPr>
            </a:pPr>
            <a:r>
              <a:rPr/>
              <a:t>MRI + labels</a:t>
            </a:r>
            <a:endParaRPr/>
          </a:p>
        </p:txBody>
      </p:sp>
      <p:sp>
        <p:nvSpPr>
          <p:cNvPr id="733939417" name="TextBox 10"/>
          <p:cNvSpPr txBox="1"/>
          <p:nvPr/>
        </p:nvSpPr>
        <p:spPr bwMode="auto">
          <a:xfrm>
            <a:off x="649224" y="2770632"/>
            <a:ext cx="1700784" cy="228600"/>
          </a:xfrm>
          <a:prstGeom prst="rect">
            <a:avLst/>
          </a:prstGeom>
          <a:noFill/>
        </p:spPr>
        <p:txBody>
          <a:bodyPr wrap="square" lIns="36576" tIns="0" rIns="36576" bIns="0" anchor="t">
            <a:spAutoFit/>
          </a:bodyPr>
          <a:lstStyle/>
          <a:p>
            <a:pPr algn="ctr">
              <a:defRPr sz="950" b="0">
                <a:solidFill>
                  <a:srgbClr val="566572"/>
                </a:solidFill>
                <a:latin typeface="Noto Sans"/>
              </a:defRPr>
            </a:pPr>
            <a:r>
              <a:rPr/>
              <a:t>fixed anatomy</a:t>
            </a:r>
            <a:endParaRPr/>
          </a:p>
        </p:txBody>
      </p:sp>
      <p:cxnSp>
        <p:nvCxnSpPr>
          <p:cNvPr id="702641813" name="Connector 11"/>
          <p:cNvCxnSpPr/>
          <p:nvPr/>
        </p:nvCxnSpPr>
        <p:spPr bwMode="auto">
          <a:xfrm>
            <a:off x="2505456" y="2697480"/>
            <a:ext cx="274320" cy="0"/>
          </a:xfrm>
          <a:prstGeom prst="line">
            <a:avLst/>
          </a:prstGeom>
          <a:ln w="20320">
            <a:solidFill>
              <a:srgbClr val="566572"/>
            </a:solidFill>
          </a:ln>
        </p:spPr>
        <p:style>
          <a:lnRef idx="2">
            <a:schemeClr val="accent1"/>
          </a:lnRef>
          <a:fillRef idx="0">
            <a:schemeClr val="accent1"/>
          </a:fillRef>
          <a:effectRef idx="1">
            <a:schemeClr val="accent1"/>
          </a:effectRef>
          <a:fontRef idx="minor">
            <a:schemeClr val="tx1"/>
          </a:fontRef>
        </p:style>
      </p:cxnSp>
      <p:sp>
        <p:nvSpPr>
          <p:cNvPr id="384954518" name="Rounded Rectangle 12"/>
          <p:cNvSpPr/>
          <p:nvPr/>
        </p:nvSpPr>
        <p:spPr bwMode="auto">
          <a:xfrm>
            <a:off x="2816352" y="1993392"/>
            <a:ext cx="1938528" cy="1417320"/>
          </a:xfrm>
          <a:prstGeom prst="roundRect">
            <a:avLst>
              <a:gd name="adj" fmla="val 16667"/>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93372103" name="Oval 13"/>
          <p:cNvSpPr/>
          <p:nvPr/>
        </p:nvSpPr>
        <p:spPr bwMode="auto">
          <a:xfrm>
            <a:off x="3584448" y="1581912"/>
            <a:ext cx="384048" cy="384048"/>
          </a:xfrm>
          <a:prstGeom prst="ellipse">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2879954" name="TextBox 14"/>
          <p:cNvSpPr txBox="1"/>
          <p:nvPr/>
        </p:nvSpPr>
        <p:spPr bwMode="auto">
          <a:xfrm>
            <a:off x="3593592" y="1700782"/>
            <a:ext cx="384048" cy="146304"/>
          </a:xfrm>
          <a:prstGeom prst="rect">
            <a:avLst/>
          </a:prstGeom>
          <a:noFill/>
        </p:spPr>
        <p:txBody>
          <a:bodyPr wrap="square" lIns="36576" tIns="0" rIns="36576" bIns="0" anchor="t">
            <a:spAutoFit/>
          </a:bodyPr>
          <a:lstStyle/>
          <a:p>
            <a:pPr algn="ctr">
              <a:defRPr sz="850" b="1">
                <a:solidFill>
                  <a:srgbClr val="FFFFFF"/>
                </a:solidFill>
                <a:latin typeface="Noto Sans"/>
              </a:defRPr>
            </a:pPr>
            <a:r>
              <a:rPr/>
              <a:t>2</a:t>
            </a:r>
            <a:endParaRPr/>
          </a:p>
        </p:txBody>
      </p:sp>
      <p:sp>
        <p:nvSpPr>
          <p:cNvPr id="109542330" name="TextBox 15"/>
          <p:cNvSpPr txBox="1"/>
          <p:nvPr/>
        </p:nvSpPr>
        <p:spPr bwMode="auto">
          <a:xfrm>
            <a:off x="2944368" y="2313432"/>
            <a:ext cx="1682496" cy="301752"/>
          </a:xfrm>
          <a:prstGeom prst="rect">
            <a:avLst/>
          </a:prstGeom>
          <a:noFill/>
        </p:spPr>
        <p:txBody>
          <a:bodyPr wrap="square" lIns="36576" tIns="0" rIns="36576" bIns="0" anchor="t">
            <a:spAutoFit/>
          </a:bodyPr>
          <a:lstStyle/>
          <a:p>
            <a:pPr algn="ctr">
              <a:defRPr sz="1500" b="1">
                <a:solidFill>
                  <a:srgbClr val="0C1E30"/>
                </a:solidFill>
                <a:latin typeface="Noto Sans"/>
              </a:defRPr>
            </a:pPr>
            <a:r>
              <a:rPr/>
              <a:t>CHARM mesh</a:t>
            </a:r>
            <a:endParaRPr/>
          </a:p>
        </p:txBody>
      </p:sp>
      <p:sp>
        <p:nvSpPr>
          <p:cNvPr id="460863780" name="TextBox 16"/>
          <p:cNvSpPr txBox="1"/>
          <p:nvPr/>
        </p:nvSpPr>
        <p:spPr bwMode="auto">
          <a:xfrm>
            <a:off x="2935224" y="2770632"/>
            <a:ext cx="1700784" cy="228600"/>
          </a:xfrm>
          <a:prstGeom prst="rect">
            <a:avLst/>
          </a:prstGeom>
          <a:noFill/>
        </p:spPr>
        <p:txBody>
          <a:bodyPr wrap="square" lIns="36576" tIns="0" rIns="36576" bIns="0" anchor="t">
            <a:spAutoFit/>
          </a:bodyPr>
          <a:lstStyle/>
          <a:p>
            <a:pPr algn="ctr">
              <a:defRPr sz="950" b="0">
                <a:solidFill>
                  <a:srgbClr val="566572"/>
                </a:solidFill>
                <a:latin typeface="Noto Sans"/>
              </a:defRPr>
            </a:pPr>
            <a:r>
              <a:rPr/>
              <a:t>regenerate or reuse</a:t>
            </a:r>
            <a:endParaRPr/>
          </a:p>
        </p:txBody>
      </p:sp>
      <p:cxnSp>
        <p:nvCxnSpPr>
          <p:cNvPr id="1698566973" name="Connector 17"/>
          <p:cNvCxnSpPr/>
          <p:nvPr/>
        </p:nvCxnSpPr>
        <p:spPr bwMode="auto">
          <a:xfrm>
            <a:off x="4791456" y="2697480"/>
            <a:ext cx="274320" cy="0"/>
          </a:xfrm>
          <a:prstGeom prst="line">
            <a:avLst/>
          </a:prstGeom>
          <a:ln w="20320">
            <a:solidFill>
              <a:srgbClr val="566572"/>
            </a:solidFill>
          </a:ln>
        </p:spPr>
        <p:style>
          <a:lnRef idx="2">
            <a:schemeClr val="accent1"/>
          </a:lnRef>
          <a:fillRef idx="0">
            <a:schemeClr val="accent1"/>
          </a:fillRef>
          <a:effectRef idx="1">
            <a:schemeClr val="accent1"/>
          </a:effectRef>
          <a:fontRef idx="minor">
            <a:schemeClr val="tx1"/>
          </a:fontRef>
        </p:style>
      </p:cxnSp>
      <p:sp>
        <p:nvSpPr>
          <p:cNvPr id="2040350671" name="Rounded Rectangle 18"/>
          <p:cNvSpPr/>
          <p:nvPr/>
        </p:nvSpPr>
        <p:spPr bwMode="auto">
          <a:xfrm>
            <a:off x="5102352" y="1993392"/>
            <a:ext cx="1938528" cy="1417320"/>
          </a:xfrm>
          <a:prstGeom prst="roundRect">
            <a:avLst>
              <a:gd name="adj" fmla="val 16667"/>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79543432" name="Oval 19"/>
          <p:cNvSpPr/>
          <p:nvPr/>
        </p:nvSpPr>
        <p:spPr bwMode="auto">
          <a:xfrm>
            <a:off x="5870448" y="1581912"/>
            <a:ext cx="384048" cy="384048"/>
          </a:xfrm>
          <a:prstGeom prst="ellipse">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64569661" name="TextBox 20"/>
          <p:cNvSpPr txBox="1"/>
          <p:nvPr/>
        </p:nvSpPr>
        <p:spPr bwMode="auto">
          <a:xfrm>
            <a:off x="5870448" y="1700782"/>
            <a:ext cx="384048" cy="146304"/>
          </a:xfrm>
          <a:prstGeom prst="rect">
            <a:avLst/>
          </a:prstGeom>
          <a:noFill/>
        </p:spPr>
        <p:txBody>
          <a:bodyPr wrap="square" lIns="36576" tIns="0" rIns="36576" bIns="0" anchor="t">
            <a:spAutoFit/>
          </a:bodyPr>
          <a:lstStyle/>
          <a:p>
            <a:pPr algn="ctr">
              <a:defRPr sz="850" b="1">
                <a:solidFill>
                  <a:srgbClr val="FFFFFF"/>
                </a:solidFill>
                <a:latin typeface="Noto Sans"/>
              </a:defRPr>
            </a:pPr>
            <a:r>
              <a:rPr/>
              <a:t>3</a:t>
            </a:r>
            <a:endParaRPr/>
          </a:p>
        </p:txBody>
      </p:sp>
      <p:sp>
        <p:nvSpPr>
          <p:cNvPr id="347502852" name="TextBox 21"/>
          <p:cNvSpPr txBox="1"/>
          <p:nvPr/>
        </p:nvSpPr>
        <p:spPr bwMode="auto">
          <a:xfrm>
            <a:off x="5230368" y="2313432"/>
            <a:ext cx="1682496" cy="301752"/>
          </a:xfrm>
          <a:prstGeom prst="rect">
            <a:avLst/>
          </a:prstGeom>
          <a:noFill/>
        </p:spPr>
        <p:txBody>
          <a:bodyPr wrap="square" lIns="36576" tIns="0" rIns="36576" bIns="0" anchor="t">
            <a:spAutoFit/>
          </a:bodyPr>
          <a:lstStyle/>
          <a:p>
            <a:pPr algn="ctr">
              <a:defRPr sz="1500" b="1">
                <a:solidFill>
                  <a:srgbClr val="0C1E30"/>
                </a:solidFill>
                <a:latin typeface="Noto Sans"/>
              </a:defRPr>
            </a:pPr>
            <a:r>
              <a:rPr/>
              <a:t>FEM fields</a:t>
            </a:r>
            <a:endParaRPr/>
          </a:p>
        </p:txBody>
      </p:sp>
      <p:sp>
        <p:nvSpPr>
          <p:cNvPr id="42929921" name="TextBox 22"/>
          <p:cNvSpPr txBox="1"/>
          <p:nvPr/>
        </p:nvSpPr>
        <p:spPr bwMode="auto">
          <a:xfrm>
            <a:off x="5221224" y="2770632"/>
            <a:ext cx="1700784" cy="228600"/>
          </a:xfrm>
          <a:prstGeom prst="rect">
            <a:avLst/>
          </a:prstGeom>
          <a:noFill/>
        </p:spPr>
        <p:txBody>
          <a:bodyPr wrap="square" lIns="36576" tIns="0" rIns="36576" bIns="0" anchor="t">
            <a:spAutoFit/>
          </a:bodyPr>
          <a:lstStyle/>
          <a:p>
            <a:pPr algn="ctr">
              <a:defRPr sz="950" b="0">
                <a:solidFill>
                  <a:srgbClr val="566572"/>
                </a:solidFill>
                <a:latin typeface="Noto Sans"/>
              </a:defRPr>
            </a:pPr>
            <a:r>
              <a:rPr/>
              <a:t>two carrier fields</a:t>
            </a:r>
            <a:endParaRPr/>
          </a:p>
        </p:txBody>
      </p:sp>
      <p:cxnSp>
        <p:nvCxnSpPr>
          <p:cNvPr id="1582795718" name="Connector 23"/>
          <p:cNvCxnSpPr/>
          <p:nvPr/>
        </p:nvCxnSpPr>
        <p:spPr bwMode="auto">
          <a:xfrm>
            <a:off x="7077456" y="2697480"/>
            <a:ext cx="274319" cy="0"/>
          </a:xfrm>
          <a:prstGeom prst="line">
            <a:avLst/>
          </a:prstGeom>
          <a:ln w="20320">
            <a:solidFill>
              <a:srgbClr val="566572"/>
            </a:solidFill>
          </a:ln>
        </p:spPr>
        <p:style>
          <a:lnRef idx="2">
            <a:schemeClr val="accent1"/>
          </a:lnRef>
          <a:fillRef idx="0">
            <a:schemeClr val="accent1"/>
          </a:fillRef>
          <a:effectRef idx="1">
            <a:schemeClr val="accent1"/>
          </a:effectRef>
          <a:fontRef idx="minor">
            <a:schemeClr val="tx1"/>
          </a:fontRef>
        </p:style>
      </p:cxnSp>
      <p:sp>
        <p:nvSpPr>
          <p:cNvPr id="632576885" name="Rounded Rectangle 24"/>
          <p:cNvSpPr/>
          <p:nvPr/>
        </p:nvSpPr>
        <p:spPr bwMode="auto">
          <a:xfrm>
            <a:off x="7388352" y="1993392"/>
            <a:ext cx="1938528" cy="1417320"/>
          </a:xfrm>
          <a:prstGeom prst="roundRect">
            <a:avLst>
              <a:gd name="adj" fmla="val 16667"/>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2195274" name="Oval 25"/>
          <p:cNvSpPr/>
          <p:nvPr/>
        </p:nvSpPr>
        <p:spPr bwMode="auto">
          <a:xfrm>
            <a:off x="8156448" y="1581912"/>
            <a:ext cx="384048" cy="384048"/>
          </a:xfrm>
          <a:prstGeom prst="ellipse">
            <a:avLst/>
          </a:prstGeom>
          <a:solidFill>
            <a:srgbClr val="DD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58484343" name="TextBox 26"/>
          <p:cNvSpPr txBox="1"/>
          <p:nvPr/>
        </p:nvSpPr>
        <p:spPr bwMode="auto">
          <a:xfrm>
            <a:off x="8156448" y="1700782"/>
            <a:ext cx="384048" cy="146304"/>
          </a:xfrm>
          <a:prstGeom prst="rect">
            <a:avLst/>
          </a:prstGeom>
          <a:noFill/>
        </p:spPr>
        <p:txBody>
          <a:bodyPr wrap="square" lIns="36576" tIns="0" rIns="36576" bIns="0" anchor="t">
            <a:spAutoFit/>
          </a:bodyPr>
          <a:lstStyle/>
          <a:p>
            <a:pPr algn="ctr">
              <a:defRPr sz="850" b="1">
                <a:solidFill>
                  <a:srgbClr val="FFFFFF"/>
                </a:solidFill>
                <a:latin typeface="Noto Sans"/>
              </a:defRPr>
            </a:pPr>
            <a:r>
              <a:rPr/>
              <a:t>4</a:t>
            </a:r>
            <a:endParaRPr/>
          </a:p>
        </p:txBody>
      </p:sp>
      <p:sp>
        <p:nvSpPr>
          <p:cNvPr id="641309979" name="TextBox 27"/>
          <p:cNvSpPr txBox="1"/>
          <p:nvPr/>
        </p:nvSpPr>
        <p:spPr bwMode="auto">
          <a:xfrm>
            <a:off x="7516368" y="2313432"/>
            <a:ext cx="1682496" cy="301752"/>
          </a:xfrm>
          <a:prstGeom prst="rect">
            <a:avLst/>
          </a:prstGeom>
          <a:noFill/>
        </p:spPr>
        <p:txBody>
          <a:bodyPr wrap="square" lIns="36576" tIns="0" rIns="36576" bIns="0" anchor="t">
            <a:spAutoFit/>
          </a:bodyPr>
          <a:lstStyle/>
          <a:p>
            <a:pPr algn="ctr">
              <a:defRPr sz="1500" b="1">
                <a:solidFill>
                  <a:srgbClr val="0C1E30"/>
                </a:solidFill>
                <a:latin typeface="Noto Sans"/>
              </a:defRPr>
            </a:pPr>
            <a:r>
              <a:rPr/>
              <a:t>TI envelope</a:t>
            </a:r>
            <a:endParaRPr/>
          </a:p>
        </p:txBody>
      </p:sp>
      <p:sp>
        <p:nvSpPr>
          <p:cNvPr id="1905646482" name="TextBox 28"/>
          <p:cNvSpPr txBox="1"/>
          <p:nvPr/>
        </p:nvSpPr>
        <p:spPr bwMode="auto">
          <a:xfrm>
            <a:off x="7507224" y="2770632"/>
            <a:ext cx="1700784" cy="228600"/>
          </a:xfrm>
          <a:prstGeom prst="rect">
            <a:avLst/>
          </a:prstGeom>
          <a:noFill/>
        </p:spPr>
        <p:txBody>
          <a:bodyPr wrap="square" lIns="36576" tIns="0" rIns="36576" bIns="0" anchor="t">
            <a:spAutoFit/>
          </a:bodyPr>
          <a:lstStyle/>
          <a:p>
            <a:pPr algn="ctr">
              <a:defRPr sz="950" b="0">
                <a:solidFill>
                  <a:srgbClr val="566572"/>
                </a:solidFill>
                <a:latin typeface="Noto Sans"/>
              </a:defRPr>
            </a:pPr>
            <a:r>
              <a:rPr/>
              <a:t>max-TI combination</a:t>
            </a:r>
            <a:endParaRPr/>
          </a:p>
        </p:txBody>
      </p:sp>
      <p:cxnSp>
        <p:nvCxnSpPr>
          <p:cNvPr id="1741939709" name="Connector 29"/>
          <p:cNvCxnSpPr/>
          <p:nvPr/>
        </p:nvCxnSpPr>
        <p:spPr bwMode="auto">
          <a:xfrm>
            <a:off x="9363456" y="2697480"/>
            <a:ext cx="274320" cy="0"/>
          </a:xfrm>
          <a:prstGeom prst="line">
            <a:avLst/>
          </a:prstGeom>
          <a:ln w="20320">
            <a:solidFill>
              <a:srgbClr val="566572"/>
            </a:solidFill>
          </a:ln>
        </p:spPr>
        <p:style>
          <a:lnRef idx="2">
            <a:schemeClr val="accent1"/>
          </a:lnRef>
          <a:fillRef idx="0">
            <a:schemeClr val="accent1"/>
          </a:fillRef>
          <a:effectRef idx="1">
            <a:schemeClr val="accent1"/>
          </a:effectRef>
          <a:fontRef idx="minor">
            <a:schemeClr val="tx1"/>
          </a:fontRef>
        </p:style>
      </p:cxnSp>
      <p:sp>
        <p:nvSpPr>
          <p:cNvPr id="1987950536" name="Rounded Rectangle 30"/>
          <p:cNvSpPr/>
          <p:nvPr/>
        </p:nvSpPr>
        <p:spPr bwMode="auto">
          <a:xfrm>
            <a:off x="9674352" y="1993392"/>
            <a:ext cx="1938528" cy="1417320"/>
          </a:xfrm>
          <a:prstGeom prst="roundRect">
            <a:avLst>
              <a:gd name="adj" fmla="val 16667"/>
            </a:avLst>
          </a:prstGeom>
          <a:solidFill>
            <a:srgbClr val="E0EFF9"/>
          </a:solidFill>
          <a:ln w="10160">
            <a:solidFill>
              <a:srgbClr val="194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96886056" name="Oval 31"/>
          <p:cNvSpPr/>
          <p:nvPr/>
        </p:nvSpPr>
        <p:spPr bwMode="auto">
          <a:xfrm>
            <a:off x="10442448" y="1581912"/>
            <a:ext cx="384048" cy="384048"/>
          </a:xfrm>
          <a:prstGeom prst="ellipse">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47295895" name="TextBox 32"/>
          <p:cNvSpPr txBox="1"/>
          <p:nvPr/>
        </p:nvSpPr>
        <p:spPr bwMode="auto">
          <a:xfrm>
            <a:off x="10442448" y="1700782"/>
            <a:ext cx="384048" cy="146304"/>
          </a:xfrm>
          <a:prstGeom prst="rect">
            <a:avLst/>
          </a:prstGeom>
          <a:noFill/>
        </p:spPr>
        <p:txBody>
          <a:bodyPr wrap="square" lIns="36576" tIns="0" rIns="36576" bIns="0" anchor="t">
            <a:spAutoFit/>
          </a:bodyPr>
          <a:lstStyle/>
          <a:p>
            <a:pPr algn="ctr">
              <a:defRPr sz="850" b="1">
                <a:solidFill>
                  <a:srgbClr val="FFFFFF"/>
                </a:solidFill>
                <a:latin typeface="Noto Sans"/>
              </a:defRPr>
            </a:pPr>
            <a:r>
              <a:rPr/>
              <a:t>5</a:t>
            </a:r>
            <a:endParaRPr/>
          </a:p>
        </p:txBody>
      </p:sp>
      <p:sp>
        <p:nvSpPr>
          <p:cNvPr id="215239105" name="TextBox 33"/>
          <p:cNvSpPr txBox="1"/>
          <p:nvPr/>
        </p:nvSpPr>
        <p:spPr bwMode="auto">
          <a:xfrm>
            <a:off x="9802368" y="2313432"/>
            <a:ext cx="1682496" cy="301752"/>
          </a:xfrm>
          <a:prstGeom prst="rect">
            <a:avLst/>
          </a:prstGeom>
          <a:noFill/>
        </p:spPr>
        <p:txBody>
          <a:bodyPr wrap="square" lIns="36576" tIns="0" rIns="36576" bIns="0" anchor="t">
            <a:spAutoFit/>
          </a:bodyPr>
          <a:lstStyle/>
          <a:p>
            <a:pPr algn="ctr">
              <a:defRPr sz="1500" b="1">
                <a:solidFill>
                  <a:srgbClr val="0C1E30"/>
                </a:solidFill>
                <a:latin typeface="Noto Sans"/>
              </a:defRPr>
            </a:pPr>
            <a:r>
              <a:rPr/>
              <a:t>Spherical ROI</a:t>
            </a:r>
            <a:endParaRPr/>
          </a:p>
        </p:txBody>
      </p:sp>
      <p:sp>
        <p:nvSpPr>
          <p:cNvPr id="547170111" name="TextBox 34"/>
          <p:cNvSpPr txBox="1"/>
          <p:nvPr/>
        </p:nvSpPr>
        <p:spPr bwMode="auto">
          <a:xfrm>
            <a:off x="9793224" y="2770632"/>
            <a:ext cx="1700784" cy="228600"/>
          </a:xfrm>
          <a:prstGeom prst="rect">
            <a:avLst/>
          </a:prstGeom>
          <a:noFill/>
        </p:spPr>
        <p:txBody>
          <a:bodyPr wrap="square" lIns="36576" tIns="0" rIns="36576" bIns="0" anchor="t">
            <a:spAutoFit/>
          </a:bodyPr>
          <a:lstStyle/>
          <a:p>
            <a:pPr algn="ctr">
              <a:defRPr sz="950" b="0">
                <a:solidFill>
                  <a:srgbClr val="566572"/>
                </a:solidFill>
                <a:latin typeface="Noto Sans"/>
              </a:defRPr>
            </a:pPr>
            <a:r>
              <a:rPr/>
              <a:t>median field</a:t>
            </a:r>
            <a:endParaRPr/>
          </a:p>
        </p:txBody>
      </p:sp>
      <p:sp>
        <p:nvSpPr>
          <p:cNvPr id="1374161275" name="Rectangle 35"/>
          <p:cNvSpPr/>
          <p:nvPr/>
        </p:nvSpPr>
        <p:spPr bwMode="auto">
          <a:xfrm>
            <a:off x="2816352" y="3886200"/>
            <a:ext cx="1938528" cy="73152"/>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36463117" name="TextBox 36"/>
          <p:cNvSpPr txBox="1"/>
          <p:nvPr/>
        </p:nvSpPr>
        <p:spPr bwMode="auto">
          <a:xfrm>
            <a:off x="2816352" y="4078224"/>
            <a:ext cx="1938528" cy="219456"/>
          </a:xfrm>
          <a:prstGeom prst="rect">
            <a:avLst/>
          </a:prstGeom>
          <a:noFill/>
        </p:spPr>
        <p:txBody>
          <a:bodyPr wrap="square" lIns="36576" tIns="0" rIns="36576" bIns="0" anchor="t">
            <a:spAutoFit/>
          </a:bodyPr>
          <a:lstStyle/>
          <a:p>
            <a:pPr algn="ctr">
              <a:defRPr sz="900" b="1">
                <a:solidFill>
                  <a:srgbClr val="C25B23"/>
                </a:solidFill>
                <a:latin typeface="Noto Sans"/>
              </a:defRPr>
            </a:pPr>
            <a:r>
              <a:rPr/>
              <a:t>experimental factor</a:t>
            </a:r>
            <a:endParaRPr/>
          </a:p>
        </p:txBody>
      </p:sp>
      <p:sp>
        <p:nvSpPr>
          <p:cNvPr id="1274625560" name="Rounded Rectangle 37"/>
          <p:cNvSpPr/>
          <p:nvPr/>
        </p:nvSpPr>
        <p:spPr bwMode="auto">
          <a:xfrm>
            <a:off x="658368" y="4617720"/>
            <a:ext cx="10899647" cy="960120"/>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47047629" name="TextBox 38"/>
          <p:cNvSpPr txBox="1"/>
          <p:nvPr/>
        </p:nvSpPr>
        <p:spPr bwMode="auto">
          <a:xfrm>
            <a:off x="868680" y="5001768"/>
            <a:ext cx="1417320" cy="210312"/>
          </a:xfrm>
          <a:prstGeom prst="rect">
            <a:avLst/>
          </a:prstGeom>
          <a:noFill/>
        </p:spPr>
        <p:txBody>
          <a:bodyPr wrap="square" lIns="36576" tIns="0" rIns="36576" bIns="0" anchor="t">
            <a:spAutoFit/>
          </a:bodyPr>
          <a:lstStyle/>
          <a:p>
            <a:pPr algn="l">
              <a:defRPr sz="1000" b="1">
                <a:solidFill>
                  <a:srgbClr val="194874"/>
                </a:solidFill>
                <a:latin typeface="Noto Sans"/>
              </a:defRPr>
            </a:pPr>
            <a:r>
              <a:rPr/>
              <a:t>Held constant</a:t>
            </a:r>
            <a:endParaRPr/>
          </a:p>
        </p:txBody>
      </p:sp>
      <p:sp>
        <p:nvSpPr>
          <p:cNvPr id="1122932145" name="TextBox 39"/>
          <p:cNvSpPr txBox="1"/>
          <p:nvPr/>
        </p:nvSpPr>
        <p:spPr bwMode="auto">
          <a:xfrm>
            <a:off x="2148840" y="4946904"/>
            <a:ext cx="9006840" cy="329184"/>
          </a:xfrm>
          <a:prstGeom prst="rect">
            <a:avLst/>
          </a:prstGeom>
          <a:noFill/>
        </p:spPr>
        <p:txBody>
          <a:bodyPr wrap="square" lIns="36576" tIns="0" rIns="36576" bIns="0" anchor="t">
            <a:spAutoFit/>
          </a:bodyPr>
          <a:lstStyle/>
          <a:p>
            <a:pPr algn="l">
              <a:defRPr sz="1500" b="0">
                <a:solidFill>
                  <a:srgbClr val="1D2730"/>
                </a:solidFill>
                <a:latin typeface="Noto Sans"/>
              </a:defRPr>
            </a:pPr>
            <a:r>
              <a:rPr/>
              <a:t>anatomy • tissue labels • electrodes • currents • conductivities • software settings • ROI definition</a:t>
            </a:r>
            <a:endParaRPr/>
          </a:p>
        </p:txBody>
      </p:sp>
      <p:sp>
        <p:nvSpPr>
          <p:cNvPr id="1653988856" name="TextBox 40"/>
          <p:cNvSpPr txBox="1"/>
          <p:nvPr/>
        </p:nvSpPr>
        <p:spPr bwMode="auto">
          <a:xfrm>
            <a:off x="749808" y="5833872"/>
            <a:ext cx="10698480" cy="384048"/>
          </a:xfrm>
          <a:prstGeom prst="rect">
            <a:avLst/>
          </a:prstGeom>
          <a:noFill/>
        </p:spPr>
        <p:txBody>
          <a:bodyPr wrap="square" lIns="36576" tIns="0" rIns="36576" bIns="0" anchor="t">
            <a:spAutoFit/>
          </a:bodyPr>
          <a:lstStyle/>
          <a:p>
            <a:pPr algn="ctr">
              <a:defRPr sz="1700" b="1">
                <a:solidFill>
                  <a:srgbClr val="0C1E30"/>
                </a:solidFill>
                <a:latin typeface="Noto Sans"/>
              </a:defRPr>
            </a:pPr>
            <a:r>
              <a:rPr/>
              <a:t>Question: can a new valid tetrahedralization change a conclusion even when every scientific input is unchanged?</a:t>
            </a:r>
            <a:endParaRPr/>
          </a:p>
        </p:txBody>
      </p:sp>
      <p:sp>
        <p:nvSpPr>
          <p:cNvPr id="1547637483" name="TextBox 41"/>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566572"/>
                </a:solidFill>
                <a:latin typeface="Noto Sans"/>
              </a:defRPr>
            </a:pPr>
            <a:r>
              <a:rPr/>
              <a:t>Context: Windhoff et al., 2013; Saturnino et al., 2019; Puonti et al., 2020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8FA"/>
        </a:solidFill>
      </p:bgPr>
    </p:bg>
    <p:spTree>
      <p:nvGrpSpPr>
        <p:cNvPr id="1" name=""/>
        <p:cNvGrpSpPr/>
        <p:nvPr/>
      </p:nvGrpSpPr>
      <p:grpSpPr bwMode="auto">
        <a:xfrm>
          <a:off x="0" y="0"/>
          <a:ext cx="0" cy="0"/>
          <a:chOff x="0" y="0"/>
          <a:chExt cx="0" cy="0"/>
        </a:xfrm>
      </p:grpSpPr>
      <p:sp>
        <p:nvSpPr>
          <p:cNvPr id="1488919365"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STUDY DESIGN</a:t>
            </a:r>
            <a:endParaRPr/>
          </a:p>
        </p:txBody>
      </p:sp>
      <p:sp>
        <p:nvSpPr>
          <p:cNvPr id="1478495239"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Two complementary experiments separate pattern from source</a:t>
            </a:r>
            <a:endParaRPr/>
          </a:p>
        </p:txBody>
      </p:sp>
      <p:cxnSp>
        <p:nvCxnSpPr>
          <p:cNvPr id="1645215782"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1424382394"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04</a:t>
            </a:r>
            <a:endParaRPr/>
          </a:p>
        </p:txBody>
      </p:sp>
      <p:sp>
        <p:nvSpPr>
          <p:cNvPr id="1133265174" name="Rounded Rectangle 6"/>
          <p:cNvSpPr/>
          <p:nvPr/>
        </p:nvSpPr>
        <p:spPr bwMode="auto">
          <a:xfrm>
            <a:off x="576072" y="1316736"/>
            <a:ext cx="5486400" cy="4526280"/>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33251683" name="Rounded Rectangle 7"/>
          <p:cNvSpPr/>
          <p:nvPr/>
        </p:nvSpPr>
        <p:spPr bwMode="auto">
          <a:xfrm>
            <a:off x="822960" y="1581912"/>
            <a:ext cx="1508759" cy="310896"/>
          </a:xfrm>
          <a:prstGeom prst="roundRect">
            <a:avLst>
              <a:gd name="adj" fmla="val 16667"/>
            </a:avLst>
          </a:prstGeom>
          <a:solidFill>
            <a:srgbClr val="E0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99156042" name="TextBox 8"/>
          <p:cNvSpPr txBox="1"/>
          <p:nvPr/>
        </p:nvSpPr>
        <p:spPr bwMode="auto">
          <a:xfrm>
            <a:off x="877824" y="1664208"/>
            <a:ext cx="1399031" cy="146304"/>
          </a:xfrm>
          <a:prstGeom prst="rect">
            <a:avLst/>
          </a:prstGeom>
          <a:noFill/>
        </p:spPr>
        <p:txBody>
          <a:bodyPr wrap="square" lIns="36576" tIns="0" rIns="36576" bIns="0" anchor="t">
            <a:spAutoFit/>
          </a:bodyPr>
          <a:lstStyle/>
          <a:p>
            <a:pPr algn="ctr">
              <a:defRPr sz="850" b="1">
                <a:solidFill>
                  <a:srgbClr val="194874"/>
                </a:solidFill>
                <a:latin typeface="Noto Sans"/>
              </a:defRPr>
            </a:pPr>
            <a:r>
              <a:rPr/>
              <a:t>COHORT CONTRAST</a:t>
            </a:r>
            <a:endParaRPr/>
          </a:p>
        </p:txBody>
      </p:sp>
      <p:sp>
        <p:nvSpPr>
          <p:cNvPr id="473013097" name="TextBox 9"/>
          <p:cNvSpPr txBox="1"/>
          <p:nvPr/>
        </p:nvSpPr>
        <p:spPr bwMode="auto">
          <a:xfrm>
            <a:off x="841248" y="2057400"/>
            <a:ext cx="4892039" cy="512064"/>
          </a:xfrm>
          <a:prstGeom prst="rect">
            <a:avLst/>
          </a:prstGeom>
          <a:noFill/>
        </p:spPr>
        <p:txBody>
          <a:bodyPr wrap="square" lIns="36576" tIns="0" rIns="36576" bIns="0" anchor="t">
            <a:spAutoFit/>
          </a:bodyPr>
          <a:lstStyle/>
          <a:p>
            <a:pPr algn="l">
              <a:defRPr sz="2000" b="1">
                <a:solidFill>
                  <a:srgbClr val="0C1E30"/>
                </a:solidFill>
                <a:latin typeface="Noto Sans"/>
              </a:defRPr>
            </a:pPr>
            <a:r>
              <a:rPr/>
              <a:t>Does the effect recur across people and targets?</a:t>
            </a:r>
            <a:endParaRPr/>
          </a:p>
        </p:txBody>
      </p:sp>
      <p:sp>
        <p:nvSpPr>
          <p:cNvPr id="1577982107" name="Rounded Rectangle 10"/>
          <p:cNvSpPr/>
          <p:nvPr/>
        </p:nvSpPr>
        <p:spPr bwMode="auto">
          <a:xfrm>
            <a:off x="859536" y="2743200"/>
            <a:ext cx="1444752" cy="1152144"/>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22730194" name="Rectangle 11"/>
          <p:cNvSpPr/>
          <p:nvPr/>
        </p:nvSpPr>
        <p:spPr bwMode="auto">
          <a:xfrm>
            <a:off x="859536" y="2743200"/>
            <a:ext cx="64008" cy="1152144"/>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06877472" name="TextBox 12"/>
          <p:cNvSpPr txBox="1"/>
          <p:nvPr/>
        </p:nvSpPr>
        <p:spPr bwMode="auto">
          <a:xfrm>
            <a:off x="1060704" y="2889504"/>
            <a:ext cx="1097280" cy="429768"/>
          </a:xfrm>
          <a:prstGeom prst="rect">
            <a:avLst/>
          </a:prstGeom>
          <a:noFill/>
        </p:spPr>
        <p:txBody>
          <a:bodyPr wrap="square" lIns="36576" tIns="0" rIns="36576" bIns="0" anchor="t">
            <a:spAutoFit/>
          </a:bodyPr>
          <a:lstStyle/>
          <a:p>
            <a:pPr algn="l">
              <a:defRPr sz="2500" b="1">
                <a:solidFill>
                  <a:srgbClr val="194874"/>
                </a:solidFill>
                <a:latin typeface="Noto Sans"/>
              </a:defRPr>
            </a:pPr>
            <a:r>
              <a:rPr/>
              <a:t>10</a:t>
            </a:r>
            <a:endParaRPr/>
          </a:p>
        </p:txBody>
      </p:sp>
      <p:sp>
        <p:nvSpPr>
          <p:cNvPr id="1234228680" name="TextBox 13"/>
          <p:cNvSpPr txBox="1"/>
          <p:nvPr/>
        </p:nvSpPr>
        <p:spPr bwMode="auto">
          <a:xfrm>
            <a:off x="1060704" y="3401568"/>
            <a:ext cx="1097280" cy="402336"/>
          </a:xfrm>
          <a:prstGeom prst="rect">
            <a:avLst/>
          </a:prstGeom>
          <a:noFill/>
        </p:spPr>
        <p:txBody>
          <a:bodyPr wrap="square" lIns="36576" tIns="0" rIns="36576" bIns="0" anchor="t">
            <a:spAutoFit/>
          </a:bodyPr>
          <a:lstStyle/>
          <a:p>
            <a:pPr algn="l">
              <a:defRPr sz="1050" b="0">
                <a:solidFill>
                  <a:srgbClr val="566572"/>
                </a:solidFill>
                <a:latin typeface="Noto Sans"/>
              </a:defRPr>
            </a:pPr>
            <a:r>
              <a:rPr/>
              <a:t>participants</a:t>
            </a:r>
            <a:endParaRPr/>
          </a:p>
        </p:txBody>
      </p:sp>
      <p:sp>
        <p:nvSpPr>
          <p:cNvPr id="775278522" name="Rounded Rectangle 14"/>
          <p:cNvSpPr/>
          <p:nvPr/>
        </p:nvSpPr>
        <p:spPr bwMode="auto">
          <a:xfrm>
            <a:off x="2450592" y="2743200"/>
            <a:ext cx="1444752" cy="1152144"/>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1918419" name="Rectangle 15"/>
          <p:cNvSpPr/>
          <p:nvPr/>
        </p:nvSpPr>
        <p:spPr bwMode="auto">
          <a:xfrm>
            <a:off x="2450592" y="2743200"/>
            <a:ext cx="64008" cy="1152144"/>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49458911" name="TextBox 16"/>
          <p:cNvSpPr txBox="1"/>
          <p:nvPr/>
        </p:nvSpPr>
        <p:spPr bwMode="auto">
          <a:xfrm>
            <a:off x="2651760" y="2889504"/>
            <a:ext cx="1097280" cy="429768"/>
          </a:xfrm>
          <a:prstGeom prst="rect">
            <a:avLst/>
          </a:prstGeom>
          <a:noFill/>
        </p:spPr>
        <p:txBody>
          <a:bodyPr wrap="square" lIns="36576" tIns="0" rIns="36576" bIns="0" anchor="t">
            <a:spAutoFit/>
          </a:bodyPr>
          <a:lstStyle/>
          <a:p>
            <a:pPr algn="l">
              <a:defRPr sz="2500" b="1">
                <a:solidFill>
                  <a:srgbClr val="194874"/>
                </a:solidFill>
                <a:latin typeface="Noto Sans"/>
              </a:defRPr>
            </a:pPr>
            <a:r>
              <a:rPr/>
              <a:t>2</a:t>
            </a:r>
            <a:endParaRPr/>
          </a:p>
        </p:txBody>
      </p:sp>
      <p:sp>
        <p:nvSpPr>
          <p:cNvPr id="234199328" name="TextBox 17"/>
          <p:cNvSpPr txBox="1"/>
          <p:nvPr/>
        </p:nvSpPr>
        <p:spPr bwMode="auto">
          <a:xfrm>
            <a:off x="2651760" y="3401568"/>
            <a:ext cx="1097280" cy="402336"/>
          </a:xfrm>
          <a:prstGeom prst="rect">
            <a:avLst/>
          </a:prstGeom>
          <a:noFill/>
        </p:spPr>
        <p:txBody>
          <a:bodyPr wrap="square" lIns="36576" tIns="0" rIns="36576" bIns="0" anchor="t">
            <a:spAutoFit/>
          </a:bodyPr>
          <a:lstStyle/>
          <a:p>
            <a:pPr algn="l">
              <a:defRPr sz="1050" b="0">
                <a:solidFill>
                  <a:srgbClr val="566572"/>
                </a:solidFill>
                <a:latin typeface="Noto Sans"/>
              </a:defRPr>
            </a:pPr>
            <a:r>
              <a:rPr/>
              <a:t>targets</a:t>
            </a:r>
            <a:endParaRPr/>
          </a:p>
        </p:txBody>
      </p:sp>
      <p:sp>
        <p:nvSpPr>
          <p:cNvPr id="1126312644" name="Rounded Rectangle 18"/>
          <p:cNvSpPr/>
          <p:nvPr/>
        </p:nvSpPr>
        <p:spPr bwMode="auto">
          <a:xfrm>
            <a:off x="4041648" y="2743200"/>
            <a:ext cx="1444752" cy="1152144"/>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8609231" name="Rectangle 19"/>
          <p:cNvSpPr/>
          <p:nvPr/>
        </p:nvSpPr>
        <p:spPr bwMode="auto">
          <a:xfrm>
            <a:off x="4041648" y="2743200"/>
            <a:ext cx="64008" cy="1152144"/>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60647238" name="TextBox 20"/>
          <p:cNvSpPr txBox="1"/>
          <p:nvPr/>
        </p:nvSpPr>
        <p:spPr bwMode="auto">
          <a:xfrm>
            <a:off x="4242816" y="2889504"/>
            <a:ext cx="1097280" cy="429768"/>
          </a:xfrm>
          <a:prstGeom prst="rect">
            <a:avLst/>
          </a:prstGeom>
          <a:noFill/>
        </p:spPr>
        <p:txBody>
          <a:bodyPr wrap="square" lIns="36576" tIns="0" rIns="36576" bIns="0" anchor="t">
            <a:spAutoFit/>
          </a:bodyPr>
          <a:lstStyle/>
          <a:p>
            <a:pPr algn="l">
              <a:defRPr sz="2200" b="1">
                <a:solidFill>
                  <a:srgbClr val="194874"/>
                </a:solidFill>
                <a:latin typeface="Noto Sans"/>
              </a:defRPr>
            </a:pPr>
            <a:r>
              <a:rPr/>
              <a:t>40+40</a:t>
            </a:r>
            <a:endParaRPr/>
          </a:p>
        </p:txBody>
      </p:sp>
      <p:sp>
        <p:nvSpPr>
          <p:cNvPr id="55084820" name="TextBox 21"/>
          <p:cNvSpPr txBox="1"/>
          <p:nvPr/>
        </p:nvSpPr>
        <p:spPr bwMode="auto">
          <a:xfrm>
            <a:off x="4242816" y="3401568"/>
            <a:ext cx="1097280" cy="402336"/>
          </a:xfrm>
          <a:prstGeom prst="rect">
            <a:avLst/>
          </a:prstGeom>
          <a:noFill/>
        </p:spPr>
        <p:txBody>
          <a:bodyPr wrap="square" lIns="36576" tIns="0" rIns="36576" bIns="0" anchor="t">
            <a:spAutoFit/>
          </a:bodyPr>
          <a:lstStyle/>
          <a:p>
            <a:pPr algn="l">
              <a:defRPr sz="1050" b="0">
                <a:solidFill>
                  <a:srgbClr val="566572"/>
                </a:solidFill>
                <a:latin typeface="Noto Sans"/>
              </a:defRPr>
            </a:pPr>
            <a:r>
              <a:rPr/>
              <a:t>runs / subject–target</a:t>
            </a:r>
            <a:endParaRPr/>
          </a:p>
        </p:txBody>
      </p:sp>
      <p:sp>
        <p:nvSpPr>
          <p:cNvPr id="1403469442" name="TextBox 22"/>
          <p:cNvSpPr txBox="1"/>
          <p:nvPr/>
        </p:nvSpPr>
        <p:spPr bwMode="auto">
          <a:xfrm>
            <a:off x="896112" y="4279392"/>
            <a:ext cx="4709160" cy="274320"/>
          </a:xfrm>
          <a:prstGeom prst="rect">
            <a:avLst/>
          </a:prstGeom>
          <a:noFill/>
        </p:spPr>
        <p:txBody>
          <a:bodyPr wrap="square" lIns="36576" tIns="0" rIns="36576" bIns="0" anchor="t">
            <a:spAutoFit/>
          </a:bodyPr>
          <a:lstStyle/>
          <a:p>
            <a:pPr algn="l">
              <a:defRPr sz="1400" b="1">
                <a:solidFill>
                  <a:srgbClr val="1D2730"/>
                </a:solidFill>
                <a:latin typeface="Noto Sans"/>
              </a:defRPr>
            </a:pPr>
            <a:r>
              <a:rPr/>
              <a:t>Left hippocampus + right M1</a:t>
            </a:r>
            <a:endParaRPr/>
          </a:p>
        </p:txBody>
      </p:sp>
      <p:sp>
        <p:nvSpPr>
          <p:cNvPr id="1325738782" name="TextBox 23"/>
          <p:cNvSpPr txBox="1"/>
          <p:nvPr/>
        </p:nvSpPr>
        <p:spPr bwMode="auto">
          <a:xfrm>
            <a:off x="896112" y="4736592"/>
            <a:ext cx="4709160" cy="274320"/>
          </a:xfrm>
          <a:prstGeom prst="rect">
            <a:avLst/>
          </a:prstGeom>
          <a:noFill/>
        </p:spPr>
        <p:txBody>
          <a:bodyPr wrap="square" lIns="36576" tIns="0" rIns="36576" bIns="0" anchor="t">
            <a:spAutoFit/>
          </a:bodyPr>
          <a:lstStyle/>
          <a:p>
            <a:pPr algn="l">
              <a:defRPr sz="1300" b="0">
                <a:solidFill>
                  <a:srgbClr val="566572"/>
                </a:solidFill>
                <a:latin typeface="Noto Sans"/>
              </a:defRPr>
            </a:pPr>
            <a:r>
              <a:rPr/>
              <a:t>5 female / 5 male • ages 26.00–79.17 years</a:t>
            </a:r>
            <a:endParaRPr/>
          </a:p>
        </p:txBody>
      </p:sp>
      <p:sp>
        <p:nvSpPr>
          <p:cNvPr id="523132348" name="TextBox 24"/>
          <p:cNvSpPr txBox="1"/>
          <p:nvPr/>
        </p:nvSpPr>
        <p:spPr bwMode="auto">
          <a:xfrm>
            <a:off x="896112" y="5230368"/>
            <a:ext cx="4709160" cy="347472"/>
          </a:xfrm>
          <a:prstGeom prst="rect">
            <a:avLst/>
          </a:prstGeom>
          <a:noFill/>
        </p:spPr>
        <p:txBody>
          <a:bodyPr wrap="square" lIns="36576" tIns="0" rIns="36576" bIns="0" anchor="t">
            <a:spAutoFit/>
          </a:bodyPr>
          <a:lstStyle/>
          <a:p>
            <a:pPr algn="l">
              <a:defRPr sz="2100" b="1">
                <a:solidFill>
                  <a:srgbClr val="194874"/>
                </a:solidFill>
                <a:latin typeface="Noto Sans"/>
              </a:defRPr>
            </a:pPr>
            <a:r>
              <a:rPr/>
              <a:t>1,600 simulations</a:t>
            </a:r>
            <a:endParaRPr/>
          </a:p>
        </p:txBody>
      </p:sp>
      <p:sp>
        <p:nvSpPr>
          <p:cNvPr id="698749087" name="Rounded Rectangle 25"/>
          <p:cNvSpPr/>
          <p:nvPr/>
        </p:nvSpPr>
        <p:spPr bwMode="auto">
          <a:xfrm>
            <a:off x="6245352" y="1316736"/>
            <a:ext cx="5367528" cy="4526280"/>
          </a:xfrm>
          <a:prstGeom prst="roundRect">
            <a:avLst>
              <a:gd name="adj" fmla="val 16667"/>
            </a:avLst>
          </a:prstGeom>
          <a:solidFill>
            <a:srgbClr val="0C1E30"/>
          </a:solidFill>
          <a:ln w="10160">
            <a:solidFill>
              <a:srgbClr val="324D6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50799755" name="Rounded Rectangle 26"/>
          <p:cNvSpPr/>
          <p:nvPr/>
        </p:nvSpPr>
        <p:spPr bwMode="auto">
          <a:xfrm>
            <a:off x="6510528" y="1581912"/>
            <a:ext cx="1417320" cy="310896"/>
          </a:xfrm>
          <a:prstGeom prst="roundRect">
            <a:avLst>
              <a:gd name="adj" fmla="val 16667"/>
            </a:avLst>
          </a:prstGeom>
          <a:solidFill>
            <a:srgbClr val="243F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87902685" name="TextBox 27"/>
          <p:cNvSpPr txBox="1"/>
          <p:nvPr/>
        </p:nvSpPr>
        <p:spPr bwMode="auto">
          <a:xfrm>
            <a:off x="6565392" y="1664208"/>
            <a:ext cx="1307592" cy="146304"/>
          </a:xfrm>
          <a:prstGeom prst="rect">
            <a:avLst/>
          </a:prstGeom>
          <a:noFill/>
        </p:spPr>
        <p:txBody>
          <a:bodyPr wrap="square" lIns="36576" tIns="0" rIns="36576" bIns="0" anchor="t">
            <a:spAutoFit/>
          </a:bodyPr>
          <a:lstStyle/>
          <a:p>
            <a:pPr algn="ctr">
              <a:defRPr sz="850" b="1">
                <a:solidFill>
                  <a:srgbClr val="DDA83F"/>
                </a:solidFill>
                <a:latin typeface="Noto Sans"/>
              </a:defRPr>
            </a:pPr>
            <a:r>
              <a:rPr/>
              <a:t>FULLY NESTED</a:t>
            </a:r>
            <a:endParaRPr/>
          </a:p>
        </p:txBody>
      </p:sp>
      <p:sp>
        <p:nvSpPr>
          <p:cNvPr id="615666396" name="TextBox 28"/>
          <p:cNvSpPr txBox="1"/>
          <p:nvPr/>
        </p:nvSpPr>
        <p:spPr bwMode="auto">
          <a:xfrm>
            <a:off x="6510528" y="2057400"/>
            <a:ext cx="4617720" cy="512064"/>
          </a:xfrm>
          <a:prstGeom prst="rect">
            <a:avLst/>
          </a:prstGeom>
          <a:noFill/>
        </p:spPr>
        <p:txBody>
          <a:bodyPr wrap="square" lIns="36576" tIns="0" rIns="36576" bIns="0" anchor="t">
            <a:spAutoFit/>
          </a:bodyPr>
          <a:lstStyle/>
          <a:p>
            <a:pPr algn="l">
              <a:defRPr sz="2000" b="1">
                <a:solidFill>
                  <a:srgbClr val="FFFFFF"/>
                </a:solidFill>
                <a:latin typeface="Noto Sans"/>
              </a:defRPr>
            </a:pPr>
            <a:r>
              <a:rPr/>
              <a:t>Which stage contributes the variance?</a:t>
            </a:r>
            <a:endParaRPr/>
          </a:p>
        </p:txBody>
      </p:sp>
      <p:sp>
        <p:nvSpPr>
          <p:cNvPr id="38834663" name="Rounded Rectangle 29"/>
          <p:cNvSpPr/>
          <p:nvPr/>
        </p:nvSpPr>
        <p:spPr bwMode="auto">
          <a:xfrm>
            <a:off x="6537960" y="2743200"/>
            <a:ext cx="1417320" cy="1152144"/>
          </a:xfrm>
          <a:prstGeom prst="roundRect">
            <a:avLst>
              <a:gd name="adj" fmla="val 16667"/>
            </a:avLst>
          </a:prstGeom>
          <a:solidFill>
            <a:srgbClr val="142D41"/>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81645556" name="Rectangle 30"/>
          <p:cNvSpPr/>
          <p:nvPr/>
        </p:nvSpPr>
        <p:spPr bwMode="auto">
          <a:xfrm>
            <a:off x="6537960" y="2743200"/>
            <a:ext cx="64008" cy="1152144"/>
          </a:xfrm>
          <a:prstGeom prst="rect">
            <a:avLst/>
          </a:prstGeom>
          <a:solidFill>
            <a:srgbClr val="DD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83180029" name="TextBox 31"/>
          <p:cNvSpPr txBox="1"/>
          <p:nvPr/>
        </p:nvSpPr>
        <p:spPr bwMode="auto">
          <a:xfrm>
            <a:off x="6739128" y="2889504"/>
            <a:ext cx="1069848" cy="429768"/>
          </a:xfrm>
          <a:prstGeom prst="rect">
            <a:avLst/>
          </a:prstGeom>
          <a:noFill/>
        </p:spPr>
        <p:txBody>
          <a:bodyPr wrap="square" lIns="36576" tIns="0" rIns="36576" bIns="0" anchor="t">
            <a:spAutoFit/>
          </a:bodyPr>
          <a:lstStyle/>
          <a:p>
            <a:pPr algn="l">
              <a:defRPr sz="2500" b="1">
                <a:solidFill>
                  <a:srgbClr val="DDA83F"/>
                </a:solidFill>
                <a:latin typeface="Noto Sans"/>
              </a:defRPr>
            </a:pPr>
            <a:r>
              <a:rPr/>
              <a:t>1</a:t>
            </a:r>
            <a:endParaRPr/>
          </a:p>
        </p:txBody>
      </p:sp>
      <p:sp>
        <p:nvSpPr>
          <p:cNvPr id="1353690645" name="TextBox 32"/>
          <p:cNvSpPr txBox="1"/>
          <p:nvPr/>
        </p:nvSpPr>
        <p:spPr bwMode="auto">
          <a:xfrm>
            <a:off x="6739128" y="3401568"/>
            <a:ext cx="1069848" cy="402336"/>
          </a:xfrm>
          <a:prstGeom prst="rect">
            <a:avLst/>
          </a:prstGeom>
          <a:noFill/>
        </p:spPr>
        <p:txBody>
          <a:bodyPr wrap="square" lIns="36576" tIns="0" rIns="36576" bIns="0" anchor="t">
            <a:spAutoFit/>
          </a:bodyPr>
          <a:lstStyle/>
          <a:p>
            <a:pPr algn="l">
              <a:defRPr sz="1050" b="0">
                <a:solidFill>
                  <a:srgbClr val="566572"/>
                </a:solidFill>
                <a:latin typeface="Noto Sans"/>
              </a:defRPr>
            </a:pPr>
            <a:r>
              <a:rPr/>
              <a:t>participant</a:t>
            </a:r>
            <a:endParaRPr/>
          </a:p>
        </p:txBody>
      </p:sp>
      <p:sp>
        <p:nvSpPr>
          <p:cNvPr id="418447456" name="Rounded Rectangle 33"/>
          <p:cNvSpPr/>
          <p:nvPr/>
        </p:nvSpPr>
        <p:spPr bwMode="auto">
          <a:xfrm>
            <a:off x="8110727" y="2743200"/>
            <a:ext cx="1417320" cy="1152144"/>
          </a:xfrm>
          <a:prstGeom prst="roundRect">
            <a:avLst>
              <a:gd name="adj" fmla="val 16667"/>
            </a:avLst>
          </a:prstGeom>
          <a:solidFill>
            <a:srgbClr val="142D41"/>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06672423" name="Rectangle 34"/>
          <p:cNvSpPr/>
          <p:nvPr/>
        </p:nvSpPr>
        <p:spPr bwMode="auto">
          <a:xfrm>
            <a:off x="8110727" y="2743200"/>
            <a:ext cx="64008" cy="1152144"/>
          </a:xfrm>
          <a:prstGeom prst="rect">
            <a:avLst/>
          </a:prstGeom>
          <a:solidFill>
            <a:srgbClr val="DD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29461222" name="TextBox 35"/>
          <p:cNvSpPr txBox="1"/>
          <p:nvPr/>
        </p:nvSpPr>
        <p:spPr bwMode="auto">
          <a:xfrm>
            <a:off x="8311896" y="2889504"/>
            <a:ext cx="1069848" cy="429768"/>
          </a:xfrm>
          <a:prstGeom prst="rect">
            <a:avLst/>
          </a:prstGeom>
          <a:noFill/>
        </p:spPr>
        <p:txBody>
          <a:bodyPr wrap="square" lIns="36576" tIns="0" rIns="36576" bIns="0" anchor="t">
            <a:spAutoFit/>
          </a:bodyPr>
          <a:lstStyle/>
          <a:p>
            <a:pPr algn="l">
              <a:defRPr sz="2500" b="1">
                <a:solidFill>
                  <a:srgbClr val="DDA83F"/>
                </a:solidFill>
                <a:latin typeface="Noto Sans"/>
              </a:defRPr>
            </a:pPr>
            <a:r>
              <a:rPr/>
              <a:t>40</a:t>
            </a:r>
            <a:endParaRPr/>
          </a:p>
        </p:txBody>
      </p:sp>
      <p:sp>
        <p:nvSpPr>
          <p:cNvPr id="646258406" name="TextBox 36"/>
          <p:cNvSpPr txBox="1"/>
          <p:nvPr/>
        </p:nvSpPr>
        <p:spPr bwMode="auto">
          <a:xfrm>
            <a:off x="8311896" y="3401568"/>
            <a:ext cx="1069848" cy="402336"/>
          </a:xfrm>
          <a:prstGeom prst="rect">
            <a:avLst/>
          </a:prstGeom>
          <a:noFill/>
        </p:spPr>
        <p:txBody>
          <a:bodyPr wrap="square" lIns="36576" tIns="0" rIns="36576" bIns="0" anchor="t">
            <a:spAutoFit/>
          </a:bodyPr>
          <a:lstStyle/>
          <a:p>
            <a:pPr algn="l">
              <a:defRPr sz="1050" b="0">
                <a:solidFill>
                  <a:srgbClr val="566572"/>
                </a:solidFill>
                <a:latin typeface="Noto Sans"/>
              </a:defRPr>
            </a:pPr>
            <a:r>
              <a:rPr/>
              <a:t>independent meshes</a:t>
            </a:r>
            <a:endParaRPr/>
          </a:p>
        </p:txBody>
      </p:sp>
      <p:sp>
        <p:nvSpPr>
          <p:cNvPr id="770991185" name="Rounded Rectangle 37"/>
          <p:cNvSpPr/>
          <p:nvPr/>
        </p:nvSpPr>
        <p:spPr bwMode="auto">
          <a:xfrm>
            <a:off x="9683496" y="2743200"/>
            <a:ext cx="1417320" cy="1152144"/>
          </a:xfrm>
          <a:prstGeom prst="roundRect">
            <a:avLst>
              <a:gd name="adj" fmla="val 16667"/>
            </a:avLst>
          </a:prstGeom>
          <a:solidFill>
            <a:srgbClr val="142D41"/>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56856854" name="Rectangle 38"/>
          <p:cNvSpPr/>
          <p:nvPr/>
        </p:nvSpPr>
        <p:spPr bwMode="auto">
          <a:xfrm>
            <a:off x="9683496" y="2743200"/>
            <a:ext cx="64008" cy="1152144"/>
          </a:xfrm>
          <a:prstGeom prst="rect">
            <a:avLst/>
          </a:prstGeom>
          <a:solidFill>
            <a:srgbClr val="DD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7564568" name="TextBox 39"/>
          <p:cNvSpPr txBox="1"/>
          <p:nvPr/>
        </p:nvSpPr>
        <p:spPr bwMode="auto">
          <a:xfrm>
            <a:off x="9884664" y="2889504"/>
            <a:ext cx="1069848" cy="429768"/>
          </a:xfrm>
          <a:prstGeom prst="rect">
            <a:avLst/>
          </a:prstGeom>
          <a:noFill/>
        </p:spPr>
        <p:txBody>
          <a:bodyPr wrap="square" lIns="36576" tIns="0" rIns="36576" bIns="0" anchor="t">
            <a:spAutoFit/>
          </a:bodyPr>
          <a:lstStyle/>
          <a:p>
            <a:pPr algn="l">
              <a:defRPr sz="2500" b="1">
                <a:solidFill>
                  <a:srgbClr val="DDA83F"/>
                </a:solidFill>
                <a:latin typeface="Noto Sans"/>
              </a:defRPr>
            </a:pPr>
            <a:r>
              <a:rPr/>
              <a:t>40</a:t>
            </a:r>
            <a:endParaRPr/>
          </a:p>
        </p:txBody>
      </p:sp>
      <p:sp>
        <p:nvSpPr>
          <p:cNvPr id="2010327841" name="TextBox 40"/>
          <p:cNvSpPr txBox="1"/>
          <p:nvPr/>
        </p:nvSpPr>
        <p:spPr bwMode="auto">
          <a:xfrm>
            <a:off x="9884664" y="3401568"/>
            <a:ext cx="1069848" cy="402336"/>
          </a:xfrm>
          <a:prstGeom prst="rect">
            <a:avLst/>
          </a:prstGeom>
          <a:noFill/>
        </p:spPr>
        <p:txBody>
          <a:bodyPr wrap="square" lIns="36576" tIns="0" rIns="36576" bIns="0" anchor="t">
            <a:spAutoFit/>
          </a:bodyPr>
          <a:lstStyle/>
          <a:p>
            <a:pPr algn="l">
              <a:defRPr sz="1050" b="0">
                <a:solidFill>
                  <a:srgbClr val="566572"/>
                </a:solidFill>
                <a:latin typeface="Noto Sans"/>
              </a:defRPr>
            </a:pPr>
            <a:r>
              <a:rPr/>
              <a:t>solves / mesh</a:t>
            </a:r>
            <a:endParaRPr/>
          </a:p>
        </p:txBody>
      </p:sp>
      <p:sp>
        <p:nvSpPr>
          <p:cNvPr id="1777453486" name="TextBox 41"/>
          <p:cNvSpPr txBox="1"/>
          <p:nvPr/>
        </p:nvSpPr>
        <p:spPr bwMode="auto">
          <a:xfrm>
            <a:off x="6547104" y="4279392"/>
            <a:ext cx="4526280" cy="274320"/>
          </a:xfrm>
          <a:prstGeom prst="rect">
            <a:avLst/>
          </a:prstGeom>
          <a:noFill/>
        </p:spPr>
        <p:txBody>
          <a:bodyPr wrap="square" lIns="36576" tIns="0" rIns="36576" bIns="0" anchor="t">
            <a:spAutoFit/>
          </a:bodyPr>
          <a:lstStyle/>
          <a:p>
            <a:pPr algn="l">
              <a:defRPr sz="1400" b="1">
                <a:solidFill>
                  <a:srgbClr val="FFFFFF"/>
                </a:solidFill>
                <a:latin typeface="Noto Sans"/>
              </a:defRPr>
            </a:pPr>
            <a:r>
              <a:rPr/>
              <a:t>CC320616 • left hippocampus</a:t>
            </a:r>
            <a:endParaRPr/>
          </a:p>
        </p:txBody>
      </p:sp>
      <p:sp>
        <p:nvSpPr>
          <p:cNvPr id="398598796" name="TextBox 42"/>
          <p:cNvSpPr txBox="1"/>
          <p:nvPr/>
        </p:nvSpPr>
        <p:spPr bwMode="auto">
          <a:xfrm>
            <a:off x="6547104" y="4736592"/>
            <a:ext cx="4526280" cy="274320"/>
          </a:xfrm>
          <a:prstGeom prst="rect">
            <a:avLst/>
          </a:prstGeom>
          <a:noFill/>
        </p:spPr>
        <p:txBody>
          <a:bodyPr wrap="square" lIns="36576" tIns="0" rIns="36576" bIns="0" anchor="t">
            <a:spAutoFit/>
          </a:bodyPr>
          <a:lstStyle/>
          <a:p>
            <a:pPr algn="l">
              <a:defRPr sz="1300" b="0">
                <a:solidFill>
                  <a:srgbClr val="B6CAD8"/>
                </a:solidFill>
                <a:latin typeface="Noto Sans"/>
              </a:defRPr>
            </a:pPr>
            <a:r>
              <a:rPr/>
              <a:t>Participant selected once with a fixed seed</a:t>
            </a:r>
            <a:endParaRPr/>
          </a:p>
        </p:txBody>
      </p:sp>
      <p:sp>
        <p:nvSpPr>
          <p:cNvPr id="1915429965" name="TextBox 43"/>
          <p:cNvSpPr txBox="1"/>
          <p:nvPr/>
        </p:nvSpPr>
        <p:spPr bwMode="auto">
          <a:xfrm>
            <a:off x="6547104" y="5230368"/>
            <a:ext cx="4526280" cy="347472"/>
          </a:xfrm>
          <a:prstGeom prst="rect">
            <a:avLst/>
          </a:prstGeom>
          <a:noFill/>
        </p:spPr>
        <p:txBody>
          <a:bodyPr wrap="square" lIns="36576" tIns="0" rIns="36576" bIns="0" anchor="t">
            <a:spAutoFit/>
          </a:bodyPr>
          <a:lstStyle/>
          <a:p>
            <a:pPr algn="l">
              <a:defRPr sz="2100" b="1">
                <a:solidFill>
                  <a:srgbClr val="DDA83F"/>
                </a:solidFill>
                <a:latin typeface="Noto Sans"/>
              </a:defRPr>
            </a:pPr>
            <a:r>
              <a:rPr/>
              <a:t>1,600 simulations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8FA"/>
        </a:solidFill>
      </p:bgPr>
    </p:bg>
    <p:spTree>
      <p:nvGrpSpPr>
        <p:cNvPr id="1" name=""/>
        <p:cNvGrpSpPr/>
        <p:nvPr/>
      </p:nvGrpSpPr>
      <p:grpSpPr bwMode="auto">
        <a:xfrm>
          <a:off x="0" y="0"/>
          <a:ext cx="0" cy="0"/>
          <a:chOff x="0" y="0"/>
          <a:chExt cx="0" cy="0"/>
        </a:xfrm>
      </p:grpSpPr>
      <p:sp>
        <p:nvSpPr>
          <p:cNvPr id="210974895"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METHODS THAT AFFECT INTERPRETATION</a:t>
            </a:r>
            <a:endParaRPr/>
          </a:p>
        </p:txBody>
      </p:sp>
      <p:sp>
        <p:nvSpPr>
          <p:cNvPr id="108126209"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The contrast changes one thing: the mesh realization</a:t>
            </a:r>
            <a:endParaRPr/>
          </a:p>
        </p:txBody>
      </p:sp>
      <p:cxnSp>
        <p:nvCxnSpPr>
          <p:cNvPr id="456417907"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720727558" name="TextBox 4"/>
          <p:cNvSpPr txBox="1"/>
          <p:nvPr/>
        </p:nvSpPr>
        <p:spPr bwMode="auto">
          <a:xfrm>
            <a:off x="502920" y="6565392"/>
            <a:ext cx="3383280" cy="137160"/>
          </a:xfrm>
          <a:prstGeom prst="rect">
            <a:avLst/>
          </a:prstGeom>
          <a:noFill/>
        </p:spPr>
        <p:txBody>
          <a:bodyPr wrap="square" lIns="36576" tIns="0" rIns="36576" bIns="0" anchor="t">
            <a:spAutoFit/>
          </a:bodyPr>
          <a:lstStyle/>
          <a:p>
            <a:pPr algn="l">
              <a:defRPr sz="750" b="0">
                <a:solidFill>
                  <a:srgbClr val="566572"/>
                </a:solidFill>
                <a:latin typeface="Noto Sans"/>
              </a:defRPr>
            </a:pPr>
            <a:r>
              <a:rPr/>
              <a:t>TI repeatability • journal club</a:t>
            </a:r>
            <a:endParaRPr/>
          </a:p>
        </p:txBody>
      </p:sp>
      <p:sp>
        <p:nvSpPr>
          <p:cNvPr id="2113058842"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05</a:t>
            </a:r>
            <a:endParaRPr/>
          </a:p>
        </p:txBody>
      </p:sp>
      <p:sp>
        <p:nvSpPr>
          <p:cNvPr id="252467781" name="Rounded Rectangle 6"/>
          <p:cNvSpPr/>
          <p:nvPr/>
        </p:nvSpPr>
        <p:spPr bwMode="auto">
          <a:xfrm>
            <a:off x="566928" y="1353312"/>
            <a:ext cx="3337560" cy="3108960"/>
          </a:xfrm>
          <a:prstGeom prst="roundRect">
            <a:avLst>
              <a:gd name="adj" fmla="val 16667"/>
            </a:avLst>
          </a:prstGeom>
          <a:solidFill>
            <a:srgbClr val="E0EFF9"/>
          </a:solidFill>
          <a:ln w="10160">
            <a:solidFill>
              <a:srgbClr val="256F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40909216" name="TextBox 7"/>
          <p:cNvSpPr txBox="1"/>
          <p:nvPr/>
        </p:nvSpPr>
        <p:spPr bwMode="auto">
          <a:xfrm>
            <a:off x="859536" y="1645920"/>
            <a:ext cx="1234440" cy="256032"/>
          </a:xfrm>
          <a:prstGeom prst="rect">
            <a:avLst/>
          </a:prstGeom>
          <a:noFill/>
        </p:spPr>
        <p:txBody>
          <a:bodyPr wrap="square" lIns="36576" tIns="0" rIns="36576" bIns="0" anchor="t">
            <a:spAutoFit/>
          </a:bodyPr>
          <a:lstStyle/>
          <a:p>
            <a:pPr algn="l">
              <a:defRPr sz="1100" b="1">
                <a:solidFill>
                  <a:srgbClr val="256FA6"/>
                </a:solidFill>
                <a:latin typeface="Noto Sans"/>
              </a:defRPr>
            </a:pPr>
            <a:r>
              <a:rPr/>
              <a:t>REMESH</a:t>
            </a:r>
            <a:endParaRPr/>
          </a:p>
        </p:txBody>
      </p:sp>
      <p:sp>
        <p:nvSpPr>
          <p:cNvPr id="554284882" name="TextBox 8"/>
          <p:cNvSpPr txBox="1"/>
          <p:nvPr/>
        </p:nvSpPr>
        <p:spPr bwMode="auto">
          <a:xfrm>
            <a:off x="859536" y="2084831"/>
            <a:ext cx="2670048" cy="987552"/>
          </a:xfrm>
          <a:prstGeom prst="rect">
            <a:avLst/>
          </a:prstGeom>
          <a:noFill/>
        </p:spPr>
        <p:txBody>
          <a:bodyPr wrap="square" lIns="36576" tIns="0" rIns="36576" bIns="0" anchor="t">
            <a:spAutoFit/>
          </a:bodyPr>
          <a:lstStyle/>
          <a:p>
            <a:pPr algn="l">
              <a:defRPr sz="2200" b="1">
                <a:solidFill>
                  <a:srgbClr val="0C1E30"/>
                </a:solidFill>
                <a:latin typeface="Noto Sans"/>
              </a:defRPr>
            </a:pPr>
            <a:r>
              <a:rPr/>
              <a:t>Fresh mesh generated</a:t>
            </a:r>
            <a:br>
              <a:rPr/>
            </a:br>
            <a:r>
              <a:rPr/>
              <a:t>for every repeat</a:t>
            </a:r>
            <a:endParaRPr/>
          </a:p>
        </p:txBody>
      </p:sp>
      <p:sp>
        <p:nvSpPr>
          <p:cNvPr id="227953804" name="TextBox 9"/>
          <p:cNvSpPr txBox="1"/>
          <p:nvPr/>
        </p:nvSpPr>
        <p:spPr bwMode="auto">
          <a:xfrm>
            <a:off x="859536" y="3319272"/>
            <a:ext cx="2286000" cy="219456"/>
          </a:xfrm>
          <a:prstGeom prst="rect">
            <a:avLst/>
          </a:prstGeom>
          <a:noFill/>
        </p:spPr>
        <p:txBody>
          <a:bodyPr wrap="square" lIns="36576" tIns="0" rIns="36576" bIns="0" anchor="t">
            <a:spAutoFit/>
          </a:bodyPr>
          <a:lstStyle/>
          <a:p>
            <a:pPr algn="l">
              <a:defRPr sz="950" b="1">
                <a:solidFill>
                  <a:srgbClr val="566572"/>
                </a:solidFill>
                <a:latin typeface="Noto Sans"/>
              </a:defRPr>
            </a:pPr>
            <a:r>
              <a:rPr/>
              <a:t>Variation represented</a:t>
            </a:r>
            <a:endParaRPr/>
          </a:p>
        </p:txBody>
      </p:sp>
      <p:sp>
        <p:nvSpPr>
          <p:cNvPr id="1966956141" name="TextBox 10"/>
          <p:cNvSpPr txBox="1"/>
          <p:nvPr/>
        </p:nvSpPr>
        <p:spPr bwMode="auto">
          <a:xfrm>
            <a:off x="859536" y="3639312"/>
            <a:ext cx="2697480" cy="566928"/>
          </a:xfrm>
          <a:prstGeom prst="rect">
            <a:avLst/>
          </a:prstGeom>
          <a:noFill/>
        </p:spPr>
        <p:txBody>
          <a:bodyPr wrap="square" lIns="36576" tIns="0" rIns="36576" bIns="0" anchor="t">
            <a:spAutoFit/>
          </a:bodyPr>
          <a:lstStyle/>
          <a:p>
            <a:pPr algn="l">
              <a:defRPr sz="1350" b="0">
                <a:solidFill>
                  <a:srgbClr val="1D2730"/>
                </a:solidFill>
                <a:latin typeface="Noto Sans"/>
              </a:defRPr>
            </a:pPr>
            <a:r>
              <a:rPr/>
              <a:t>mesh generation + FEM solution + export / ROI extraction</a:t>
            </a:r>
            <a:endParaRPr/>
          </a:p>
        </p:txBody>
      </p:sp>
      <p:sp>
        <p:nvSpPr>
          <p:cNvPr id="701250491" name="Rounded Rectangle 11"/>
          <p:cNvSpPr/>
          <p:nvPr/>
        </p:nvSpPr>
        <p:spPr bwMode="auto">
          <a:xfrm>
            <a:off x="4105656" y="1353312"/>
            <a:ext cx="3337560" cy="3108960"/>
          </a:xfrm>
          <a:prstGeom prst="roundRect">
            <a:avLst>
              <a:gd name="adj" fmla="val 16667"/>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8185292" name="TextBox 12"/>
          <p:cNvSpPr txBox="1"/>
          <p:nvPr/>
        </p:nvSpPr>
        <p:spPr bwMode="auto">
          <a:xfrm>
            <a:off x="4398264" y="1645920"/>
            <a:ext cx="1325880" cy="256032"/>
          </a:xfrm>
          <a:prstGeom prst="rect">
            <a:avLst/>
          </a:prstGeom>
          <a:noFill/>
        </p:spPr>
        <p:txBody>
          <a:bodyPr wrap="square" lIns="36576" tIns="0" rIns="36576" bIns="0" anchor="t">
            <a:spAutoFit/>
          </a:bodyPr>
          <a:lstStyle/>
          <a:p>
            <a:pPr algn="l">
              <a:defRPr sz="1100" b="1">
                <a:solidFill>
                  <a:srgbClr val="C25B23"/>
                </a:solidFill>
                <a:latin typeface="Noto Sans"/>
              </a:defRPr>
            </a:pPr>
            <a:r>
              <a:rPr/>
              <a:t>FIXED MESH</a:t>
            </a:r>
            <a:endParaRPr/>
          </a:p>
        </p:txBody>
      </p:sp>
      <p:sp>
        <p:nvSpPr>
          <p:cNvPr id="1065969478" name="TextBox 13"/>
          <p:cNvSpPr txBox="1"/>
          <p:nvPr/>
        </p:nvSpPr>
        <p:spPr bwMode="auto">
          <a:xfrm>
            <a:off x="4398264" y="2084831"/>
            <a:ext cx="2697480" cy="987552"/>
          </a:xfrm>
          <a:prstGeom prst="rect">
            <a:avLst/>
          </a:prstGeom>
          <a:noFill/>
        </p:spPr>
        <p:txBody>
          <a:bodyPr wrap="square" lIns="36576" tIns="0" rIns="36576" bIns="0" anchor="t">
            <a:spAutoFit/>
          </a:bodyPr>
          <a:lstStyle/>
          <a:p>
            <a:pPr algn="l">
              <a:defRPr sz="2200" b="1">
                <a:solidFill>
                  <a:srgbClr val="0C1E30"/>
                </a:solidFill>
                <a:latin typeface="Noto Sans"/>
              </a:defRPr>
            </a:pPr>
            <a:r>
              <a:rPr/>
              <a:t>One mesh reused</a:t>
            </a:r>
            <a:br>
              <a:rPr/>
            </a:br>
            <a:r>
              <a:rPr/>
              <a:t>for every repeat</a:t>
            </a:r>
            <a:endParaRPr/>
          </a:p>
        </p:txBody>
      </p:sp>
      <p:sp>
        <p:nvSpPr>
          <p:cNvPr id="1708952535" name="TextBox 14"/>
          <p:cNvSpPr txBox="1"/>
          <p:nvPr/>
        </p:nvSpPr>
        <p:spPr bwMode="auto">
          <a:xfrm>
            <a:off x="4398264" y="3319272"/>
            <a:ext cx="2286000" cy="219456"/>
          </a:xfrm>
          <a:prstGeom prst="rect">
            <a:avLst/>
          </a:prstGeom>
          <a:noFill/>
        </p:spPr>
        <p:txBody>
          <a:bodyPr wrap="square" lIns="36576" tIns="0" rIns="36576" bIns="0" anchor="t">
            <a:spAutoFit/>
          </a:bodyPr>
          <a:lstStyle/>
          <a:p>
            <a:pPr algn="l">
              <a:defRPr sz="950" b="1">
                <a:solidFill>
                  <a:srgbClr val="566572"/>
                </a:solidFill>
                <a:latin typeface="Noto Sans"/>
              </a:defRPr>
            </a:pPr>
            <a:r>
              <a:rPr/>
              <a:t>Variation represented</a:t>
            </a:r>
            <a:endParaRPr/>
          </a:p>
        </p:txBody>
      </p:sp>
      <p:sp>
        <p:nvSpPr>
          <p:cNvPr id="1748201176" name="TextBox 15"/>
          <p:cNvSpPr txBox="1"/>
          <p:nvPr/>
        </p:nvSpPr>
        <p:spPr bwMode="auto">
          <a:xfrm>
            <a:off x="4398264" y="3639312"/>
            <a:ext cx="2697480" cy="566928"/>
          </a:xfrm>
          <a:prstGeom prst="rect">
            <a:avLst/>
          </a:prstGeom>
          <a:noFill/>
        </p:spPr>
        <p:txBody>
          <a:bodyPr wrap="square" lIns="36576" tIns="0" rIns="36576" bIns="0" anchor="t">
            <a:spAutoFit/>
          </a:bodyPr>
          <a:lstStyle/>
          <a:p>
            <a:pPr algn="l">
              <a:defRPr sz="1350" b="0">
                <a:solidFill>
                  <a:srgbClr val="1D2730"/>
                </a:solidFill>
                <a:latin typeface="Noto Sans"/>
              </a:defRPr>
            </a:pPr>
            <a:r>
              <a:rPr/>
              <a:t>residual FEM solution + export / ROI extraction conditional on one mesh</a:t>
            </a:r>
            <a:endParaRPr/>
          </a:p>
        </p:txBody>
      </p:sp>
      <p:sp>
        <p:nvSpPr>
          <p:cNvPr id="1733664824" name="Rounded Rectangle 16"/>
          <p:cNvSpPr/>
          <p:nvPr/>
        </p:nvSpPr>
        <p:spPr bwMode="auto">
          <a:xfrm>
            <a:off x="7644383" y="1353312"/>
            <a:ext cx="3968496" cy="3108960"/>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49748012" name="TextBox 17"/>
          <p:cNvSpPr txBox="1"/>
          <p:nvPr/>
        </p:nvSpPr>
        <p:spPr bwMode="auto">
          <a:xfrm>
            <a:off x="7936992" y="1645920"/>
            <a:ext cx="1691640" cy="256032"/>
          </a:xfrm>
          <a:prstGeom prst="rect">
            <a:avLst/>
          </a:prstGeom>
          <a:noFill/>
        </p:spPr>
        <p:txBody>
          <a:bodyPr wrap="square" lIns="36576" tIns="0" rIns="36576" bIns="0" anchor="t">
            <a:spAutoFit/>
          </a:bodyPr>
          <a:lstStyle/>
          <a:p>
            <a:pPr algn="l">
              <a:defRPr sz="1100" b="1">
                <a:solidFill>
                  <a:srgbClr val="1B8B7E"/>
                </a:solidFill>
                <a:latin typeface="Noto Sans"/>
              </a:defRPr>
            </a:pPr>
            <a:r>
              <a:rPr/>
              <a:t>PRIMARY OUTCOME</a:t>
            </a:r>
            <a:endParaRPr/>
          </a:p>
        </p:txBody>
      </p:sp>
      <p:sp>
        <p:nvSpPr>
          <p:cNvPr id="1893421633" name="TextBox 18"/>
          <p:cNvSpPr txBox="1"/>
          <p:nvPr/>
        </p:nvSpPr>
        <p:spPr bwMode="auto">
          <a:xfrm>
            <a:off x="7936992" y="2130552"/>
            <a:ext cx="3273552" cy="713232"/>
          </a:xfrm>
          <a:prstGeom prst="rect">
            <a:avLst/>
          </a:prstGeom>
          <a:noFill/>
        </p:spPr>
        <p:txBody>
          <a:bodyPr wrap="square" lIns="36576" tIns="0" rIns="36576" bIns="0" anchor="t">
            <a:spAutoFit/>
          </a:bodyPr>
          <a:lstStyle/>
          <a:p>
            <a:pPr algn="l">
              <a:defRPr sz="2300" b="1">
                <a:solidFill>
                  <a:srgbClr val="0C1E30"/>
                </a:solidFill>
                <a:latin typeface="Noto Sans"/>
              </a:defRPr>
            </a:pPr>
            <a:r>
              <a:rPr/>
              <a:t>Median maximum-TI envelope</a:t>
            </a:r>
            <a:endParaRPr/>
          </a:p>
        </p:txBody>
      </p:sp>
      <p:sp>
        <p:nvSpPr>
          <p:cNvPr id="712258561" name="TextBox 19"/>
          <p:cNvSpPr txBox="1"/>
          <p:nvPr/>
        </p:nvSpPr>
        <p:spPr bwMode="auto">
          <a:xfrm>
            <a:off x="7936992" y="2962656"/>
            <a:ext cx="3246120" cy="621792"/>
          </a:xfrm>
          <a:prstGeom prst="rect">
            <a:avLst/>
          </a:prstGeom>
          <a:noFill/>
        </p:spPr>
        <p:txBody>
          <a:bodyPr wrap="square" lIns="36576" tIns="0" rIns="36576" bIns="0" anchor="t">
            <a:spAutoFit/>
          </a:bodyPr>
          <a:lstStyle/>
          <a:p>
            <a:pPr algn="l">
              <a:defRPr sz="1500" b="0">
                <a:solidFill>
                  <a:srgbClr val="1D2730"/>
                </a:solidFill>
                <a:latin typeface="Noto Sans"/>
              </a:defRPr>
            </a:pPr>
            <a:r>
              <a:rPr/>
              <a:t>within the optimizer-matched, parcel-clipped spherical ROI</a:t>
            </a:r>
            <a:endParaRPr/>
          </a:p>
        </p:txBody>
      </p:sp>
      <p:sp>
        <p:nvSpPr>
          <p:cNvPr id="28037826" name="Rounded Rectangle 20"/>
          <p:cNvSpPr/>
          <p:nvPr/>
        </p:nvSpPr>
        <p:spPr bwMode="auto">
          <a:xfrm>
            <a:off x="7955279" y="3895343"/>
            <a:ext cx="1481328" cy="310896"/>
          </a:xfrm>
          <a:prstGeom prst="roundRect">
            <a:avLst>
              <a:gd name="adj" fmla="val 16667"/>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20513207" name="TextBox 21"/>
          <p:cNvSpPr txBox="1"/>
          <p:nvPr/>
        </p:nvSpPr>
        <p:spPr bwMode="auto">
          <a:xfrm>
            <a:off x="8010144" y="3977639"/>
            <a:ext cx="1371600" cy="146304"/>
          </a:xfrm>
          <a:prstGeom prst="rect">
            <a:avLst/>
          </a:prstGeom>
          <a:noFill/>
        </p:spPr>
        <p:txBody>
          <a:bodyPr wrap="square" lIns="36576" tIns="0" rIns="36576" bIns="0" anchor="t">
            <a:spAutoFit/>
          </a:bodyPr>
          <a:lstStyle/>
          <a:p>
            <a:pPr algn="ctr">
              <a:defRPr sz="850" b="1">
                <a:solidFill>
                  <a:srgbClr val="1B8B7E"/>
                </a:solidFill>
                <a:latin typeface="Noto Sans"/>
              </a:defRPr>
            </a:pPr>
            <a:r>
              <a:rPr/>
              <a:t>200 mm³ hippocampus</a:t>
            </a:r>
            <a:endParaRPr/>
          </a:p>
        </p:txBody>
      </p:sp>
      <p:sp>
        <p:nvSpPr>
          <p:cNvPr id="518240871" name="Rounded Rectangle 22"/>
          <p:cNvSpPr/>
          <p:nvPr/>
        </p:nvSpPr>
        <p:spPr bwMode="auto">
          <a:xfrm>
            <a:off x="9573768" y="3895343"/>
            <a:ext cx="1225296" cy="310896"/>
          </a:xfrm>
          <a:prstGeom prst="roundRect">
            <a:avLst>
              <a:gd name="adj" fmla="val 16667"/>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49257895" name="TextBox 23"/>
          <p:cNvSpPr txBox="1"/>
          <p:nvPr/>
        </p:nvSpPr>
        <p:spPr bwMode="auto">
          <a:xfrm>
            <a:off x="9628632" y="3977639"/>
            <a:ext cx="1115568" cy="146304"/>
          </a:xfrm>
          <a:prstGeom prst="rect">
            <a:avLst/>
          </a:prstGeom>
          <a:noFill/>
        </p:spPr>
        <p:txBody>
          <a:bodyPr wrap="square" lIns="36576" tIns="0" rIns="36576" bIns="0" anchor="t">
            <a:spAutoFit/>
          </a:bodyPr>
          <a:lstStyle/>
          <a:p>
            <a:pPr algn="ctr">
              <a:defRPr sz="850" b="1">
                <a:solidFill>
                  <a:srgbClr val="1B8B7E"/>
                </a:solidFill>
                <a:latin typeface="Noto Sans"/>
              </a:defRPr>
            </a:pPr>
            <a:r>
              <a:rPr/>
              <a:t>100 mm³ M1</a:t>
            </a:r>
            <a:endParaRPr/>
          </a:p>
        </p:txBody>
      </p:sp>
      <p:sp>
        <p:nvSpPr>
          <p:cNvPr id="2068676768" name="Rounded Rectangle 24"/>
          <p:cNvSpPr/>
          <p:nvPr/>
        </p:nvSpPr>
        <p:spPr bwMode="auto">
          <a:xfrm>
            <a:off x="566928" y="4754880"/>
            <a:ext cx="11045952" cy="1225296"/>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31193118" name="TextBox 25"/>
          <p:cNvSpPr txBox="1"/>
          <p:nvPr/>
        </p:nvSpPr>
        <p:spPr bwMode="auto">
          <a:xfrm>
            <a:off x="859536" y="5074920"/>
            <a:ext cx="822960" cy="219456"/>
          </a:xfrm>
          <a:prstGeom prst="rect">
            <a:avLst/>
          </a:prstGeom>
          <a:noFill/>
        </p:spPr>
        <p:txBody>
          <a:bodyPr wrap="square" lIns="36576" tIns="0" rIns="36576" bIns="0" anchor="t">
            <a:spAutoFit/>
          </a:bodyPr>
          <a:lstStyle/>
          <a:p>
            <a:pPr algn="l">
              <a:defRPr sz="1000" b="1">
                <a:solidFill>
                  <a:srgbClr val="194874"/>
                </a:solidFill>
                <a:latin typeface="Noto Sans"/>
              </a:defRPr>
            </a:pPr>
            <a:r>
              <a:rPr/>
              <a:t>Analysis</a:t>
            </a:r>
            <a:endParaRPr/>
          </a:p>
        </p:txBody>
      </p:sp>
      <p:sp>
        <p:nvSpPr>
          <p:cNvPr id="1305226621" name="TextBox 26"/>
          <p:cNvSpPr txBox="1"/>
          <p:nvPr/>
        </p:nvSpPr>
        <p:spPr bwMode="auto">
          <a:xfrm>
            <a:off x="1664208" y="5047488"/>
            <a:ext cx="1993392" cy="292608"/>
          </a:xfrm>
          <a:prstGeom prst="rect">
            <a:avLst/>
          </a:prstGeom>
          <a:noFill/>
        </p:spPr>
        <p:txBody>
          <a:bodyPr wrap="square" lIns="36576" tIns="0" rIns="36576" bIns="0" anchor="t">
            <a:spAutoFit/>
          </a:bodyPr>
          <a:lstStyle/>
          <a:p>
            <a:pPr algn="l">
              <a:defRPr sz="1400" b="1">
                <a:solidFill>
                  <a:srgbClr val="1D2730"/>
                </a:solidFill>
                <a:latin typeface="Noto Sans"/>
              </a:defRPr>
            </a:pPr>
            <a:r>
              <a:rPr/>
              <a:t>Per-participant SD/CV</a:t>
            </a:r>
            <a:endParaRPr/>
          </a:p>
        </p:txBody>
      </p:sp>
      <p:sp>
        <p:nvSpPr>
          <p:cNvPr id="163915387" name="TextBox 27"/>
          <p:cNvSpPr txBox="1"/>
          <p:nvPr/>
        </p:nvSpPr>
        <p:spPr bwMode="auto">
          <a:xfrm>
            <a:off x="3685032" y="5010912"/>
            <a:ext cx="274320" cy="274320"/>
          </a:xfrm>
          <a:prstGeom prst="rect">
            <a:avLst/>
          </a:prstGeom>
          <a:noFill/>
        </p:spPr>
        <p:txBody>
          <a:bodyPr wrap="square" lIns="36576" tIns="0" rIns="36576" bIns="0" anchor="t">
            <a:spAutoFit/>
          </a:bodyPr>
          <a:lstStyle/>
          <a:p>
            <a:pPr algn="ctr">
              <a:defRPr sz="1700" b="0">
                <a:solidFill>
                  <a:srgbClr val="CFD8E0"/>
                </a:solidFill>
                <a:latin typeface="Noto Sans"/>
              </a:defRPr>
            </a:pPr>
            <a:r>
              <a:rPr/>
              <a:t>•</a:t>
            </a:r>
            <a:endParaRPr/>
          </a:p>
        </p:txBody>
      </p:sp>
      <p:sp>
        <p:nvSpPr>
          <p:cNvPr id="1164841025" name="TextBox 28"/>
          <p:cNvSpPr txBox="1"/>
          <p:nvPr/>
        </p:nvSpPr>
        <p:spPr bwMode="auto">
          <a:xfrm>
            <a:off x="3986784" y="5047488"/>
            <a:ext cx="2670048" cy="292608"/>
          </a:xfrm>
          <a:prstGeom prst="rect">
            <a:avLst/>
          </a:prstGeom>
          <a:noFill/>
        </p:spPr>
        <p:txBody>
          <a:bodyPr wrap="square" lIns="36576" tIns="0" rIns="36576" bIns="0" anchor="t">
            <a:spAutoFit/>
          </a:bodyPr>
          <a:lstStyle/>
          <a:p>
            <a:pPr algn="l">
              <a:defRPr sz="1400" b="1">
                <a:solidFill>
                  <a:srgbClr val="1D2730"/>
                </a:solidFill>
                <a:latin typeface="Noto Sans"/>
              </a:defRPr>
            </a:pPr>
            <a:r>
              <a:rPr/>
              <a:t>20,000 single-repeat rank draws</a:t>
            </a:r>
            <a:endParaRPr/>
          </a:p>
        </p:txBody>
      </p:sp>
      <p:sp>
        <p:nvSpPr>
          <p:cNvPr id="24146364" name="TextBox 29"/>
          <p:cNvSpPr txBox="1"/>
          <p:nvPr/>
        </p:nvSpPr>
        <p:spPr bwMode="auto">
          <a:xfrm>
            <a:off x="6684264" y="5010912"/>
            <a:ext cx="274320" cy="274320"/>
          </a:xfrm>
          <a:prstGeom prst="rect">
            <a:avLst/>
          </a:prstGeom>
          <a:noFill/>
        </p:spPr>
        <p:txBody>
          <a:bodyPr wrap="square" lIns="36576" tIns="0" rIns="36576" bIns="0" anchor="t">
            <a:spAutoFit/>
          </a:bodyPr>
          <a:lstStyle/>
          <a:p>
            <a:pPr algn="ctr">
              <a:defRPr sz="1700" b="0">
                <a:solidFill>
                  <a:srgbClr val="CFD8E0"/>
                </a:solidFill>
                <a:latin typeface="Noto Sans"/>
              </a:defRPr>
            </a:pPr>
            <a:r>
              <a:rPr/>
              <a:t>•</a:t>
            </a:r>
            <a:endParaRPr/>
          </a:p>
        </p:txBody>
      </p:sp>
      <p:sp>
        <p:nvSpPr>
          <p:cNvPr id="1726393936" name="TextBox 30"/>
          <p:cNvSpPr txBox="1"/>
          <p:nvPr/>
        </p:nvSpPr>
        <p:spPr bwMode="auto">
          <a:xfrm>
            <a:off x="6986016" y="5047488"/>
            <a:ext cx="4206240" cy="292608"/>
          </a:xfrm>
          <a:prstGeom prst="rect">
            <a:avLst/>
          </a:prstGeom>
          <a:noFill/>
        </p:spPr>
        <p:txBody>
          <a:bodyPr wrap="square" lIns="36576" tIns="0" rIns="36576" bIns="0" anchor="t">
            <a:spAutoFit/>
          </a:bodyPr>
          <a:lstStyle/>
          <a:p>
            <a:pPr algn="l">
              <a:defRPr sz="1400" b="1">
                <a:solidFill>
                  <a:srgbClr val="1D2730"/>
                </a:solidFill>
                <a:latin typeface="Noto Sans"/>
              </a:defRPr>
            </a:pPr>
            <a:r>
              <a:rPr/>
              <a:t>balanced one-way random-effects decomposition</a:t>
            </a:r>
            <a:endParaRPr/>
          </a:p>
        </p:txBody>
      </p:sp>
      <p:sp>
        <p:nvSpPr>
          <p:cNvPr id="1783112491" name="TextBox 31"/>
          <p:cNvSpPr txBox="1"/>
          <p:nvPr/>
        </p:nvSpPr>
        <p:spPr bwMode="auto">
          <a:xfrm>
            <a:off x="877824" y="5513832"/>
            <a:ext cx="10058400" cy="256032"/>
          </a:xfrm>
          <a:prstGeom prst="rect">
            <a:avLst/>
          </a:prstGeom>
          <a:noFill/>
        </p:spPr>
        <p:txBody>
          <a:bodyPr wrap="square" lIns="36576" tIns="0" rIns="36576" bIns="0" anchor="t">
            <a:spAutoFit/>
          </a:bodyPr>
          <a:lstStyle/>
          <a:p>
            <a:pPr algn="l">
              <a:defRPr sz="1250" b="1">
                <a:solidFill>
                  <a:srgbClr val="B13A3A"/>
                </a:solidFill>
                <a:latin typeface="Noto Sans"/>
              </a:defRPr>
            </a:pPr>
            <a:r>
              <a:rPr/>
              <a:t>Participant is the population unit; repeats quantify computational variation.</a:t>
            </a:r>
            <a:endParaRPr/>
          </a:p>
        </p:txBody>
      </p:sp>
      <p:sp>
        <p:nvSpPr>
          <p:cNvPr id="1209199114" name="TextBox 32"/>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566572"/>
                </a:solidFill>
                <a:latin typeface="Noto Sans"/>
              </a:defRPr>
            </a:pPr>
            <a:r>
              <a:rPr/>
              <a:t>Corrected selector aligned with the spherical analysis ROI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8FA"/>
        </a:solidFill>
      </p:bgPr>
    </p:bg>
    <p:spTree>
      <p:nvGrpSpPr>
        <p:cNvPr id="1" name=""/>
        <p:cNvGrpSpPr/>
        <p:nvPr/>
      </p:nvGrpSpPr>
      <p:grpSpPr bwMode="auto">
        <a:xfrm>
          <a:off x="0" y="0"/>
          <a:ext cx="0" cy="0"/>
          <a:chOff x="0" y="0"/>
          <a:chExt cx="0" cy="0"/>
        </a:xfrm>
      </p:grpSpPr>
      <p:sp>
        <p:nvSpPr>
          <p:cNvPr id="737455686"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RESULT 1 • LEFT HIPPOCAMPUS</a:t>
            </a:r>
            <a:endParaRPr/>
          </a:p>
        </p:txBody>
      </p:sp>
      <p:sp>
        <p:nvSpPr>
          <p:cNvPr id="48291819"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Hippocampal fields vary by 1.81–3.65% under remeshing</a:t>
            </a:r>
            <a:endParaRPr/>
          </a:p>
        </p:txBody>
      </p:sp>
      <p:cxnSp>
        <p:nvCxnSpPr>
          <p:cNvPr id="67136335"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1489022212"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06</a:t>
            </a:r>
            <a:endParaRPr/>
          </a:p>
        </p:txBody>
      </p:sp>
      <p:sp>
        <p:nvSpPr>
          <p:cNvPr id="719444298" name="Rounded Rectangle 6"/>
          <p:cNvSpPr/>
          <p:nvPr/>
        </p:nvSpPr>
        <p:spPr bwMode="auto">
          <a:xfrm>
            <a:off x="457200" y="1188720"/>
            <a:ext cx="8979408" cy="5074920"/>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303181082" name="Picture 7" descr="01_primary_median_roi_repeat_distributions.png"/>
          <p:cNvPicPr>
            <a:picLocks noChangeAspect="1"/>
          </p:cNvPicPr>
          <p:nvPr/>
        </p:nvPicPr>
        <p:blipFill rotWithShape="1">
          <a:blip r:embed="rId3"/>
          <a:stretch/>
        </p:blipFill>
        <p:spPr bwMode="auto">
          <a:xfrm>
            <a:off x="566928" y="1618018"/>
            <a:ext cx="8759952" cy="4188890"/>
          </a:xfrm>
          <a:prstGeom prst="rect">
            <a:avLst/>
          </a:prstGeom>
        </p:spPr>
      </p:pic>
      <p:sp>
        <p:nvSpPr>
          <p:cNvPr id="35668568" name="Rounded Rectangle 8"/>
          <p:cNvSpPr/>
          <p:nvPr/>
        </p:nvSpPr>
        <p:spPr bwMode="auto">
          <a:xfrm>
            <a:off x="9637776" y="1371600"/>
            <a:ext cx="2002536" cy="129844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84350675" name="Rectangle 9"/>
          <p:cNvSpPr/>
          <p:nvPr/>
        </p:nvSpPr>
        <p:spPr bwMode="auto">
          <a:xfrm>
            <a:off x="9637776" y="1371600"/>
            <a:ext cx="64008" cy="1298448"/>
          </a:xfrm>
          <a:prstGeom prst="rect">
            <a:avLst/>
          </a:prstGeom>
          <a:solidFill>
            <a:srgbClr val="25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8011746" name="TextBox 10"/>
          <p:cNvSpPr txBox="1"/>
          <p:nvPr/>
        </p:nvSpPr>
        <p:spPr bwMode="auto">
          <a:xfrm>
            <a:off x="9838943" y="1517904"/>
            <a:ext cx="1655063" cy="429768"/>
          </a:xfrm>
          <a:prstGeom prst="rect">
            <a:avLst/>
          </a:prstGeom>
          <a:noFill/>
        </p:spPr>
        <p:txBody>
          <a:bodyPr wrap="square" lIns="36576" tIns="0" rIns="36576" bIns="0" anchor="t">
            <a:spAutoFit/>
          </a:bodyPr>
          <a:lstStyle/>
          <a:p>
            <a:pPr algn="l">
              <a:defRPr sz="2500" b="1">
                <a:solidFill>
                  <a:srgbClr val="256FA6"/>
                </a:solidFill>
                <a:latin typeface="Noto Sans"/>
              </a:defRPr>
            </a:pPr>
            <a:r>
              <a:rPr/>
              <a:t>2.40%</a:t>
            </a:r>
            <a:endParaRPr/>
          </a:p>
        </p:txBody>
      </p:sp>
      <p:sp>
        <p:nvSpPr>
          <p:cNvPr id="1992175653" name="TextBox 11"/>
          <p:cNvSpPr txBox="1"/>
          <p:nvPr/>
        </p:nvSpPr>
        <p:spPr bwMode="auto">
          <a:xfrm>
            <a:off x="9838943" y="2029967"/>
            <a:ext cx="1655063" cy="548640"/>
          </a:xfrm>
          <a:prstGeom prst="rect">
            <a:avLst/>
          </a:prstGeom>
          <a:noFill/>
        </p:spPr>
        <p:txBody>
          <a:bodyPr wrap="square" lIns="36576" tIns="0" rIns="36576" bIns="0" anchor="t">
            <a:spAutoFit/>
          </a:bodyPr>
          <a:lstStyle/>
          <a:p>
            <a:pPr algn="l">
              <a:defRPr sz="1050" b="0">
                <a:solidFill>
                  <a:srgbClr val="566572"/>
                </a:solidFill>
                <a:latin typeface="Noto Sans"/>
              </a:defRPr>
            </a:pPr>
            <a:r>
              <a:rPr/>
              <a:t>median remesh CV</a:t>
            </a:r>
            <a:endParaRPr/>
          </a:p>
        </p:txBody>
      </p:sp>
      <p:sp>
        <p:nvSpPr>
          <p:cNvPr id="1488828726" name="Rounded Rectangle 12"/>
          <p:cNvSpPr/>
          <p:nvPr/>
        </p:nvSpPr>
        <p:spPr bwMode="auto">
          <a:xfrm>
            <a:off x="9637776" y="2862072"/>
            <a:ext cx="2002536" cy="129844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89194114" name="Rectangle 13"/>
          <p:cNvSpPr/>
          <p:nvPr/>
        </p:nvSpPr>
        <p:spPr bwMode="auto">
          <a:xfrm>
            <a:off x="9637776" y="2862072"/>
            <a:ext cx="64008" cy="1298448"/>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62799845" name="TextBox 14"/>
          <p:cNvSpPr txBox="1"/>
          <p:nvPr/>
        </p:nvSpPr>
        <p:spPr bwMode="auto">
          <a:xfrm>
            <a:off x="9838943" y="3008376"/>
            <a:ext cx="1655063" cy="429768"/>
          </a:xfrm>
          <a:prstGeom prst="rect">
            <a:avLst/>
          </a:prstGeom>
          <a:noFill/>
        </p:spPr>
        <p:txBody>
          <a:bodyPr wrap="square" lIns="36576" tIns="0" rIns="36576" bIns="0" anchor="t">
            <a:spAutoFit/>
          </a:bodyPr>
          <a:lstStyle/>
          <a:p>
            <a:pPr algn="l">
              <a:defRPr sz="2100" b="1">
                <a:solidFill>
                  <a:srgbClr val="C25B23"/>
                </a:solidFill>
                <a:latin typeface="Noto Sans"/>
              </a:defRPr>
            </a:pPr>
            <a:r>
              <a:rPr/>
              <a:t>≥99.19%</a:t>
            </a:r>
            <a:endParaRPr/>
          </a:p>
        </p:txBody>
      </p:sp>
      <p:sp>
        <p:nvSpPr>
          <p:cNvPr id="1978937238" name="TextBox 15"/>
          <p:cNvSpPr txBox="1"/>
          <p:nvPr/>
        </p:nvSpPr>
        <p:spPr bwMode="auto">
          <a:xfrm>
            <a:off x="9838943" y="3520439"/>
            <a:ext cx="1655063" cy="548640"/>
          </a:xfrm>
          <a:prstGeom prst="rect">
            <a:avLst/>
          </a:prstGeom>
          <a:noFill/>
        </p:spPr>
        <p:txBody>
          <a:bodyPr wrap="square" lIns="36576" tIns="0" rIns="36576" bIns="0" anchor="t">
            <a:spAutoFit/>
          </a:bodyPr>
          <a:lstStyle/>
          <a:p>
            <a:pPr algn="l">
              <a:defRPr sz="1050" b="0">
                <a:solidFill>
                  <a:srgbClr val="566572"/>
                </a:solidFill>
                <a:latin typeface="Noto Sans"/>
              </a:defRPr>
            </a:pPr>
            <a:r>
              <a:rPr/>
              <a:t>minimum reduction in SD with fixed mesh</a:t>
            </a:r>
            <a:endParaRPr/>
          </a:p>
        </p:txBody>
      </p:sp>
      <p:sp>
        <p:nvSpPr>
          <p:cNvPr id="1550978715" name="Rounded Rectangle 16"/>
          <p:cNvSpPr/>
          <p:nvPr/>
        </p:nvSpPr>
        <p:spPr bwMode="auto">
          <a:xfrm>
            <a:off x="9637776" y="4352544"/>
            <a:ext cx="2002536" cy="129844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12356891" name="Rectangle 17"/>
          <p:cNvSpPr/>
          <p:nvPr/>
        </p:nvSpPr>
        <p:spPr bwMode="auto">
          <a:xfrm>
            <a:off x="9637776" y="4352544"/>
            <a:ext cx="64008" cy="1298448"/>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57869865" name="TextBox 18"/>
          <p:cNvSpPr txBox="1"/>
          <p:nvPr/>
        </p:nvSpPr>
        <p:spPr bwMode="auto">
          <a:xfrm>
            <a:off x="9838943" y="4498848"/>
            <a:ext cx="1655063" cy="429768"/>
          </a:xfrm>
          <a:prstGeom prst="rect">
            <a:avLst/>
          </a:prstGeom>
          <a:noFill/>
        </p:spPr>
        <p:txBody>
          <a:bodyPr wrap="square" lIns="36576" tIns="0" rIns="36576" bIns="0" anchor="t">
            <a:spAutoFit/>
          </a:bodyPr>
          <a:lstStyle/>
          <a:p>
            <a:pPr algn="l">
              <a:defRPr sz="2200" b="1">
                <a:solidFill>
                  <a:srgbClr val="1B8B7E"/>
                </a:solidFill>
                <a:latin typeface="Noto Sans"/>
              </a:defRPr>
            </a:pPr>
            <a:r>
              <a:rPr/>
              <a:t>≤0.016%</a:t>
            </a:r>
            <a:endParaRPr/>
          </a:p>
        </p:txBody>
      </p:sp>
      <p:sp>
        <p:nvSpPr>
          <p:cNvPr id="363015987" name="TextBox 19"/>
          <p:cNvSpPr txBox="1"/>
          <p:nvPr/>
        </p:nvSpPr>
        <p:spPr bwMode="auto">
          <a:xfrm>
            <a:off x="9838943" y="5010912"/>
            <a:ext cx="1655063" cy="548640"/>
          </a:xfrm>
          <a:prstGeom prst="rect">
            <a:avLst/>
          </a:prstGeom>
          <a:noFill/>
        </p:spPr>
        <p:txBody>
          <a:bodyPr wrap="square" lIns="36576" tIns="0" rIns="36576" bIns="0" anchor="t">
            <a:spAutoFit/>
          </a:bodyPr>
          <a:lstStyle/>
          <a:p>
            <a:pPr algn="l">
              <a:defRPr sz="1050" b="0">
                <a:solidFill>
                  <a:srgbClr val="566572"/>
                </a:solidFill>
                <a:latin typeface="Noto Sans"/>
              </a:defRPr>
            </a:pPr>
            <a:r>
              <a:rPr/>
              <a:t>maximum fixed-mesh CV</a:t>
            </a:r>
            <a:endParaRPr/>
          </a:p>
        </p:txBody>
      </p:sp>
      <p:sp>
        <p:nvSpPr>
          <p:cNvPr id="657051514" name="TextBox 20"/>
          <p:cNvSpPr txBox="1"/>
          <p:nvPr/>
        </p:nvSpPr>
        <p:spPr bwMode="auto">
          <a:xfrm>
            <a:off x="9665208" y="5870448"/>
            <a:ext cx="1920240" cy="384048"/>
          </a:xfrm>
          <a:prstGeom prst="rect">
            <a:avLst/>
          </a:prstGeom>
          <a:noFill/>
        </p:spPr>
        <p:txBody>
          <a:bodyPr wrap="square" lIns="36576" tIns="0" rIns="36576" bIns="0" anchor="t">
            <a:spAutoFit/>
          </a:bodyPr>
          <a:lstStyle/>
          <a:p>
            <a:pPr algn="ctr">
              <a:defRPr sz="1000" b="1">
                <a:solidFill>
                  <a:srgbClr val="0C1E30"/>
                </a:solidFill>
                <a:latin typeface="Noto Sans"/>
              </a:defRPr>
            </a:pPr>
            <a:r>
              <a:rPr/>
              <a:t>Blue spread collapses to an almost single orange value for every participant.</a:t>
            </a:r>
            <a:endParaRPr/>
          </a:p>
        </p:txBody>
      </p:sp>
      <p:sp>
        <p:nvSpPr>
          <p:cNvPr id="2036543234" name="TextBox 21"/>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566572"/>
                </a:solidFill>
                <a:latin typeface="Noto Sans"/>
              </a:defRPr>
            </a:pPr>
            <a:r>
              <a:rPr/>
              <a:t>n=10; 40 remesh + 40 fixed-mesh repeats per participant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8FA"/>
        </a:solidFill>
      </p:bgPr>
    </p:bg>
    <p:spTree>
      <p:nvGrpSpPr>
        <p:cNvPr id="1" name=""/>
        <p:cNvGrpSpPr/>
        <p:nvPr/>
      </p:nvGrpSpPr>
      <p:grpSpPr bwMode="auto">
        <a:xfrm>
          <a:off x="0" y="0"/>
          <a:ext cx="0" cy="0"/>
          <a:chOff x="0" y="0"/>
          <a:chExt cx="0" cy="0"/>
        </a:xfrm>
      </p:grpSpPr>
      <p:sp>
        <p:nvSpPr>
          <p:cNvPr id="782345919"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RESULT 2 • RIGHT M1</a:t>
            </a:r>
            <a:endParaRPr/>
          </a:p>
        </p:txBody>
      </p:sp>
      <p:sp>
        <p:nvSpPr>
          <p:cNvPr id="653065042"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M1 shows the same pattern: 1.62–2.79% remesh CV</a:t>
            </a:r>
            <a:endParaRPr/>
          </a:p>
        </p:txBody>
      </p:sp>
      <p:cxnSp>
        <p:nvCxnSpPr>
          <p:cNvPr id="2063893904"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219545294"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07</a:t>
            </a:r>
            <a:endParaRPr/>
          </a:p>
        </p:txBody>
      </p:sp>
      <p:sp>
        <p:nvSpPr>
          <p:cNvPr id="183336207" name="Rounded Rectangle 6"/>
          <p:cNvSpPr/>
          <p:nvPr/>
        </p:nvSpPr>
        <p:spPr bwMode="auto">
          <a:xfrm>
            <a:off x="457200" y="1188720"/>
            <a:ext cx="8979408" cy="5074920"/>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709027066" name="Picture 7" descr="01_primary_median_roi_repeat_distributions.png"/>
          <p:cNvPicPr>
            <a:picLocks noChangeAspect="1"/>
          </p:cNvPicPr>
          <p:nvPr/>
        </p:nvPicPr>
        <p:blipFill rotWithShape="1">
          <a:blip r:embed="rId3"/>
          <a:stretch/>
        </p:blipFill>
        <p:spPr bwMode="auto">
          <a:xfrm>
            <a:off x="566928" y="1618018"/>
            <a:ext cx="8759952" cy="4188890"/>
          </a:xfrm>
          <a:prstGeom prst="rect">
            <a:avLst/>
          </a:prstGeom>
        </p:spPr>
      </p:pic>
      <p:sp>
        <p:nvSpPr>
          <p:cNvPr id="2062280940" name="Rounded Rectangle 8"/>
          <p:cNvSpPr/>
          <p:nvPr/>
        </p:nvSpPr>
        <p:spPr bwMode="auto">
          <a:xfrm>
            <a:off x="9637776" y="1371600"/>
            <a:ext cx="2002536" cy="129844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91283989" name="Rectangle 9"/>
          <p:cNvSpPr/>
          <p:nvPr/>
        </p:nvSpPr>
        <p:spPr bwMode="auto">
          <a:xfrm>
            <a:off x="9637776" y="1371600"/>
            <a:ext cx="64008" cy="1298448"/>
          </a:xfrm>
          <a:prstGeom prst="rect">
            <a:avLst/>
          </a:prstGeom>
          <a:solidFill>
            <a:srgbClr val="25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65840037" name="TextBox 10"/>
          <p:cNvSpPr txBox="1"/>
          <p:nvPr/>
        </p:nvSpPr>
        <p:spPr bwMode="auto">
          <a:xfrm>
            <a:off x="9838943" y="1517904"/>
            <a:ext cx="1655063" cy="429768"/>
          </a:xfrm>
          <a:prstGeom prst="rect">
            <a:avLst/>
          </a:prstGeom>
          <a:noFill/>
        </p:spPr>
        <p:txBody>
          <a:bodyPr wrap="square" lIns="36576" tIns="0" rIns="36576" bIns="0" anchor="t">
            <a:spAutoFit/>
          </a:bodyPr>
          <a:lstStyle/>
          <a:p>
            <a:pPr algn="l">
              <a:defRPr sz="2500" b="1">
                <a:solidFill>
                  <a:srgbClr val="256FA6"/>
                </a:solidFill>
                <a:latin typeface="Noto Sans"/>
              </a:defRPr>
            </a:pPr>
            <a:r>
              <a:rPr/>
              <a:t>2.54%</a:t>
            </a:r>
            <a:endParaRPr/>
          </a:p>
        </p:txBody>
      </p:sp>
      <p:sp>
        <p:nvSpPr>
          <p:cNvPr id="358873928" name="TextBox 11"/>
          <p:cNvSpPr txBox="1"/>
          <p:nvPr/>
        </p:nvSpPr>
        <p:spPr bwMode="auto">
          <a:xfrm>
            <a:off x="9838943" y="2029967"/>
            <a:ext cx="1655063" cy="548640"/>
          </a:xfrm>
          <a:prstGeom prst="rect">
            <a:avLst/>
          </a:prstGeom>
          <a:noFill/>
        </p:spPr>
        <p:txBody>
          <a:bodyPr wrap="square" lIns="36576" tIns="0" rIns="36576" bIns="0" anchor="t">
            <a:spAutoFit/>
          </a:bodyPr>
          <a:lstStyle/>
          <a:p>
            <a:pPr algn="l">
              <a:defRPr sz="1050" b="0">
                <a:solidFill>
                  <a:srgbClr val="566572"/>
                </a:solidFill>
                <a:latin typeface="Noto Sans"/>
              </a:defRPr>
            </a:pPr>
            <a:r>
              <a:rPr/>
              <a:t>median remesh CV</a:t>
            </a:r>
            <a:endParaRPr/>
          </a:p>
        </p:txBody>
      </p:sp>
      <p:sp>
        <p:nvSpPr>
          <p:cNvPr id="668497886" name="Rounded Rectangle 12"/>
          <p:cNvSpPr/>
          <p:nvPr/>
        </p:nvSpPr>
        <p:spPr bwMode="auto">
          <a:xfrm>
            <a:off x="9637776" y="2862072"/>
            <a:ext cx="2002536" cy="129844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62241797" name="Rectangle 13"/>
          <p:cNvSpPr/>
          <p:nvPr/>
        </p:nvSpPr>
        <p:spPr bwMode="auto">
          <a:xfrm>
            <a:off x="9637776" y="2862072"/>
            <a:ext cx="64008" cy="1298448"/>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51557350" name="TextBox 14"/>
          <p:cNvSpPr txBox="1"/>
          <p:nvPr/>
        </p:nvSpPr>
        <p:spPr bwMode="auto">
          <a:xfrm>
            <a:off x="9838943" y="3008376"/>
            <a:ext cx="1655063" cy="429768"/>
          </a:xfrm>
          <a:prstGeom prst="rect">
            <a:avLst/>
          </a:prstGeom>
          <a:noFill/>
        </p:spPr>
        <p:txBody>
          <a:bodyPr wrap="square" lIns="36576" tIns="0" rIns="36576" bIns="0" anchor="t">
            <a:spAutoFit/>
          </a:bodyPr>
          <a:lstStyle/>
          <a:p>
            <a:pPr algn="l">
              <a:defRPr sz="2100" b="1">
                <a:solidFill>
                  <a:srgbClr val="C25B23"/>
                </a:solidFill>
                <a:latin typeface="Noto Sans"/>
              </a:defRPr>
            </a:pPr>
            <a:r>
              <a:rPr/>
              <a:t>≥99.78%</a:t>
            </a:r>
            <a:endParaRPr/>
          </a:p>
        </p:txBody>
      </p:sp>
      <p:sp>
        <p:nvSpPr>
          <p:cNvPr id="149536579" name="TextBox 15"/>
          <p:cNvSpPr txBox="1"/>
          <p:nvPr/>
        </p:nvSpPr>
        <p:spPr bwMode="auto">
          <a:xfrm>
            <a:off x="9838943" y="3520439"/>
            <a:ext cx="1655063" cy="548640"/>
          </a:xfrm>
          <a:prstGeom prst="rect">
            <a:avLst/>
          </a:prstGeom>
          <a:noFill/>
        </p:spPr>
        <p:txBody>
          <a:bodyPr wrap="square" lIns="36576" tIns="0" rIns="36576" bIns="0" anchor="t">
            <a:spAutoFit/>
          </a:bodyPr>
          <a:lstStyle/>
          <a:p>
            <a:pPr algn="l">
              <a:defRPr sz="1050" b="0">
                <a:solidFill>
                  <a:srgbClr val="566572"/>
                </a:solidFill>
                <a:latin typeface="Noto Sans"/>
              </a:defRPr>
            </a:pPr>
            <a:r>
              <a:rPr/>
              <a:t>minimum reduction in SD with fixed mesh</a:t>
            </a:r>
            <a:endParaRPr/>
          </a:p>
        </p:txBody>
      </p:sp>
      <p:sp>
        <p:nvSpPr>
          <p:cNvPr id="333867918" name="Rounded Rectangle 16"/>
          <p:cNvSpPr/>
          <p:nvPr/>
        </p:nvSpPr>
        <p:spPr bwMode="auto">
          <a:xfrm>
            <a:off x="9637776" y="4352544"/>
            <a:ext cx="2002536" cy="129844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10808641" name="Rectangle 17"/>
          <p:cNvSpPr/>
          <p:nvPr/>
        </p:nvSpPr>
        <p:spPr bwMode="auto">
          <a:xfrm>
            <a:off x="9637776" y="4352544"/>
            <a:ext cx="64008" cy="1298448"/>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73279027" name="TextBox 18"/>
          <p:cNvSpPr txBox="1"/>
          <p:nvPr/>
        </p:nvSpPr>
        <p:spPr bwMode="auto">
          <a:xfrm>
            <a:off x="9838943" y="4498848"/>
            <a:ext cx="1655063" cy="429768"/>
          </a:xfrm>
          <a:prstGeom prst="rect">
            <a:avLst/>
          </a:prstGeom>
          <a:noFill/>
        </p:spPr>
        <p:txBody>
          <a:bodyPr wrap="square" lIns="36576" tIns="0" rIns="36576" bIns="0" anchor="t">
            <a:spAutoFit/>
          </a:bodyPr>
          <a:lstStyle/>
          <a:p>
            <a:pPr algn="l">
              <a:defRPr sz="2000" b="1">
                <a:solidFill>
                  <a:srgbClr val="1B8B7E"/>
                </a:solidFill>
                <a:latin typeface="Noto Sans"/>
              </a:defRPr>
            </a:pPr>
            <a:r>
              <a:rPr/>
              <a:t>≤0.0053%</a:t>
            </a:r>
            <a:endParaRPr/>
          </a:p>
        </p:txBody>
      </p:sp>
      <p:sp>
        <p:nvSpPr>
          <p:cNvPr id="726910947" name="TextBox 19"/>
          <p:cNvSpPr txBox="1"/>
          <p:nvPr/>
        </p:nvSpPr>
        <p:spPr bwMode="auto">
          <a:xfrm>
            <a:off x="9838943" y="5010912"/>
            <a:ext cx="1655063" cy="548640"/>
          </a:xfrm>
          <a:prstGeom prst="rect">
            <a:avLst/>
          </a:prstGeom>
          <a:noFill/>
        </p:spPr>
        <p:txBody>
          <a:bodyPr wrap="square" lIns="36576" tIns="0" rIns="36576" bIns="0" anchor="t">
            <a:spAutoFit/>
          </a:bodyPr>
          <a:lstStyle/>
          <a:p>
            <a:pPr algn="l">
              <a:defRPr sz="1050" b="0">
                <a:solidFill>
                  <a:srgbClr val="566572"/>
                </a:solidFill>
                <a:latin typeface="Noto Sans"/>
              </a:defRPr>
            </a:pPr>
            <a:r>
              <a:rPr/>
              <a:t>maximum fixed-mesh CV</a:t>
            </a:r>
            <a:endParaRPr/>
          </a:p>
        </p:txBody>
      </p:sp>
      <p:sp>
        <p:nvSpPr>
          <p:cNvPr id="259596362" name="TextBox 20"/>
          <p:cNvSpPr txBox="1"/>
          <p:nvPr/>
        </p:nvSpPr>
        <p:spPr bwMode="auto">
          <a:xfrm>
            <a:off x="9665208" y="5870448"/>
            <a:ext cx="1920240" cy="384048"/>
          </a:xfrm>
          <a:prstGeom prst="rect">
            <a:avLst/>
          </a:prstGeom>
          <a:noFill/>
        </p:spPr>
        <p:txBody>
          <a:bodyPr wrap="square" lIns="36576" tIns="0" rIns="36576" bIns="0" anchor="t">
            <a:spAutoFit/>
          </a:bodyPr>
          <a:lstStyle/>
          <a:p>
            <a:pPr algn="ctr">
              <a:defRPr sz="1000" b="1">
                <a:solidFill>
                  <a:srgbClr val="0C1E30"/>
                </a:solidFill>
                <a:latin typeface="Noto Sans"/>
              </a:defRPr>
            </a:pPr>
            <a:r>
              <a:rPr/>
              <a:t>Replication in a superficial target argues against a hippocampus-only artifact.</a:t>
            </a:r>
            <a:endParaRPr/>
          </a:p>
        </p:txBody>
      </p:sp>
      <p:sp>
        <p:nvSpPr>
          <p:cNvPr id="1438953643" name="TextBox 21"/>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566572"/>
                </a:solidFill>
                <a:latin typeface="Noto Sans"/>
              </a:defRPr>
            </a:pPr>
            <a:r>
              <a:rPr/>
              <a:t>n=10; 40 remesh + 40 fixed-mesh repeats per participant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bg>
      <p:bgPr shadeToTitle="0">
        <a:solidFill>
          <a:srgbClr val="F6F8FA"/>
        </a:solidFill>
      </p:bgPr>
    </p:bg>
    <p:spTree>
      <p:nvGrpSpPr>
        <p:cNvPr id="1" name=""/>
        <p:cNvGrpSpPr/>
        <p:nvPr/>
      </p:nvGrpSpPr>
      <p:grpSpPr bwMode="auto">
        <a:xfrm>
          <a:off x="0" y="0"/>
          <a:ext cx="0" cy="0"/>
          <a:chOff x="0" y="0"/>
          <a:chExt cx="0" cy="0"/>
        </a:xfrm>
      </p:grpSpPr>
      <p:sp>
        <p:nvSpPr>
          <p:cNvPr id="77928860"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RESULT 3 • RANKING UNCERTAINTY</a:t>
            </a:r>
            <a:endParaRPr/>
          </a:p>
        </p:txBody>
      </p:sp>
      <p:sp>
        <p:nvSpPr>
          <p:cNvPr id="2141648634"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Percent-level spread matters when subjects are closely matched</a:t>
            </a:r>
            <a:endParaRPr/>
          </a:p>
        </p:txBody>
      </p:sp>
      <p:cxnSp>
        <p:nvCxnSpPr>
          <p:cNvPr id="640420374"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1959817998"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08</a:t>
            </a:r>
            <a:endParaRPr/>
          </a:p>
        </p:txBody>
      </p:sp>
      <p:sp>
        <p:nvSpPr>
          <p:cNvPr id="1203618316" name="Rounded Rectangle 6"/>
          <p:cNvSpPr/>
          <p:nvPr/>
        </p:nvSpPr>
        <p:spPr bwMode="auto">
          <a:xfrm>
            <a:off x="585216" y="1389888"/>
            <a:ext cx="5449823" cy="4370832"/>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55867864" name="Rounded Rectangle 7"/>
          <p:cNvSpPr/>
          <p:nvPr/>
        </p:nvSpPr>
        <p:spPr bwMode="auto">
          <a:xfrm>
            <a:off x="859536" y="1664208"/>
            <a:ext cx="1490472" cy="310896"/>
          </a:xfrm>
          <a:prstGeom prst="roundRect">
            <a:avLst>
              <a:gd name="adj" fmla="val 16667"/>
            </a:avLst>
          </a:prstGeom>
          <a:solidFill>
            <a:srgbClr val="E0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15719818" name="TextBox 8"/>
          <p:cNvSpPr txBox="1"/>
          <p:nvPr/>
        </p:nvSpPr>
        <p:spPr bwMode="auto">
          <a:xfrm>
            <a:off x="914400" y="1746504"/>
            <a:ext cx="1380743" cy="146304"/>
          </a:xfrm>
          <a:prstGeom prst="rect">
            <a:avLst/>
          </a:prstGeom>
          <a:noFill/>
        </p:spPr>
        <p:txBody>
          <a:bodyPr wrap="square" lIns="36576" tIns="0" rIns="36576" bIns="0" anchor="t">
            <a:spAutoFit/>
          </a:bodyPr>
          <a:lstStyle/>
          <a:p>
            <a:pPr algn="ctr">
              <a:defRPr sz="850" b="1">
                <a:solidFill>
                  <a:srgbClr val="194874"/>
                </a:solidFill>
                <a:latin typeface="Noto Sans"/>
              </a:defRPr>
            </a:pPr>
            <a:r>
              <a:rPr/>
              <a:t>LEFT HIPPOCAMPUS</a:t>
            </a:r>
            <a:endParaRPr/>
          </a:p>
        </p:txBody>
      </p:sp>
      <p:sp>
        <p:nvSpPr>
          <p:cNvPr id="1225921109" name="TextBox 9"/>
          <p:cNvSpPr txBox="1"/>
          <p:nvPr/>
        </p:nvSpPr>
        <p:spPr bwMode="auto">
          <a:xfrm>
            <a:off x="859536" y="2267712"/>
            <a:ext cx="2560320" cy="667512"/>
          </a:xfrm>
          <a:prstGeom prst="rect">
            <a:avLst/>
          </a:prstGeom>
          <a:noFill/>
        </p:spPr>
        <p:txBody>
          <a:bodyPr wrap="square" lIns="36576" tIns="0" rIns="36576" bIns="0" anchor="t">
            <a:spAutoFit/>
          </a:bodyPr>
          <a:lstStyle/>
          <a:p>
            <a:pPr algn="l">
              <a:defRPr sz="4000" b="1">
                <a:solidFill>
                  <a:srgbClr val="C25B23"/>
                </a:solidFill>
                <a:latin typeface="Noto Sans"/>
              </a:defRPr>
            </a:pPr>
            <a:r>
              <a:rPr/>
              <a:t>95.7%</a:t>
            </a:r>
            <a:endParaRPr/>
          </a:p>
        </p:txBody>
      </p:sp>
      <p:sp>
        <p:nvSpPr>
          <p:cNvPr id="426810864" name="TextBox 10"/>
          <p:cNvSpPr txBox="1"/>
          <p:nvPr/>
        </p:nvSpPr>
        <p:spPr bwMode="auto">
          <a:xfrm>
            <a:off x="877824" y="3017519"/>
            <a:ext cx="4443984" cy="402336"/>
          </a:xfrm>
          <a:prstGeom prst="rect">
            <a:avLst/>
          </a:prstGeom>
          <a:noFill/>
        </p:spPr>
        <p:txBody>
          <a:bodyPr wrap="square" lIns="36576" tIns="0" rIns="36576" bIns="0" anchor="t">
            <a:spAutoFit/>
          </a:bodyPr>
          <a:lstStyle/>
          <a:p>
            <a:pPr algn="l">
              <a:defRPr sz="1500" b="1">
                <a:solidFill>
                  <a:srgbClr val="1D2730"/>
                </a:solidFill>
                <a:latin typeface="Noto Sans"/>
              </a:defRPr>
            </a:pPr>
            <a:r>
              <a:rPr/>
              <a:t>of 20,000 draws contained ≥1 reversed pair</a:t>
            </a:r>
            <a:endParaRPr/>
          </a:p>
        </p:txBody>
      </p:sp>
      <p:sp>
        <p:nvSpPr>
          <p:cNvPr id="137565880" name="Rounded Rectangle 11"/>
          <p:cNvSpPr/>
          <p:nvPr/>
        </p:nvSpPr>
        <p:spPr bwMode="auto">
          <a:xfrm>
            <a:off x="859536" y="3712463"/>
            <a:ext cx="2139696" cy="134416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4507548" name="Rectangle 12"/>
          <p:cNvSpPr/>
          <p:nvPr/>
        </p:nvSpPr>
        <p:spPr bwMode="auto">
          <a:xfrm>
            <a:off x="859536" y="3712463"/>
            <a:ext cx="64008" cy="1344168"/>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70850506" name="TextBox 13"/>
          <p:cNvSpPr txBox="1"/>
          <p:nvPr/>
        </p:nvSpPr>
        <p:spPr bwMode="auto">
          <a:xfrm>
            <a:off x="1060704" y="3858768"/>
            <a:ext cx="1792224" cy="429768"/>
          </a:xfrm>
          <a:prstGeom prst="rect">
            <a:avLst/>
          </a:prstGeom>
          <a:noFill/>
        </p:spPr>
        <p:txBody>
          <a:bodyPr wrap="square" lIns="36576" tIns="0" rIns="36576" bIns="0" anchor="t">
            <a:spAutoFit/>
          </a:bodyPr>
          <a:lstStyle/>
          <a:p>
            <a:pPr algn="l">
              <a:defRPr sz="2400" b="1">
                <a:solidFill>
                  <a:srgbClr val="194874"/>
                </a:solidFill>
                <a:latin typeface="Noto Sans"/>
              </a:defRPr>
            </a:pPr>
            <a:r>
              <a:rPr/>
              <a:t>0.867</a:t>
            </a:r>
            <a:endParaRPr/>
          </a:p>
        </p:txBody>
      </p:sp>
      <p:sp>
        <p:nvSpPr>
          <p:cNvPr id="1225158974" name="TextBox 14"/>
          <p:cNvSpPr txBox="1"/>
          <p:nvPr/>
        </p:nvSpPr>
        <p:spPr bwMode="auto">
          <a:xfrm>
            <a:off x="1060704" y="4370831"/>
            <a:ext cx="1792224" cy="594360"/>
          </a:xfrm>
          <a:prstGeom prst="rect">
            <a:avLst/>
          </a:prstGeom>
          <a:noFill/>
        </p:spPr>
        <p:txBody>
          <a:bodyPr wrap="square" lIns="36576" tIns="0" rIns="36576" bIns="0" anchor="t">
            <a:spAutoFit/>
          </a:bodyPr>
          <a:lstStyle/>
          <a:p>
            <a:pPr algn="l">
              <a:defRPr sz="1050" b="0">
                <a:solidFill>
                  <a:srgbClr val="566572"/>
                </a:solidFill>
                <a:latin typeface="Noto Sans"/>
              </a:defRPr>
            </a:pPr>
            <a:r>
              <a:rPr/>
              <a:t>median Kendall agreement</a:t>
            </a:r>
            <a:endParaRPr/>
          </a:p>
        </p:txBody>
      </p:sp>
      <p:sp>
        <p:nvSpPr>
          <p:cNvPr id="511691451" name="Rounded Rectangle 15"/>
          <p:cNvSpPr/>
          <p:nvPr/>
        </p:nvSpPr>
        <p:spPr bwMode="auto">
          <a:xfrm>
            <a:off x="3227832" y="3712463"/>
            <a:ext cx="2139696" cy="134416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337340" name="Rectangle 16"/>
          <p:cNvSpPr/>
          <p:nvPr/>
        </p:nvSpPr>
        <p:spPr bwMode="auto">
          <a:xfrm>
            <a:off x="3227832" y="3712463"/>
            <a:ext cx="64008" cy="1344168"/>
          </a:xfrm>
          <a:prstGeom prst="rect">
            <a:avLst/>
          </a:prstGeom>
          <a:solidFill>
            <a:srgbClr val="B1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74093616" name="TextBox 17"/>
          <p:cNvSpPr txBox="1"/>
          <p:nvPr/>
        </p:nvSpPr>
        <p:spPr bwMode="auto">
          <a:xfrm>
            <a:off x="3429000" y="3858768"/>
            <a:ext cx="1792224" cy="429768"/>
          </a:xfrm>
          <a:prstGeom prst="rect">
            <a:avLst/>
          </a:prstGeom>
          <a:noFill/>
        </p:spPr>
        <p:txBody>
          <a:bodyPr wrap="square" lIns="36576" tIns="0" rIns="36576" bIns="0" anchor="t">
            <a:spAutoFit/>
          </a:bodyPr>
          <a:lstStyle/>
          <a:p>
            <a:pPr algn="l">
              <a:defRPr sz="2400" b="1">
                <a:solidFill>
                  <a:srgbClr val="B13A3A"/>
                </a:solidFill>
                <a:latin typeface="Noto Sans"/>
              </a:defRPr>
            </a:pPr>
            <a:r>
              <a:rPr/>
              <a:t>47.9%</a:t>
            </a:r>
            <a:endParaRPr/>
          </a:p>
        </p:txBody>
      </p:sp>
      <p:sp>
        <p:nvSpPr>
          <p:cNvPr id="1250214778" name="TextBox 18"/>
          <p:cNvSpPr txBox="1"/>
          <p:nvPr/>
        </p:nvSpPr>
        <p:spPr bwMode="auto">
          <a:xfrm>
            <a:off x="3429000" y="4370831"/>
            <a:ext cx="1792224" cy="594360"/>
          </a:xfrm>
          <a:prstGeom prst="rect">
            <a:avLst/>
          </a:prstGeom>
          <a:noFill/>
        </p:spPr>
        <p:txBody>
          <a:bodyPr wrap="square" lIns="36576" tIns="0" rIns="36576" bIns="0" anchor="t">
            <a:spAutoFit/>
          </a:bodyPr>
          <a:lstStyle/>
          <a:p>
            <a:pPr algn="l">
              <a:defRPr sz="1050" b="0">
                <a:solidFill>
                  <a:srgbClr val="566572"/>
                </a:solidFill>
                <a:latin typeface="Noto Sans"/>
              </a:defRPr>
            </a:pPr>
            <a:r>
              <a:rPr/>
              <a:t>largest exact pair reversal</a:t>
            </a:r>
            <a:endParaRPr/>
          </a:p>
        </p:txBody>
      </p:sp>
      <p:sp>
        <p:nvSpPr>
          <p:cNvPr id="2001289860" name="TextBox 19"/>
          <p:cNvSpPr txBox="1"/>
          <p:nvPr/>
        </p:nvSpPr>
        <p:spPr bwMode="auto">
          <a:xfrm>
            <a:off x="896112" y="5257800"/>
            <a:ext cx="4480560" cy="256032"/>
          </a:xfrm>
          <a:prstGeom prst="rect">
            <a:avLst/>
          </a:prstGeom>
          <a:noFill/>
        </p:spPr>
        <p:txBody>
          <a:bodyPr wrap="square" lIns="36576" tIns="0" rIns="36576" bIns="0" anchor="t">
            <a:spAutoFit/>
          </a:bodyPr>
          <a:lstStyle/>
          <a:p>
            <a:pPr algn="l">
              <a:defRPr sz="1000" b="0">
                <a:solidFill>
                  <a:srgbClr val="566572"/>
                </a:solidFill>
                <a:latin typeface="Noto Sans"/>
              </a:defRPr>
            </a:pPr>
            <a:r>
              <a:rPr/>
              <a:t>Closest high-risk pair: CC121144 vs CC720941</a:t>
            </a:r>
            <a:endParaRPr/>
          </a:p>
        </p:txBody>
      </p:sp>
      <p:sp>
        <p:nvSpPr>
          <p:cNvPr id="430954146" name="Rounded Rectangle 20"/>
          <p:cNvSpPr/>
          <p:nvPr/>
        </p:nvSpPr>
        <p:spPr bwMode="auto">
          <a:xfrm>
            <a:off x="6236208" y="1389888"/>
            <a:ext cx="5376672" cy="4370832"/>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0259442" name="Rounded Rectangle 21"/>
          <p:cNvSpPr/>
          <p:nvPr/>
        </p:nvSpPr>
        <p:spPr bwMode="auto">
          <a:xfrm>
            <a:off x="6510528" y="1664208"/>
            <a:ext cx="1078992" cy="310896"/>
          </a:xfrm>
          <a:prstGeom prst="roundRect">
            <a:avLst>
              <a:gd name="adj" fmla="val 16667"/>
            </a:avLst>
          </a:prstGeom>
          <a:solidFill>
            <a:srgbClr val="E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00009259" name="TextBox 22"/>
          <p:cNvSpPr txBox="1"/>
          <p:nvPr/>
        </p:nvSpPr>
        <p:spPr bwMode="auto">
          <a:xfrm>
            <a:off x="6565392" y="1746504"/>
            <a:ext cx="969264" cy="146304"/>
          </a:xfrm>
          <a:prstGeom prst="rect">
            <a:avLst/>
          </a:prstGeom>
          <a:noFill/>
        </p:spPr>
        <p:txBody>
          <a:bodyPr wrap="square" lIns="36576" tIns="0" rIns="36576" bIns="0" anchor="t">
            <a:spAutoFit/>
          </a:bodyPr>
          <a:lstStyle/>
          <a:p>
            <a:pPr algn="ctr">
              <a:defRPr sz="850" b="1">
                <a:solidFill>
                  <a:srgbClr val="1B8B7E"/>
                </a:solidFill>
                <a:latin typeface="Noto Sans"/>
              </a:defRPr>
            </a:pPr>
            <a:r>
              <a:rPr/>
              <a:t>RIGHT M1</a:t>
            </a:r>
            <a:endParaRPr/>
          </a:p>
        </p:txBody>
      </p:sp>
      <p:sp>
        <p:nvSpPr>
          <p:cNvPr id="197252679" name="TextBox 23"/>
          <p:cNvSpPr txBox="1"/>
          <p:nvPr/>
        </p:nvSpPr>
        <p:spPr bwMode="auto">
          <a:xfrm>
            <a:off x="6510528" y="2267712"/>
            <a:ext cx="2560320" cy="667512"/>
          </a:xfrm>
          <a:prstGeom prst="rect">
            <a:avLst/>
          </a:prstGeom>
          <a:noFill/>
        </p:spPr>
        <p:txBody>
          <a:bodyPr wrap="square" lIns="36576" tIns="0" rIns="36576" bIns="0" anchor="t">
            <a:spAutoFit/>
          </a:bodyPr>
          <a:lstStyle/>
          <a:p>
            <a:pPr algn="l">
              <a:defRPr sz="4000" b="1">
                <a:solidFill>
                  <a:srgbClr val="C25B23"/>
                </a:solidFill>
                <a:latin typeface="Noto Sans"/>
              </a:defRPr>
            </a:pPr>
            <a:r>
              <a:rPr/>
              <a:t>88.5%</a:t>
            </a:r>
            <a:endParaRPr/>
          </a:p>
        </p:txBody>
      </p:sp>
      <p:sp>
        <p:nvSpPr>
          <p:cNvPr id="56519245" name="TextBox 24"/>
          <p:cNvSpPr txBox="1"/>
          <p:nvPr/>
        </p:nvSpPr>
        <p:spPr bwMode="auto">
          <a:xfrm>
            <a:off x="6528816" y="3017519"/>
            <a:ext cx="4425696" cy="402336"/>
          </a:xfrm>
          <a:prstGeom prst="rect">
            <a:avLst/>
          </a:prstGeom>
          <a:noFill/>
        </p:spPr>
        <p:txBody>
          <a:bodyPr wrap="square" lIns="36576" tIns="0" rIns="36576" bIns="0" anchor="t">
            <a:spAutoFit/>
          </a:bodyPr>
          <a:lstStyle/>
          <a:p>
            <a:pPr algn="l">
              <a:defRPr sz="1500" b="1">
                <a:solidFill>
                  <a:srgbClr val="1D2730"/>
                </a:solidFill>
                <a:latin typeface="Noto Sans"/>
              </a:defRPr>
            </a:pPr>
            <a:r>
              <a:rPr/>
              <a:t>of 20,000 draws contained ≥1 reversed pair</a:t>
            </a:r>
            <a:endParaRPr/>
          </a:p>
        </p:txBody>
      </p:sp>
      <p:sp>
        <p:nvSpPr>
          <p:cNvPr id="1705150632" name="Rounded Rectangle 25"/>
          <p:cNvSpPr/>
          <p:nvPr/>
        </p:nvSpPr>
        <p:spPr bwMode="auto">
          <a:xfrm>
            <a:off x="6510528" y="3712463"/>
            <a:ext cx="2121408" cy="134416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19243227" name="Rectangle 26"/>
          <p:cNvSpPr/>
          <p:nvPr/>
        </p:nvSpPr>
        <p:spPr bwMode="auto">
          <a:xfrm>
            <a:off x="6510528" y="3712463"/>
            <a:ext cx="64008" cy="1344168"/>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02810809" name="TextBox 27"/>
          <p:cNvSpPr txBox="1"/>
          <p:nvPr/>
        </p:nvSpPr>
        <p:spPr bwMode="auto">
          <a:xfrm>
            <a:off x="6711696" y="3858768"/>
            <a:ext cx="1773936" cy="429768"/>
          </a:xfrm>
          <a:prstGeom prst="rect">
            <a:avLst/>
          </a:prstGeom>
          <a:noFill/>
        </p:spPr>
        <p:txBody>
          <a:bodyPr wrap="square" lIns="36576" tIns="0" rIns="36576" bIns="0" anchor="t">
            <a:spAutoFit/>
          </a:bodyPr>
          <a:lstStyle/>
          <a:p>
            <a:pPr algn="l">
              <a:defRPr sz="2400" b="1">
                <a:solidFill>
                  <a:srgbClr val="1B8B7E"/>
                </a:solidFill>
                <a:latin typeface="Noto Sans"/>
              </a:defRPr>
            </a:pPr>
            <a:r>
              <a:rPr/>
              <a:t>0.911</a:t>
            </a:r>
            <a:endParaRPr/>
          </a:p>
        </p:txBody>
      </p:sp>
      <p:sp>
        <p:nvSpPr>
          <p:cNvPr id="552045028" name="TextBox 28"/>
          <p:cNvSpPr txBox="1"/>
          <p:nvPr/>
        </p:nvSpPr>
        <p:spPr bwMode="auto">
          <a:xfrm>
            <a:off x="6711696" y="4370831"/>
            <a:ext cx="1773936" cy="594360"/>
          </a:xfrm>
          <a:prstGeom prst="rect">
            <a:avLst/>
          </a:prstGeom>
          <a:noFill/>
        </p:spPr>
        <p:txBody>
          <a:bodyPr wrap="square" lIns="36576" tIns="0" rIns="36576" bIns="0" anchor="t">
            <a:spAutoFit/>
          </a:bodyPr>
          <a:lstStyle/>
          <a:p>
            <a:pPr algn="l">
              <a:defRPr sz="1050" b="0">
                <a:solidFill>
                  <a:srgbClr val="566572"/>
                </a:solidFill>
                <a:latin typeface="Noto Sans"/>
              </a:defRPr>
            </a:pPr>
            <a:r>
              <a:rPr/>
              <a:t>median Kendall agreement</a:t>
            </a:r>
            <a:endParaRPr/>
          </a:p>
        </p:txBody>
      </p:sp>
      <p:sp>
        <p:nvSpPr>
          <p:cNvPr id="1950624539" name="Rounded Rectangle 29"/>
          <p:cNvSpPr/>
          <p:nvPr/>
        </p:nvSpPr>
        <p:spPr bwMode="auto">
          <a:xfrm>
            <a:off x="8860536" y="3712463"/>
            <a:ext cx="2121408" cy="134416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59217067" name="Rectangle 30"/>
          <p:cNvSpPr/>
          <p:nvPr/>
        </p:nvSpPr>
        <p:spPr bwMode="auto">
          <a:xfrm>
            <a:off x="8860536" y="3712463"/>
            <a:ext cx="64008" cy="1344168"/>
          </a:xfrm>
          <a:prstGeom prst="rect">
            <a:avLst/>
          </a:prstGeom>
          <a:solidFill>
            <a:srgbClr val="B1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02351344" name="TextBox 31"/>
          <p:cNvSpPr txBox="1"/>
          <p:nvPr/>
        </p:nvSpPr>
        <p:spPr bwMode="auto">
          <a:xfrm>
            <a:off x="9061704" y="3858768"/>
            <a:ext cx="1773936" cy="429768"/>
          </a:xfrm>
          <a:prstGeom prst="rect">
            <a:avLst/>
          </a:prstGeom>
          <a:noFill/>
        </p:spPr>
        <p:txBody>
          <a:bodyPr wrap="square" lIns="36576" tIns="0" rIns="36576" bIns="0" anchor="t">
            <a:spAutoFit/>
          </a:bodyPr>
          <a:lstStyle/>
          <a:p>
            <a:pPr algn="l">
              <a:defRPr sz="2400" b="1">
                <a:solidFill>
                  <a:srgbClr val="B13A3A"/>
                </a:solidFill>
                <a:latin typeface="Noto Sans"/>
              </a:defRPr>
            </a:pPr>
            <a:r>
              <a:rPr/>
              <a:t>44.7%</a:t>
            </a:r>
            <a:endParaRPr/>
          </a:p>
        </p:txBody>
      </p:sp>
      <p:sp>
        <p:nvSpPr>
          <p:cNvPr id="1628115433" name="TextBox 32"/>
          <p:cNvSpPr txBox="1"/>
          <p:nvPr/>
        </p:nvSpPr>
        <p:spPr bwMode="auto">
          <a:xfrm>
            <a:off x="9061704" y="4370831"/>
            <a:ext cx="1773936" cy="594360"/>
          </a:xfrm>
          <a:prstGeom prst="rect">
            <a:avLst/>
          </a:prstGeom>
          <a:noFill/>
        </p:spPr>
        <p:txBody>
          <a:bodyPr wrap="square" lIns="36576" tIns="0" rIns="36576" bIns="0" anchor="t">
            <a:spAutoFit/>
          </a:bodyPr>
          <a:lstStyle/>
          <a:p>
            <a:pPr algn="l">
              <a:defRPr sz="1050" b="0">
                <a:solidFill>
                  <a:srgbClr val="566572"/>
                </a:solidFill>
                <a:latin typeface="Noto Sans"/>
              </a:defRPr>
            </a:pPr>
            <a:r>
              <a:rPr/>
              <a:t>largest exact pair reversal</a:t>
            </a:r>
            <a:endParaRPr/>
          </a:p>
        </p:txBody>
      </p:sp>
      <p:sp>
        <p:nvSpPr>
          <p:cNvPr id="972610252" name="TextBox 33"/>
          <p:cNvSpPr txBox="1"/>
          <p:nvPr/>
        </p:nvSpPr>
        <p:spPr bwMode="auto">
          <a:xfrm>
            <a:off x="6547104" y="5257800"/>
            <a:ext cx="4389120" cy="256032"/>
          </a:xfrm>
          <a:prstGeom prst="rect">
            <a:avLst/>
          </a:prstGeom>
          <a:noFill/>
        </p:spPr>
        <p:txBody>
          <a:bodyPr wrap="square" lIns="36576" tIns="0" rIns="36576" bIns="0" anchor="t">
            <a:spAutoFit/>
          </a:bodyPr>
          <a:lstStyle/>
          <a:p>
            <a:pPr algn="l">
              <a:defRPr sz="1000" b="0">
                <a:solidFill>
                  <a:srgbClr val="566572"/>
                </a:solidFill>
                <a:latin typeface="Noto Sans"/>
              </a:defRPr>
            </a:pPr>
            <a:r>
              <a:rPr/>
              <a:t>Closest high-risk pair: CC610631 vs CC310407</a:t>
            </a:r>
            <a:endParaRPr/>
          </a:p>
        </p:txBody>
      </p:sp>
      <p:sp>
        <p:nvSpPr>
          <p:cNvPr id="666450021" name="Rounded Rectangle 34"/>
          <p:cNvSpPr/>
          <p:nvPr/>
        </p:nvSpPr>
        <p:spPr bwMode="auto">
          <a:xfrm>
            <a:off x="585216" y="5971032"/>
            <a:ext cx="11027664" cy="411480"/>
          </a:xfrm>
          <a:prstGeom prst="roundRect">
            <a:avLst>
              <a:gd name="adj" fmla="val 16667"/>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09930931" name="TextBox 35"/>
          <p:cNvSpPr txBox="1"/>
          <p:nvPr/>
        </p:nvSpPr>
        <p:spPr bwMode="auto">
          <a:xfrm>
            <a:off x="795528" y="6080760"/>
            <a:ext cx="10607040" cy="182880"/>
          </a:xfrm>
          <a:prstGeom prst="rect">
            <a:avLst/>
          </a:prstGeom>
          <a:noFill/>
        </p:spPr>
        <p:txBody>
          <a:bodyPr wrap="square" lIns="36576" tIns="0" rIns="36576" bIns="0" anchor="t">
            <a:spAutoFit/>
          </a:bodyPr>
          <a:lstStyle/>
          <a:p>
            <a:pPr algn="ctr">
              <a:defRPr sz="1200" b="1">
                <a:solidFill>
                  <a:srgbClr val="FFFFFF"/>
                </a:solidFill>
                <a:latin typeface="Noto Sans"/>
              </a:defRPr>
            </a:pPr>
            <a:r>
              <a:rPr/>
              <a:t>Global ordering remains fairly concordant, but a one-mesh ranking is fragile near ties.</a:t>
            </a:r>
            <a:endParaRPr/>
          </a:p>
        </p:txBody>
      </p:sp>
      <p:sp>
        <p:nvSpPr>
          <p:cNvPr id="242619425" name="TextBox 36"/>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566572"/>
                </a:solidFill>
                <a:latin typeface="Noto Sans"/>
              </a:defRPr>
            </a:pPr>
            <a:r>
              <a:rPr/>
              <a:t>One remesh repeat selected independently for each participant per draw</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bg>
      <p:bgPr shadeToTitle="0">
        <a:solidFill>
          <a:srgbClr val="F6F8FA"/>
        </a:solidFill>
      </p:bgPr>
    </p:bg>
    <p:spTree>
      <p:nvGrpSpPr>
        <p:cNvPr id="1" name=""/>
        <p:cNvGrpSpPr/>
        <p:nvPr/>
      </p:nvGrpSpPr>
      <p:grpSpPr bwMode="auto">
        <a:xfrm>
          <a:off x="0" y="0"/>
          <a:ext cx="0" cy="0"/>
          <a:chOff x="0" y="0"/>
          <a:chExt cx="0" cy="0"/>
        </a:xfrm>
      </p:grpSpPr>
      <p:sp>
        <p:nvSpPr>
          <p:cNvPr id="2021836660"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MECHANISTIC EVIDENCE</a:t>
            </a:r>
            <a:endParaRPr/>
          </a:p>
        </p:txBody>
      </p:sp>
      <p:sp>
        <p:nvSpPr>
          <p:cNvPr id="1973425905"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Remeshing changes the numerical head model—not only the final scalar</a:t>
            </a:r>
            <a:endParaRPr/>
          </a:p>
        </p:txBody>
      </p:sp>
      <p:cxnSp>
        <p:nvCxnSpPr>
          <p:cNvPr id="668546314"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1057310232"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09</a:t>
            </a:r>
            <a:endParaRPr/>
          </a:p>
        </p:txBody>
      </p:sp>
      <p:sp>
        <p:nvSpPr>
          <p:cNvPr id="516403310" name="Rounded Rectangle 6"/>
          <p:cNvSpPr/>
          <p:nvPr/>
        </p:nvSpPr>
        <p:spPr bwMode="auto">
          <a:xfrm>
            <a:off x="530352" y="1280160"/>
            <a:ext cx="7818120" cy="495604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715947501" name="Picture 7" descr="06_example_subject_tissue_composition.png"/>
          <p:cNvPicPr>
            <a:picLocks noChangeAspect="1"/>
          </p:cNvPicPr>
          <p:nvPr/>
        </p:nvPicPr>
        <p:blipFill rotWithShape="1">
          <a:blip r:embed="rId3"/>
          <a:stretch/>
        </p:blipFill>
        <p:spPr bwMode="auto">
          <a:xfrm>
            <a:off x="667512" y="2313101"/>
            <a:ext cx="7543800" cy="2780436"/>
          </a:xfrm>
          <a:prstGeom prst="rect">
            <a:avLst/>
          </a:prstGeom>
        </p:spPr>
      </p:pic>
      <p:sp>
        <p:nvSpPr>
          <p:cNvPr id="1848891600" name="TextBox 8"/>
          <p:cNvSpPr txBox="1"/>
          <p:nvPr/>
        </p:nvSpPr>
        <p:spPr bwMode="auto">
          <a:xfrm>
            <a:off x="786384" y="5870448"/>
            <a:ext cx="7296912" cy="201168"/>
          </a:xfrm>
          <a:prstGeom prst="rect">
            <a:avLst/>
          </a:prstGeom>
          <a:noFill/>
        </p:spPr>
        <p:txBody>
          <a:bodyPr wrap="square" lIns="36576" tIns="0" rIns="36576" bIns="0" anchor="t">
            <a:spAutoFit/>
          </a:bodyPr>
          <a:lstStyle/>
          <a:p>
            <a:pPr algn="ctr">
              <a:defRPr sz="850" b="0">
                <a:solidFill>
                  <a:srgbClr val="566572"/>
                </a:solidFill>
                <a:latin typeface="Noto Sans"/>
              </a:defRPr>
            </a:pPr>
            <a:r>
              <a:rPr/>
              <a:t>Example: CC320616, left-hippocampus remesh arm</a:t>
            </a:r>
            <a:endParaRPr/>
          </a:p>
        </p:txBody>
      </p:sp>
      <p:sp>
        <p:nvSpPr>
          <p:cNvPr id="862333678" name="Rounded Rectangle 9"/>
          <p:cNvSpPr/>
          <p:nvPr/>
        </p:nvSpPr>
        <p:spPr bwMode="auto">
          <a:xfrm>
            <a:off x="8586216" y="1444752"/>
            <a:ext cx="3017519" cy="1399032"/>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62424916" name="Rectangle 10"/>
          <p:cNvSpPr/>
          <p:nvPr/>
        </p:nvSpPr>
        <p:spPr bwMode="auto">
          <a:xfrm>
            <a:off x="8586216" y="1444752"/>
            <a:ext cx="64008" cy="1399032"/>
          </a:xfrm>
          <a:prstGeom prst="rect">
            <a:avLst/>
          </a:prstGeom>
          <a:solidFill>
            <a:srgbClr val="25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57194739" name="TextBox 11"/>
          <p:cNvSpPr txBox="1"/>
          <p:nvPr/>
        </p:nvSpPr>
        <p:spPr bwMode="auto">
          <a:xfrm>
            <a:off x="8787384" y="1591056"/>
            <a:ext cx="2670048" cy="429768"/>
          </a:xfrm>
          <a:prstGeom prst="rect">
            <a:avLst/>
          </a:prstGeom>
          <a:noFill/>
        </p:spPr>
        <p:txBody>
          <a:bodyPr wrap="square" lIns="36576" tIns="0" rIns="36576" bIns="0" anchor="t">
            <a:spAutoFit/>
          </a:bodyPr>
          <a:lstStyle/>
          <a:p>
            <a:pPr algn="l">
              <a:defRPr sz="2600" b="1">
                <a:solidFill>
                  <a:srgbClr val="256FA6"/>
                </a:solidFill>
                <a:latin typeface="Noto Sans"/>
              </a:defRPr>
            </a:pPr>
            <a:r>
              <a:rPr/>
              <a:t>7,369</a:t>
            </a:r>
            <a:endParaRPr/>
          </a:p>
        </p:txBody>
      </p:sp>
      <p:sp>
        <p:nvSpPr>
          <p:cNvPr id="1510767809" name="TextBox 12"/>
          <p:cNvSpPr txBox="1"/>
          <p:nvPr/>
        </p:nvSpPr>
        <p:spPr bwMode="auto">
          <a:xfrm>
            <a:off x="8787384" y="2103120"/>
            <a:ext cx="2670048" cy="649224"/>
          </a:xfrm>
          <a:prstGeom prst="rect">
            <a:avLst/>
          </a:prstGeom>
          <a:noFill/>
        </p:spPr>
        <p:txBody>
          <a:bodyPr wrap="square" lIns="36576" tIns="0" rIns="36576" bIns="0" anchor="t">
            <a:spAutoFit/>
          </a:bodyPr>
          <a:lstStyle/>
          <a:p>
            <a:pPr algn="l">
              <a:defRPr sz="1050" b="0">
                <a:solidFill>
                  <a:srgbClr val="566572"/>
                </a:solidFill>
                <a:latin typeface="Noto Sans"/>
              </a:defRPr>
            </a:pPr>
            <a:r>
              <a:rPr/>
              <a:t>mean within-participant SD of total tetrahedral element count • hippocampus</a:t>
            </a:r>
            <a:endParaRPr/>
          </a:p>
        </p:txBody>
      </p:sp>
      <p:sp>
        <p:nvSpPr>
          <p:cNvPr id="1512537314" name="Rounded Rectangle 13"/>
          <p:cNvSpPr/>
          <p:nvPr/>
        </p:nvSpPr>
        <p:spPr bwMode="auto">
          <a:xfrm>
            <a:off x="8586216" y="3063240"/>
            <a:ext cx="3017519" cy="1399032"/>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8459827" name="Rectangle 14"/>
          <p:cNvSpPr/>
          <p:nvPr/>
        </p:nvSpPr>
        <p:spPr bwMode="auto">
          <a:xfrm>
            <a:off x="8586216" y="3063240"/>
            <a:ext cx="64008" cy="1399032"/>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6660729" name="TextBox 15"/>
          <p:cNvSpPr txBox="1"/>
          <p:nvPr/>
        </p:nvSpPr>
        <p:spPr bwMode="auto">
          <a:xfrm>
            <a:off x="8787384" y="3209544"/>
            <a:ext cx="2670048" cy="429768"/>
          </a:xfrm>
          <a:prstGeom prst="rect">
            <a:avLst/>
          </a:prstGeom>
          <a:noFill/>
        </p:spPr>
        <p:txBody>
          <a:bodyPr wrap="square" lIns="36576" tIns="0" rIns="36576" bIns="0" anchor="t">
            <a:spAutoFit/>
          </a:bodyPr>
          <a:lstStyle/>
          <a:p>
            <a:pPr algn="l">
              <a:defRPr sz="2600" b="1">
                <a:solidFill>
                  <a:srgbClr val="1B8B7E"/>
                </a:solidFill>
                <a:latin typeface="Noto Sans"/>
              </a:defRPr>
            </a:pPr>
            <a:r>
              <a:rPr/>
              <a:t>7,704</a:t>
            </a:r>
            <a:endParaRPr/>
          </a:p>
        </p:txBody>
      </p:sp>
      <p:sp>
        <p:nvSpPr>
          <p:cNvPr id="1244824841" name="TextBox 16"/>
          <p:cNvSpPr txBox="1"/>
          <p:nvPr/>
        </p:nvSpPr>
        <p:spPr bwMode="auto">
          <a:xfrm>
            <a:off x="8787384" y="3721608"/>
            <a:ext cx="2670048" cy="649224"/>
          </a:xfrm>
          <a:prstGeom prst="rect">
            <a:avLst/>
          </a:prstGeom>
          <a:noFill/>
        </p:spPr>
        <p:txBody>
          <a:bodyPr wrap="square" lIns="36576" tIns="0" rIns="36576" bIns="0" anchor="t">
            <a:spAutoFit/>
          </a:bodyPr>
          <a:lstStyle/>
          <a:p>
            <a:pPr algn="l">
              <a:defRPr sz="1050" b="0">
                <a:solidFill>
                  <a:srgbClr val="566572"/>
                </a:solidFill>
                <a:latin typeface="Noto Sans"/>
              </a:defRPr>
            </a:pPr>
            <a:r>
              <a:rPr/>
              <a:t>mean within-participant SD of total tetrahedral element count • M1</a:t>
            </a:r>
            <a:endParaRPr/>
          </a:p>
        </p:txBody>
      </p:sp>
      <p:sp>
        <p:nvSpPr>
          <p:cNvPr id="759688088" name="Rounded Rectangle 17"/>
          <p:cNvSpPr/>
          <p:nvPr/>
        </p:nvSpPr>
        <p:spPr bwMode="auto">
          <a:xfrm>
            <a:off x="8586216" y="4690872"/>
            <a:ext cx="3017519" cy="1325880"/>
          </a:xfrm>
          <a:prstGeom prst="roundRect">
            <a:avLst>
              <a:gd name="adj" fmla="val 16667"/>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20837691" name="TextBox 18"/>
          <p:cNvSpPr txBox="1"/>
          <p:nvPr/>
        </p:nvSpPr>
        <p:spPr bwMode="auto">
          <a:xfrm>
            <a:off x="8842248" y="4818888"/>
            <a:ext cx="2496312" cy="237744"/>
          </a:xfrm>
          <a:prstGeom prst="rect">
            <a:avLst/>
          </a:prstGeom>
          <a:noFill/>
        </p:spPr>
        <p:txBody>
          <a:bodyPr wrap="square" lIns="36576" tIns="0" rIns="36576" bIns="0" anchor="t">
            <a:spAutoFit/>
          </a:bodyPr>
          <a:lstStyle/>
          <a:p>
            <a:pPr algn="l">
              <a:defRPr sz="1100" b="1">
                <a:solidFill>
                  <a:srgbClr val="C25B23"/>
                </a:solidFill>
                <a:latin typeface="Noto Sans"/>
              </a:defRPr>
            </a:pPr>
            <a:r>
              <a:rPr/>
              <a:t>Interpret carefully</a:t>
            </a:r>
            <a:endParaRPr/>
          </a:p>
        </p:txBody>
      </p:sp>
      <p:sp>
        <p:nvSpPr>
          <p:cNvPr id="345867524" name="TextBox 19"/>
          <p:cNvSpPr txBox="1"/>
          <p:nvPr/>
        </p:nvSpPr>
        <p:spPr bwMode="auto">
          <a:xfrm>
            <a:off x="8842248" y="5093536"/>
            <a:ext cx="2496312" cy="530352"/>
          </a:xfrm>
          <a:prstGeom prst="rect">
            <a:avLst/>
          </a:prstGeom>
          <a:noFill/>
        </p:spPr>
        <p:txBody>
          <a:bodyPr wrap="square" lIns="36576" tIns="0" rIns="36576" bIns="0" anchor="t">
            <a:spAutoFit/>
          </a:bodyPr>
          <a:lstStyle/>
          <a:p>
            <a:pPr algn="l">
              <a:defRPr sz="1200" b="0">
                <a:solidFill>
                  <a:srgbClr val="1D2730"/>
                </a:solidFill>
                <a:latin typeface="Noto Sans"/>
              </a:defRPr>
            </a:pPr>
            <a:r>
              <a:rPr/>
              <a:t>Element count and tissue fractions confirm different realizations; they do not identify the causal boundary change.</a:t>
            </a:r>
            <a:endParaRPr/>
          </a:p>
        </p:txBody>
      </p:sp>
      <p:sp>
        <p:nvSpPr>
          <p:cNvPr id="966476157" name="TextBox 20"/>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566572"/>
                </a:solidFill>
                <a:latin typeface="Noto Sans"/>
              </a:defRPr>
            </a:pPr>
            <a:r>
              <a:rPr/>
              <a:t>Tissue deviations are percentage points from each tissue's 40-repeat mean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8FA"/>
        </a:solidFill>
      </p:bgPr>
    </p:bg>
    <p:spTree>
      <p:nvGrpSpPr>
        <p:cNvPr id="1" name=""/>
        <p:cNvGrpSpPr/>
        <p:nvPr/>
      </p:nvGrpSpPr>
      <p:grpSpPr bwMode="auto">
        <a:xfrm>
          <a:off x="0" y="0"/>
          <a:ext cx="0" cy="0"/>
          <a:chOff x="0" y="0"/>
          <a:chExt cx="0" cy="0"/>
        </a:xfrm>
      </p:grpSpPr>
      <p:sp>
        <p:nvSpPr>
          <p:cNvPr id="1857770727"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MECHANISTIC EVIDENCE</a:t>
            </a:r>
            <a:endParaRPr/>
          </a:p>
        </p:txBody>
      </p:sp>
      <p:sp>
        <p:nvSpPr>
          <p:cNvPr id="321907013" name="TextBox 2"/>
          <p:cNvSpPr txBox="1"/>
          <p:nvPr/>
        </p:nvSpPr>
        <p:spPr bwMode="auto">
          <a:xfrm>
            <a:off x="502920" y="438912"/>
            <a:ext cx="11064239"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Remeshing changes the numerical head model—not only the final scalar</a:t>
            </a:r>
            <a:endParaRPr/>
          </a:p>
        </p:txBody>
      </p:sp>
      <p:cxnSp>
        <p:nvCxnSpPr>
          <p:cNvPr id="1848274207"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1219693095"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09</a:t>
            </a:r>
            <a:endParaRPr/>
          </a:p>
        </p:txBody>
      </p:sp>
      <p:sp>
        <p:nvSpPr>
          <p:cNvPr id="1186034765" name="Rounded Rectangle 6"/>
          <p:cNvSpPr/>
          <p:nvPr/>
        </p:nvSpPr>
        <p:spPr bwMode="auto">
          <a:xfrm flipH="0" flipV="0">
            <a:off x="1851372" y="1225294"/>
            <a:ext cx="8501887" cy="5394960"/>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76519867" name="Picture 7" descr="06_example_subject_tissue_composition.png"/>
          <p:cNvPicPr>
            <a:picLocks noChangeAspect="1"/>
          </p:cNvPicPr>
          <p:nvPr/>
        </p:nvPicPr>
        <p:blipFill rotWithShape="1">
          <a:blip r:embed="rId3"/>
          <a:stretch/>
        </p:blipFill>
        <p:spPr bwMode="auto">
          <a:xfrm flipH="0" flipV="0">
            <a:off x="1988532" y="2258235"/>
            <a:ext cx="8211886" cy="3026674"/>
          </a:xfrm>
          <a:prstGeom prst="rect">
            <a:avLst/>
          </a:prstGeom>
        </p:spPr>
      </p:pic>
      <p:sp>
        <p:nvSpPr>
          <p:cNvPr id="367081100" name="TextBox 8"/>
          <p:cNvSpPr txBox="1"/>
          <p:nvPr/>
        </p:nvSpPr>
        <p:spPr bwMode="auto">
          <a:xfrm>
            <a:off x="786384" y="5870448"/>
            <a:ext cx="7296912" cy="201168"/>
          </a:xfrm>
          <a:prstGeom prst="rect">
            <a:avLst/>
          </a:prstGeom>
          <a:noFill/>
        </p:spPr>
        <p:txBody>
          <a:bodyPr wrap="square" lIns="36576" tIns="0" rIns="36576" bIns="0" anchor="t">
            <a:spAutoFit/>
          </a:bodyPr>
          <a:lstStyle/>
          <a:p>
            <a:pPr algn="ctr">
              <a:defRPr sz="850" b="0">
                <a:solidFill>
                  <a:srgbClr val="566572"/>
                </a:solidFill>
                <a:latin typeface="Noto Sans"/>
              </a:defRPr>
            </a:pPr>
            <a:r>
              <a:rPr/>
              <a:t>Example: CC320616, left-hippocampus remesh arm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bg>
      <p:bgPr shadeToTitle="0">
        <a:solidFill>
          <a:srgbClr val="F6F8FA"/>
        </a:solidFill>
      </p:bgPr>
    </p:bg>
    <p:spTree>
      <p:nvGrpSpPr>
        <p:cNvPr id="1" name=""/>
        <p:cNvGrpSpPr/>
        <p:nvPr/>
      </p:nvGrpSpPr>
      <p:grpSpPr bwMode="auto">
        <a:xfrm>
          <a:off x="0" y="0"/>
          <a:ext cx="0" cy="0"/>
          <a:chOff x="0" y="0"/>
          <a:chExt cx="0" cy="0"/>
        </a:xfrm>
      </p:grpSpPr>
      <p:sp>
        <p:nvSpPr>
          <p:cNvPr id="1957576663"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VARIANCE ATTRIBUTION</a:t>
            </a:r>
            <a:endParaRPr/>
          </a:p>
        </p:txBody>
      </p:sp>
      <p:sp>
        <p:nvSpPr>
          <p:cNvPr id="966409182"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The fully nested case isolates between-mesh from within-mesh variation</a:t>
            </a:r>
            <a:endParaRPr/>
          </a:p>
        </p:txBody>
      </p:sp>
      <p:cxnSp>
        <p:nvCxnSpPr>
          <p:cNvPr id="125625291"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895302641"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10</a:t>
            </a:r>
            <a:endParaRPr/>
          </a:p>
        </p:txBody>
      </p:sp>
      <p:sp>
        <p:nvSpPr>
          <p:cNvPr id="163019456" name="Rounded Rectangle 6"/>
          <p:cNvSpPr/>
          <p:nvPr/>
        </p:nvSpPr>
        <p:spPr bwMode="auto">
          <a:xfrm>
            <a:off x="566928" y="1353312"/>
            <a:ext cx="6446520" cy="4526280"/>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63836423" name="TextBox 7"/>
          <p:cNvSpPr txBox="1"/>
          <p:nvPr/>
        </p:nvSpPr>
        <p:spPr bwMode="auto">
          <a:xfrm>
            <a:off x="868680" y="1664208"/>
            <a:ext cx="2560320" cy="292608"/>
          </a:xfrm>
          <a:prstGeom prst="rect">
            <a:avLst/>
          </a:prstGeom>
          <a:noFill/>
        </p:spPr>
        <p:txBody>
          <a:bodyPr wrap="square" lIns="36576" tIns="0" rIns="36576" bIns="0" anchor="t">
            <a:spAutoFit/>
          </a:bodyPr>
          <a:lstStyle/>
          <a:p>
            <a:pPr algn="l">
              <a:defRPr sz="1800" b="1">
                <a:solidFill>
                  <a:srgbClr val="194874"/>
                </a:solidFill>
                <a:latin typeface="Noto Sans"/>
              </a:defRPr>
            </a:pPr>
            <a:r>
              <a:rPr/>
              <a:t>40 independent meshes</a:t>
            </a:r>
            <a:endParaRPr/>
          </a:p>
        </p:txBody>
      </p:sp>
      <p:sp>
        <p:nvSpPr>
          <p:cNvPr id="478121845" name="TextBox 8"/>
          <p:cNvSpPr txBox="1"/>
          <p:nvPr/>
        </p:nvSpPr>
        <p:spPr bwMode="auto">
          <a:xfrm>
            <a:off x="3236976" y="1691640"/>
            <a:ext cx="3246120" cy="256032"/>
          </a:xfrm>
          <a:prstGeom prst="rect">
            <a:avLst/>
          </a:prstGeom>
          <a:noFill/>
        </p:spPr>
        <p:txBody>
          <a:bodyPr wrap="square" lIns="36576" tIns="0" rIns="36576" bIns="0" anchor="t">
            <a:spAutoFit/>
          </a:bodyPr>
          <a:lstStyle/>
          <a:p>
            <a:pPr algn="r">
              <a:defRPr sz="1300" b="0">
                <a:solidFill>
                  <a:srgbClr val="566572"/>
                </a:solidFill>
                <a:latin typeface="Noto Sans"/>
              </a:defRPr>
            </a:pPr>
            <a:r>
              <a:rPr/>
              <a:t>each reused for 40 complete solutions</a:t>
            </a:r>
            <a:endParaRPr/>
          </a:p>
        </p:txBody>
      </p:sp>
      <p:sp>
        <p:nvSpPr>
          <p:cNvPr id="232472160" name="TextBox 9"/>
          <p:cNvSpPr txBox="1"/>
          <p:nvPr/>
        </p:nvSpPr>
        <p:spPr bwMode="auto">
          <a:xfrm>
            <a:off x="877824" y="2313432"/>
            <a:ext cx="786384" cy="164592"/>
          </a:xfrm>
          <a:prstGeom prst="rect">
            <a:avLst/>
          </a:prstGeom>
          <a:noFill/>
        </p:spPr>
        <p:txBody>
          <a:bodyPr wrap="square" lIns="36576" tIns="0" rIns="36576" bIns="0" anchor="t">
            <a:spAutoFit/>
          </a:bodyPr>
          <a:lstStyle/>
          <a:p>
            <a:pPr algn="r">
              <a:defRPr sz="850" b="0">
                <a:solidFill>
                  <a:srgbClr val="566572"/>
                </a:solidFill>
                <a:latin typeface="Noto Sans"/>
              </a:defRPr>
            </a:pPr>
            <a:r>
              <a:rPr/>
              <a:t>mesh 01</a:t>
            </a:r>
            <a:endParaRPr/>
          </a:p>
        </p:txBody>
      </p:sp>
      <p:sp>
        <p:nvSpPr>
          <p:cNvPr id="1949271425" name="Oval 10"/>
          <p:cNvSpPr/>
          <p:nvPr/>
        </p:nvSpPr>
        <p:spPr bwMode="auto">
          <a:xfrm>
            <a:off x="182880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82266983" name="Oval 11"/>
          <p:cNvSpPr/>
          <p:nvPr/>
        </p:nvSpPr>
        <p:spPr bwMode="auto">
          <a:xfrm>
            <a:off x="224028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81581524" name="Oval 12"/>
          <p:cNvSpPr/>
          <p:nvPr/>
        </p:nvSpPr>
        <p:spPr bwMode="auto">
          <a:xfrm>
            <a:off x="265176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78605948" name="Oval 13"/>
          <p:cNvSpPr/>
          <p:nvPr/>
        </p:nvSpPr>
        <p:spPr bwMode="auto">
          <a:xfrm>
            <a:off x="306324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56991676" name="Oval 14"/>
          <p:cNvSpPr/>
          <p:nvPr/>
        </p:nvSpPr>
        <p:spPr bwMode="auto">
          <a:xfrm>
            <a:off x="347472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68859415" name="Oval 15"/>
          <p:cNvSpPr/>
          <p:nvPr/>
        </p:nvSpPr>
        <p:spPr bwMode="auto">
          <a:xfrm>
            <a:off x="388620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51064770" name="Oval 16"/>
          <p:cNvSpPr/>
          <p:nvPr/>
        </p:nvSpPr>
        <p:spPr bwMode="auto">
          <a:xfrm>
            <a:off x="429768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19461943" name="Oval 17"/>
          <p:cNvSpPr/>
          <p:nvPr/>
        </p:nvSpPr>
        <p:spPr bwMode="auto">
          <a:xfrm>
            <a:off x="470916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77554642" name="Oval 18"/>
          <p:cNvSpPr/>
          <p:nvPr/>
        </p:nvSpPr>
        <p:spPr bwMode="auto">
          <a:xfrm>
            <a:off x="512064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99516779" name="Oval 19"/>
          <p:cNvSpPr/>
          <p:nvPr/>
        </p:nvSpPr>
        <p:spPr bwMode="auto">
          <a:xfrm>
            <a:off x="553212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0830959" name="TextBox 20"/>
          <p:cNvSpPr txBox="1"/>
          <p:nvPr/>
        </p:nvSpPr>
        <p:spPr bwMode="auto">
          <a:xfrm>
            <a:off x="6062471" y="2231136"/>
            <a:ext cx="274320" cy="182880"/>
          </a:xfrm>
          <a:prstGeom prst="rect">
            <a:avLst/>
          </a:prstGeom>
          <a:noFill/>
        </p:spPr>
        <p:txBody>
          <a:bodyPr wrap="square" lIns="36576" tIns="0" rIns="36576" bIns="0" anchor="t">
            <a:spAutoFit/>
          </a:bodyPr>
          <a:lstStyle/>
          <a:p>
            <a:pPr algn="ctr">
              <a:defRPr sz="1500" b="0">
                <a:solidFill>
                  <a:srgbClr val="566572"/>
                </a:solidFill>
                <a:latin typeface="Noto Sans"/>
              </a:defRPr>
            </a:pPr>
            <a:r>
              <a:rPr/>
              <a:t>…</a:t>
            </a:r>
            <a:endParaRPr/>
          </a:p>
        </p:txBody>
      </p:sp>
      <p:sp>
        <p:nvSpPr>
          <p:cNvPr id="452502343" name="TextBox 21"/>
          <p:cNvSpPr txBox="1"/>
          <p:nvPr/>
        </p:nvSpPr>
        <p:spPr bwMode="auto">
          <a:xfrm>
            <a:off x="877824" y="2944368"/>
            <a:ext cx="786384" cy="164592"/>
          </a:xfrm>
          <a:prstGeom prst="rect">
            <a:avLst/>
          </a:prstGeom>
          <a:noFill/>
        </p:spPr>
        <p:txBody>
          <a:bodyPr wrap="square" lIns="36576" tIns="0" rIns="36576" bIns="0" anchor="t">
            <a:spAutoFit/>
          </a:bodyPr>
          <a:lstStyle/>
          <a:p>
            <a:pPr algn="r">
              <a:defRPr sz="850" b="0">
                <a:solidFill>
                  <a:srgbClr val="566572"/>
                </a:solidFill>
                <a:latin typeface="Noto Sans"/>
              </a:defRPr>
            </a:pPr>
            <a:r>
              <a:rPr/>
              <a:t>mesh 02</a:t>
            </a:r>
            <a:endParaRPr/>
          </a:p>
        </p:txBody>
      </p:sp>
      <p:sp>
        <p:nvSpPr>
          <p:cNvPr id="415280470" name="Oval 22"/>
          <p:cNvSpPr/>
          <p:nvPr/>
        </p:nvSpPr>
        <p:spPr bwMode="auto">
          <a:xfrm>
            <a:off x="182880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90496558" name="Oval 23"/>
          <p:cNvSpPr/>
          <p:nvPr/>
        </p:nvSpPr>
        <p:spPr bwMode="auto">
          <a:xfrm>
            <a:off x="224028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73147497" name="Oval 24"/>
          <p:cNvSpPr/>
          <p:nvPr/>
        </p:nvSpPr>
        <p:spPr bwMode="auto">
          <a:xfrm>
            <a:off x="265176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71029494" name="Oval 25"/>
          <p:cNvSpPr/>
          <p:nvPr/>
        </p:nvSpPr>
        <p:spPr bwMode="auto">
          <a:xfrm>
            <a:off x="306324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42440857" name="Oval 26"/>
          <p:cNvSpPr/>
          <p:nvPr/>
        </p:nvSpPr>
        <p:spPr bwMode="auto">
          <a:xfrm>
            <a:off x="347472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5387459" name="Oval 27"/>
          <p:cNvSpPr/>
          <p:nvPr/>
        </p:nvSpPr>
        <p:spPr bwMode="auto">
          <a:xfrm>
            <a:off x="388620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09689155" name="Oval 28"/>
          <p:cNvSpPr/>
          <p:nvPr/>
        </p:nvSpPr>
        <p:spPr bwMode="auto">
          <a:xfrm>
            <a:off x="429768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18961864" name="Oval 29"/>
          <p:cNvSpPr/>
          <p:nvPr/>
        </p:nvSpPr>
        <p:spPr bwMode="auto">
          <a:xfrm>
            <a:off x="470916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98483002" name="Oval 30"/>
          <p:cNvSpPr/>
          <p:nvPr/>
        </p:nvSpPr>
        <p:spPr bwMode="auto">
          <a:xfrm>
            <a:off x="512064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13532484" name="Oval 31"/>
          <p:cNvSpPr/>
          <p:nvPr/>
        </p:nvSpPr>
        <p:spPr bwMode="auto">
          <a:xfrm>
            <a:off x="553212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64686368" name="TextBox 32"/>
          <p:cNvSpPr txBox="1"/>
          <p:nvPr/>
        </p:nvSpPr>
        <p:spPr bwMode="auto">
          <a:xfrm>
            <a:off x="6062471" y="2862072"/>
            <a:ext cx="274320" cy="182880"/>
          </a:xfrm>
          <a:prstGeom prst="rect">
            <a:avLst/>
          </a:prstGeom>
          <a:noFill/>
        </p:spPr>
        <p:txBody>
          <a:bodyPr wrap="square" lIns="36576" tIns="0" rIns="36576" bIns="0" anchor="t">
            <a:spAutoFit/>
          </a:bodyPr>
          <a:lstStyle/>
          <a:p>
            <a:pPr algn="ctr">
              <a:defRPr sz="1500" b="0">
                <a:solidFill>
                  <a:srgbClr val="566572"/>
                </a:solidFill>
                <a:latin typeface="Noto Sans"/>
              </a:defRPr>
            </a:pPr>
            <a:r>
              <a:rPr/>
              <a:t>…</a:t>
            </a:r>
            <a:endParaRPr/>
          </a:p>
        </p:txBody>
      </p:sp>
      <p:sp>
        <p:nvSpPr>
          <p:cNvPr id="1200846255" name="TextBox 33"/>
          <p:cNvSpPr txBox="1"/>
          <p:nvPr/>
        </p:nvSpPr>
        <p:spPr bwMode="auto">
          <a:xfrm>
            <a:off x="877824" y="3575303"/>
            <a:ext cx="786384" cy="164592"/>
          </a:xfrm>
          <a:prstGeom prst="rect">
            <a:avLst/>
          </a:prstGeom>
          <a:noFill/>
        </p:spPr>
        <p:txBody>
          <a:bodyPr wrap="square" lIns="36576" tIns="0" rIns="36576" bIns="0" anchor="t">
            <a:spAutoFit/>
          </a:bodyPr>
          <a:lstStyle/>
          <a:p>
            <a:pPr algn="r">
              <a:defRPr sz="850" b="0">
                <a:solidFill>
                  <a:srgbClr val="566572"/>
                </a:solidFill>
                <a:latin typeface="Noto Sans"/>
              </a:defRPr>
            </a:pPr>
            <a:r>
              <a:rPr/>
              <a:t>mesh 03</a:t>
            </a:r>
            <a:endParaRPr/>
          </a:p>
        </p:txBody>
      </p:sp>
      <p:sp>
        <p:nvSpPr>
          <p:cNvPr id="1033344015" name="Oval 34"/>
          <p:cNvSpPr/>
          <p:nvPr/>
        </p:nvSpPr>
        <p:spPr bwMode="auto">
          <a:xfrm>
            <a:off x="182880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39927003" name="Oval 35"/>
          <p:cNvSpPr/>
          <p:nvPr/>
        </p:nvSpPr>
        <p:spPr bwMode="auto">
          <a:xfrm>
            <a:off x="224028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51671915" name="Oval 36"/>
          <p:cNvSpPr/>
          <p:nvPr/>
        </p:nvSpPr>
        <p:spPr bwMode="auto">
          <a:xfrm>
            <a:off x="265176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3690493" name="Oval 37"/>
          <p:cNvSpPr/>
          <p:nvPr/>
        </p:nvSpPr>
        <p:spPr bwMode="auto">
          <a:xfrm>
            <a:off x="306324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19301874" name="Oval 38"/>
          <p:cNvSpPr/>
          <p:nvPr/>
        </p:nvSpPr>
        <p:spPr bwMode="auto">
          <a:xfrm>
            <a:off x="347472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52028010" name="Oval 39"/>
          <p:cNvSpPr/>
          <p:nvPr/>
        </p:nvSpPr>
        <p:spPr bwMode="auto">
          <a:xfrm>
            <a:off x="388620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15289566" name="Oval 40"/>
          <p:cNvSpPr/>
          <p:nvPr/>
        </p:nvSpPr>
        <p:spPr bwMode="auto">
          <a:xfrm>
            <a:off x="429768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68978685" name="Oval 41"/>
          <p:cNvSpPr/>
          <p:nvPr/>
        </p:nvSpPr>
        <p:spPr bwMode="auto">
          <a:xfrm>
            <a:off x="470916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80045269" name="Oval 42"/>
          <p:cNvSpPr/>
          <p:nvPr/>
        </p:nvSpPr>
        <p:spPr bwMode="auto">
          <a:xfrm>
            <a:off x="512064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3681810" name="Oval 43"/>
          <p:cNvSpPr/>
          <p:nvPr/>
        </p:nvSpPr>
        <p:spPr bwMode="auto">
          <a:xfrm>
            <a:off x="553212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37476650" name="TextBox 44"/>
          <p:cNvSpPr txBox="1"/>
          <p:nvPr/>
        </p:nvSpPr>
        <p:spPr bwMode="auto">
          <a:xfrm>
            <a:off x="6062471" y="3493008"/>
            <a:ext cx="274320" cy="182880"/>
          </a:xfrm>
          <a:prstGeom prst="rect">
            <a:avLst/>
          </a:prstGeom>
          <a:noFill/>
        </p:spPr>
        <p:txBody>
          <a:bodyPr wrap="square" lIns="36576" tIns="0" rIns="36576" bIns="0" anchor="t">
            <a:spAutoFit/>
          </a:bodyPr>
          <a:lstStyle/>
          <a:p>
            <a:pPr algn="ctr">
              <a:defRPr sz="1500" b="0">
                <a:solidFill>
                  <a:srgbClr val="566572"/>
                </a:solidFill>
                <a:latin typeface="Noto Sans"/>
              </a:defRPr>
            </a:pPr>
            <a:r>
              <a:rPr/>
              <a:t>…</a:t>
            </a:r>
            <a:endParaRPr/>
          </a:p>
        </p:txBody>
      </p:sp>
      <p:sp>
        <p:nvSpPr>
          <p:cNvPr id="420686188" name="TextBox 45"/>
          <p:cNvSpPr txBox="1"/>
          <p:nvPr/>
        </p:nvSpPr>
        <p:spPr bwMode="auto">
          <a:xfrm>
            <a:off x="877824" y="4206240"/>
            <a:ext cx="786384" cy="164592"/>
          </a:xfrm>
          <a:prstGeom prst="rect">
            <a:avLst/>
          </a:prstGeom>
          <a:noFill/>
        </p:spPr>
        <p:txBody>
          <a:bodyPr wrap="square" lIns="36576" tIns="0" rIns="36576" bIns="0" anchor="t">
            <a:spAutoFit/>
          </a:bodyPr>
          <a:lstStyle/>
          <a:p>
            <a:pPr algn="r">
              <a:defRPr sz="850" b="0">
                <a:solidFill>
                  <a:srgbClr val="566572"/>
                </a:solidFill>
                <a:latin typeface="Noto Sans"/>
              </a:defRPr>
            </a:pPr>
            <a:r>
              <a:rPr/>
              <a:t>mesh 04</a:t>
            </a:r>
            <a:endParaRPr/>
          </a:p>
        </p:txBody>
      </p:sp>
      <p:sp>
        <p:nvSpPr>
          <p:cNvPr id="1600506997" name="Oval 46"/>
          <p:cNvSpPr/>
          <p:nvPr/>
        </p:nvSpPr>
        <p:spPr bwMode="auto">
          <a:xfrm>
            <a:off x="182880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22517282" name="Oval 47"/>
          <p:cNvSpPr/>
          <p:nvPr/>
        </p:nvSpPr>
        <p:spPr bwMode="auto">
          <a:xfrm>
            <a:off x="224028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81354902" name="Oval 48"/>
          <p:cNvSpPr/>
          <p:nvPr/>
        </p:nvSpPr>
        <p:spPr bwMode="auto">
          <a:xfrm>
            <a:off x="265176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14293049" name="Oval 49"/>
          <p:cNvSpPr/>
          <p:nvPr/>
        </p:nvSpPr>
        <p:spPr bwMode="auto">
          <a:xfrm>
            <a:off x="306324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28838552" name="Oval 50"/>
          <p:cNvSpPr/>
          <p:nvPr/>
        </p:nvSpPr>
        <p:spPr bwMode="auto">
          <a:xfrm>
            <a:off x="347472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93035080" name="Oval 51"/>
          <p:cNvSpPr/>
          <p:nvPr/>
        </p:nvSpPr>
        <p:spPr bwMode="auto">
          <a:xfrm>
            <a:off x="388620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1748768" name="Oval 52"/>
          <p:cNvSpPr/>
          <p:nvPr/>
        </p:nvSpPr>
        <p:spPr bwMode="auto">
          <a:xfrm>
            <a:off x="429768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0498018" name="Oval 53"/>
          <p:cNvSpPr/>
          <p:nvPr/>
        </p:nvSpPr>
        <p:spPr bwMode="auto">
          <a:xfrm>
            <a:off x="470916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91130204" name="Oval 54"/>
          <p:cNvSpPr/>
          <p:nvPr/>
        </p:nvSpPr>
        <p:spPr bwMode="auto">
          <a:xfrm>
            <a:off x="512064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33936900" name="Oval 55"/>
          <p:cNvSpPr/>
          <p:nvPr/>
        </p:nvSpPr>
        <p:spPr bwMode="auto">
          <a:xfrm>
            <a:off x="553212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90730807" name="TextBox 56"/>
          <p:cNvSpPr txBox="1"/>
          <p:nvPr/>
        </p:nvSpPr>
        <p:spPr bwMode="auto">
          <a:xfrm>
            <a:off x="6062471" y="4123944"/>
            <a:ext cx="274320" cy="182880"/>
          </a:xfrm>
          <a:prstGeom prst="rect">
            <a:avLst/>
          </a:prstGeom>
          <a:noFill/>
        </p:spPr>
        <p:txBody>
          <a:bodyPr wrap="square" lIns="36576" tIns="0" rIns="36576" bIns="0" anchor="t">
            <a:spAutoFit/>
          </a:bodyPr>
          <a:lstStyle/>
          <a:p>
            <a:pPr algn="ctr">
              <a:defRPr sz="1500" b="0">
                <a:solidFill>
                  <a:srgbClr val="566572"/>
                </a:solidFill>
                <a:latin typeface="Noto Sans"/>
              </a:defRPr>
            </a:pPr>
            <a:r>
              <a:rPr/>
              <a:t>…</a:t>
            </a:r>
            <a:endParaRPr/>
          </a:p>
        </p:txBody>
      </p:sp>
      <p:sp>
        <p:nvSpPr>
          <p:cNvPr id="1680308721" name="TextBox 57"/>
          <p:cNvSpPr txBox="1"/>
          <p:nvPr/>
        </p:nvSpPr>
        <p:spPr bwMode="auto">
          <a:xfrm>
            <a:off x="877824" y="4837175"/>
            <a:ext cx="786384" cy="164592"/>
          </a:xfrm>
          <a:prstGeom prst="rect">
            <a:avLst/>
          </a:prstGeom>
          <a:noFill/>
        </p:spPr>
        <p:txBody>
          <a:bodyPr wrap="square" lIns="36576" tIns="0" rIns="36576" bIns="0" anchor="t">
            <a:spAutoFit/>
          </a:bodyPr>
          <a:lstStyle/>
          <a:p>
            <a:pPr algn="r">
              <a:defRPr sz="850" b="0">
                <a:solidFill>
                  <a:srgbClr val="566572"/>
                </a:solidFill>
                <a:latin typeface="Noto Sans"/>
              </a:defRPr>
            </a:pPr>
            <a:r>
              <a:rPr/>
              <a:t>mesh 05</a:t>
            </a:r>
            <a:endParaRPr/>
          </a:p>
        </p:txBody>
      </p:sp>
      <p:sp>
        <p:nvSpPr>
          <p:cNvPr id="306078487" name="Oval 58"/>
          <p:cNvSpPr/>
          <p:nvPr/>
        </p:nvSpPr>
        <p:spPr bwMode="auto">
          <a:xfrm>
            <a:off x="182880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05414087" name="Oval 59"/>
          <p:cNvSpPr/>
          <p:nvPr/>
        </p:nvSpPr>
        <p:spPr bwMode="auto">
          <a:xfrm>
            <a:off x="224028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41574255" name="Oval 60"/>
          <p:cNvSpPr/>
          <p:nvPr/>
        </p:nvSpPr>
        <p:spPr bwMode="auto">
          <a:xfrm>
            <a:off x="265176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94600023" name="Oval 61"/>
          <p:cNvSpPr/>
          <p:nvPr/>
        </p:nvSpPr>
        <p:spPr bwMode="auto">
          <a:xfrm>
            <a:off x="306324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49111674" name="Oval 62"/>
          <p:cNvSpPr/>
          <p:nvPr/>
        </p:nvSpPr>
        <p:spPr bwMode="auto">
          <a:xfrm>
            <a:off x="347472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5558301" name="Oval 63"/>
          <p:cNvSpPr/>
          <p:nvPr/>
        </p:nvSpPr>
        <p:spPr bwMode="auto">
          <a:xfrm>
            <a:off x="388620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53534646" name="Oval 64"/>
          <p:cNvSpPr/>
          <p:nvPr/>
        </p:nvSpPr>
        <p:spPr bwMode="auto">
          <a:xfrm>
            <a:off x="429768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64441416" name="Oval 65"/>
          <p:cNvSpPr/>
          <p:nvPr/>
        </p:nvSpPr>
        <p:spPr bwMode="auto">
          <a:xfrm>
            <a:off x="470916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48456091" name="Oval 66"/>
          <p:cNvSpPr/>
          <p:nvPr/>
        </p:nvSpPr>
        <p:spPr bwMode="auto">
          <a:xfrm>
            <a:off x="512064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1872511" name="Oval 67"/>
          <p:cNvSpPr/>
          <p:nvPr/>
        </p:nvSpPr>
        <p:spPr bwMode="auto">
          <a:xfrm>
            <a:off x="553212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42192442" name="TextBox 68"/>
          <p:cNvSpPr txBox="1"/>
          <p:nvPr/>
        </p:nvSpPr>
        <p:spPr bwMode="auto">
          <a:xfrm>
            <a:off x="6062471" y="4754879"/>
            <a:ext cx="274320" cy="182880"/>
          </a:xfrm>
          <a:prstGeom prst="rect">
            <a:avLst/>
          </a:prstGeom>
          <a:noFill/>
        </p:spPr>
        <p:txBody>
          <a:bodyPr wrap="square" lIns="36576" tIns="0" rIns="36576" bIns="0" anchor="t">
            <a:spAutoFit/>
          </a:bodyPr>
          <a:lstStyle/>
          <a:p>
            <a:pPr algn="ctr">
              <a:defRPr sz="1500" b="0">
                <a:solidFill>
                  <a:srgbClr val="566572"/>
                </a:solidFill>
                <a:latin typeface="Noto Sans"/>
              </a:defRPr>
            </a:pPr>
            <a:r>
              <a:rPr/>
              <a:t>…</a:t>
            </a:r>
            <a:endParaRPr/>
          </a:p>
        </p:txBody>
      </p:sp>
      <p:sp>
        <p:nvSpPr>
          <p:cNvPr id="258834905" name="TextBox 69"/>
          <p:cNvSpPr txBox="1"/>
          <p:nvPr/>
        </p:nvSpPr>
        <p:spPr bwMode="auto">
          <a:xfrm>
            <a:off x="877824" y="5468112"/>
            <a:ext cx="786384" cy="219456"/>
          </a:xfrm>
          <a:prstGeom prst="rect">
            <a:avLst/>
          </a:prstGeom>
          <a:noFill/>
        </p:spPr>
        <p:txBody>
          <a:bodyPr wrap="square" lIns="36576" tIns="0" rIns="36576" bIns="0" anchor="t">
            <a:spAutoFit/>
          </a:bodyPr>
          <a:lstStyle/>
          <a:p>
            <a:pPr algn="r">
              <a:defRPr sz="1600" b="0">
                <a:solidFill>
                  <a:srgbClr val="566572"/>
                </a:solidFill>
                <a:latin typeface="Noto Sans"/>
              </a:defRPr>
            </a:pPr>
            <a:r>
              <a:rPr/>
              <a:t>⋮</a:t>
            </a:r>
            <a:endParaRPr/>
          </a:p>
        </p:txBody>
      </p:sp>
      <p:sp>
        <p:nvSpPr>
          <p:cNvPr id="307867327" name="TextBox 70"/>
          <p:cNvSpPr txBox="1"/>
          <p:nvPr/>
        </p:nvSpPr>
        <p:spPr bwMode="auto">
          <a:xfrm>
            <a:off x="1819656" y="5422392"/>
            <a:ext cx="4480560" cy="274320"/>
          </a:xfrm>
          <a:prstGeom prst="rect">
            <a:avLst/>
          </a:prstGeom>
          <a:noFill/>
        </p:spPr>
        <p:txBody>
          <a:bodyPr wrap="square" lIns="36576" tIns="0" rIns="36576" bIns="0" anchor="t">
            <a:spAutoFit/>
          </a:bodyPr>
          <a:lstStyle/>
          <a:p>
            <a:pPr algn="ctr">
              <a:defRPr sz="1100" b="1">
                <a:solidFill>
                  <a:srgbClr val="194874"/>
                </a:solidFill>
                <a:latin typeface="Noto Sans"/>
              </a:defRPr>
            </a:pPr>
            <a:r>
              <a:rPr/>
              <a:t>40 repeats conditional on the same geometry</a:t>
            </a:r>
            <a:endParaRPr/>
          </a:p>
        </p:txBody>
      </p:sp>
      <p:sp>
        <p:nvSpPr>
          <p:cNvPr id="1585496090" name="Rounded Rectangle 71"/>
          <p:cNvSpPr/>
          <p:nvPr/>
        </p:nvSpPr>
        <p:spPr bwMode="auto">
          <a:xfrm>
            <a:off x="7223760" y="1353312"/>
            <a:ext cx="4389120" cy="2084831"/>
          </a:xfrm>
          <a:prstGeom prst="roundRect">
            <a:avLst>
              <a:gd name="adj" fmla="val 16667"/>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31174731" name="TextBox 72"/>
          <p:cNvSpPr txBox="1"/>
          <p:nvPr/>
        </p:nvSpPr>
        <p:spPr bwMode="auto">
          <a:xfrm>
            <a:off x="7534656" y="1691640"/>
            <a:ext cx="3730752" cy="274320"/>
          </a:xfrm>
          <a:prstGeom prst="rect">
            <a:avLst/>
          </a:prstGeom>
          <a:noFill/>
        </p:spPr>
        <p:txBody>
          <a:bodyPr wrap="square" lIns="36576" tIns="0" rIns="36576" bIns="0" anchor="t">
            <a:spAutoFit/>
          </a:bodyPr>
          <a:lstStyle/>
          <a:p>
            <a:pPr algn="l">
              <a:defRPr sz="1400" b="1">
                <a:solidFill>
                  <a:srgbClr val="DDA83F"/>
                </a:solidFill>
                <a:latin typeface="Noto Sans"/>
              </a:defRPr>
            </a:pPr>
            <a:r>
              <a:rPr/>
              <a:t>Balanced random-effects model</a:t>
            </a:r>
            <a:endParaRPr/>
          </a:p>
        </p:txBody>
      </p:sp>
      <p:sp>
        <p:nvSpPr>
          <p:cNvPr id="1428262170" name="TextBox 73"/>
          <p:cNvSpPr txBox="1"/>
          <p:nvPr/>
        </p:nvSpPr>
        <p:spPr bwMode="auto">
          <a:xfrm>
            <a:off x="7534656" y="2194560"/>
            <a:ext cx="3730752" cy="502920"/>
          </a:xfrm>
          <a:prstGeom prst="rect">
            <a:avLst/>
          </a:prstGeom>
          <a:noFill/>
        </p:spPr>
        <p:txBody>
          <a:bodyPr wrap="square" lIns="36576" tIns="0" rIns="36576" bIns="0" anchor="t">
            <a:spAutoFit/>
          </a:bodyPr>
          <a:lstStyle/>
          <a:p>
            <a:pPr algn="ctr">
              <a:defRPr sz="2800" b="1">
                <a:solidFill>
                  <a:srgbClr val="FFFFFF"/>
                </a:solidFill>
                <a:latin typeface="Noto Sans"/>
              </a:defRPr>
            </a:pPr>
            <a:r>
              <a:rPr/>
              <a:t>yₘᵣ = μ + uₘ + εₘᵣ</a:t>
            </a:r>
            <a:endParaRPr/>
          </a:p>
        </p:txBody>
      </p:sp>
      <p:sp>
        <p:nvSpPr>
          <p:cNvPr id="2051096907" name="TextBox 74"/>
          <p:cNvSpPr txBox="1"/>
          <p:nvPr/>
        </p:nvSpPr>
        <p:spPr bwMode="auto">
          <a:xfrm>
            <a:off x="7525512" y="2907792"/>
            <a:ext cx="3749039" cy="228600"/>
          </a:xfrm>
          <a:prstGeom prst="rect">
            <a:avLst/>
          </a:prstGeom>
          <a:noFill/>
        </p:spPr>
        <p:txBody>
          <a:bodyPr wrap="square" lIns="36576" tIns="0" rIns="36576" bIns="0" anchor="t">
            <a:spAutoFit/>
          </a:bodyPr>
          <a:lstStyle/>
          <a:p>
            <a:pPr algn="ctr">
              <a:defRPr sz="1000" b="0">
                <a:solidFill>
                  <a:srgbClr val="B9CBD8"/>
                </a:solidFill>
                <a:latin typeface="Noto Sans"/>
              </a:defRPr>
            </a:pPr>
            <a:r>
              <a:rPr/>
              <a:t>uₘ: between meshes     εₘᵣ: within a mesh</a:t>
            </a:r>
            <a:endParaRPr/>
          </a:p>
        </p:txBody>
      </p:sp>
      <p:sp>
        <p:nvSpPr>
          <p:cNvPr id="42480607" name="Rounded Rectangle 75"/>
          <p:cNvSpPr/>
          <p:nvPr/>
        </p:nvSpPr>
        <p:spPr bwMode="auto">
          <a:xfrm>
            <a:off x="7223760" y="3675887"/>
            <a:ext cx="4389120" cy="2203704"/>
          </a:xfrm>
          <a:prstGeom prst="roundRect">
            <a:avLst>
              <a:gd name="adj" fmla="val 16667"/>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41542323" name="TextBox 76"/>
          <p:cNvSpPr txBox="1"/>
          <p:nvPr/>
        </p:nvSpPr>
        <p:spPr bwMode="auto">
          <a:xfrm>
            <a:off x="7534656" y="3977639"/>
            <a:ext cx="2011680" cy="256032"/>
          </a:xfrm>
          <a:prstGeom prst="rect">
            <a:avLst/>
          </a:prstGeom>
          <a:noFill/>
        </p:spPr>
        <p:txBody>
          <a:bodyPr wrap="square" lIns="36576" tIns="0" rIns="36576" bIns="0" anchor="t">
            <a:spAutoFit/>
          </a:bodyPr>
          <a:lstStyle/>
          <a:p>
            <a:pPr algn="l">
              <a:defRPr sz="1100" b="1">
                <a:solidFill>
                  <a:srgbClr val="C25B23"/>
                </a:solidFill>
                <a:latin typeface="Noto Sans"/>
              </a:defRPr>
            </a:pPr>
            <a:r>
              <a:rPr/>
              <a:t>Prespecified scope</a:t>
            </a:r>
            <a:endParaRPr/>
          </a:p>
        </p:txBody>
      </p:sp>
      <p:sp>
        <p:nvSpPr>
          <p:cNvPr id="2000295539" name="TextBox 77"/>
          <p:cNvSpPr txBox="1"/>
          <p:nvPr/>
        </p:nvSpPr>
        <p:spPr bwMode="auto">
          <a:xfrm>
            <a:off x="7516368" y="4416552"/>
            <a:ext cx="3657600" cy="1143000"/>
          </a:xfrm>
          <a:prstGeom prst="rect">
            <a:avLst/>
          </a:prstGeom>
          <a:noFill/>
        </p:spPr>
        <p:txBody>
          <a:bodyPr wrap="square" lIns="27432" tIns="0" rIns="27432" bIns="0">
            <a:spAutoFit/>
          </a:bodyPr>
          <a:lstStyle/>
          <a:p>
            <a:pPr>
              <a:spcAft>
                <a:spcPts val="500"/>
              </a:spcAft>
              <a:defRPr/>
            </a:pPr>
            <a:r>
              <a:rPr sz="800">
                <a:solidFill>
                  <a:srgbClr val="C25B23"/>
                </a:solidFill>
                <a:latin typeface="Noto Sans"/>
              </a:rPr>
              <a:t>●  </a:t>
            </a:r>
            <a:r>
              <a:rPr sz="1250">
                <a:solidFill>
                  <a:srgbClr val="1D2730"/>
                </a:solidFill>
                <a:latin typeface="Noto Sans"/>
              </a:rPr>
              <a:t>CC320616 selected once from the 10-person pool</a:t>
            </a:r>
            <a:endParaRPr/>
          </a:p>
          <a:p>
            <a:pPr>
              <a:spcAft>
                <a:spcPts val="500"/>
              </a:spcAft>
              <a:defRPr/>
            </a:pPr>
            <a:r>
              <a:rPr sz="800">
                <a:solidFill>
                  <a:srgbClr val="C25B23"/>
                </a:solidFill>
                <a:latin typeface="Noto Sans"/>
              </a:rPr>
              <a:t>●  </a:t>
            </a:r>
            <a:r>
              <a:rPr sz="1250">
                <a:solidFill>
                  <a:srgbClr val="1D2730"/>
                </a:solidFill>
                <a:latin typeface="Noto Sans"/>
              </a:rPr>
              <a:t>left hippocampus fixed before preparation</a:t>
            </a:r>
            <a:endParaRPr/>
          </a:p>
          <a:p>
            <a:pPr>
              <a:spcAft>
                <a:spcPts val="500"/>
              </a:spcAft>
              <a:defRPr/>
            </a:pPr>
            <a:r>
              <a:rPr sz="800">
                <a:solidFill>
                  <a:srgbClr val="C25B23"/>
                </a:solidFill>
                <a:latin typeface="Noto Sans"/>
              </a:rPr>
              <a:t>●  </a:t>
            </a:r>
            <a:r>
              <a:rPr sz="1250">
                <a:solidFill>
                  <a:srgbClr val="1D2730"/>
                </a:solidFill>
                <a:latin typeface="Noto Sans"/>
              </a:rPr>
              <a:t>1,600 technical observations</a:t>
            </a:r>
            <a:endParaRPr/>
          </a:p>
        </p:txBody>
      </p:sp>
      <p:sp>
        <p:nvSpPr>
          <p:cNvPr id="894163277" name="TextBox 78"/>
          <p:cNvSpPr txBox="1"/>
          <p:nvPr/>
        </p:nvSpPr>
        <p:spPr bwMode="auto">
          <a:xfrm>
            <a:off x="7306056" y="6117336"/>
            <a:ext cx="4233672" cy="228600"/>
          </a:xfrm>
          <a:prstGeom prst="rect">
            <a:avLst/>
          </a:prstGeom>
          <a:noFill/>
        </p:spPr>
        <p:txBody>
          <a:bodyPr wrap="square" lIns="36576" tIns="0" rIns="36576" bIns="0" anchor="t">
            <a:spAutoFit/>
          </a:bodyPr>
          <a:lstStyle/>
          <a:p>
            <a:pPr algn="ctr">
              <a:defRPr sz="1100" b="1">
                <a:solidFill>
                  <a:srgbClr val="B13A3A"/>
                </a:solidFill>
                <a:latin typeface="Noto Sans"/>
              </a:defRPr>
            </a:pPr>
            <a:r>
              <a:rPr/>
              <a:t>Sensitivity demonstration—not a population variance estimate</a:t>
            </a:r>
            <a:endParaRPr/>
          </a:p>
        </p:txBody>
      </p:sp>
      <p:sp>
        <p:nvSpPr>
          <p:cNvPr id="1348163473" name="TextBox 79"/>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566572"/>
                </a:solidFill>
                <a:latin typeface="Noto Sans"/>
              </a:defRPr>
            </a:pPr>
            <a:r>
              <a:rPr/>
              <a:t>Random-selection seed 20260831; selection persisted before execution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8FA"/>
        </a:solidFill>
      </p:bgPr>
    </p:bg>
    <p:spTree>
      <p:nvGrpSpPr>
        <p:cNvPr id="1" name=""/>
        <p:cNvGrpSpPr/>
        <p:nvPr/>
      </p:nvGrpSpPr>
      <p:grpSpPr bwMode="auto">
        <a:xfrm>
          <a:off x="0" y="0"/>
          <a:ext cx="0" cy="0"/>
          <a:chOff x="0" y="0"/>
          <a:chExt cx="0" cy="0"/>
        </a:xfrm>
      </p:grpSpPr>
      <p:sp>
        <p:nvSpPr>
          <p:cNvPr id="1192547129"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NESTED DESIGN</a:t>
            </a:r>
            <a:endParaRPr/>
          </a:p>
        </p:txBody>
      </p:sp>
      <p:sp>
        <p:nvSpPr>
          <p:cNvPr id="363120864"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The nested design creates two separable levels of technical variation</a:t>
            </a:r>
            <a:endParaRPr/>
          </a:p>
        </p:txBody>
      </p:sp>
      <p:cxnSp>
        <p:nvCxnSpPr>
          <p:cNvPr id="1903588135"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1362084079"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10</a:t>
            </a:r>
            <a:endParaRPr/>
          </a:p>
        </p:txBody>
      </p:sp>
      <p:sp>
        <p:nvSpPr>
          <p:cNvPr id="1334368314" name="Rounded Rectangle 6"/>
          <p:cNvSpPr/>
          <p:nvPr/>
        </p:nvSpPr>
        <p:spPr bwMode="auto">
          <a:xfrm>
            <a:off x="566928" y="1353312"/>
            <a:ext cx="6446520" cy="4526280"/>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23351970" name="TextBox 7"/>
          <p:cNvSpPr txBox="1"/>
          <p:nvPr/>
        </p:nvSpPr>
        <p:spPr bwMode="auto">
          <a:xfrm>
            <a:off x="868680" y="1664208"/>
            <a:ext cx="2560320" cy="292608"/>
          </a:xfrm>
          <a:prstGeom prst="rect">
            <a:avLst/>
          </a:prstGeom>
          <a:noFill/>
        </p:spPr>
        <p:txBody>
          <a:bodyPr wrap="square" lIns="36576" tIns="0" rIns="36576" bIns="0" anchor="t">
            <a:spAutoFit/>
          </a:bodyPr>
          <a:lstStyle/>
          <a:p>
            <a:pPr algn="l">
              <a:defRPr sz="1800" b="1">
                <a:solidFill>
                  <a:srgbClr val="194874"/>
                </a:solidFill>
                <a:latin typeface="Noto Sans"/>
              </a:defRPr>
            </a:pPr>
            <a:r>
              <a:rPr/>
              <a:t>40 independent meshes</a:t>
            </a:r>
            <a:endParaRPr/>
          </a:p>
        </p:txBody>
      </p:sp>
      <p:sp>
        <p:nvSpPr>
          <p:cNvPr id="1520818309" name="TextBox 8"/>
          <p:cNvSpPr txBox="1"/>
          <p:nvPr/>
        </p:nvSpPr>
        <p:spPr bwMode="auto">
          <a:xfrm>
            <a:off x="3236976" y="1691640"/>
            <a:ext cx="3246120" cy="256032"/>
          </a:xfrm>
          <a:prstGeom prst="rect">
            <a:avLst/>
          </a:prstGeom>
          <a:noFill/>
        </p:spPr>
        <p:txBody>
          <a:bodyPr wrap="square" lIns="36576" tIns="0" rIns="36576" bIns="0" anchor="t">
            <a:spAutoFit/>
          </a:bodyPr>
          <a:lstStyle/>
          <a:p>
            <a:pPr algn="r">
              <a:defRPr sz="1300" b="0">
                <a:solidFill>
                  <a:srgbClr val="566572"/>
                </a:solidFill>
                <a:latin typeface="Noto Sans"/>
              </a:defRPr>
            </a:pPr>
            <a:r>
              <a:rPr/>
              <a:t>each reused for 40 complete solutions</a:t>
            </a:r>
            <a:endParaRPr/>
          </a:p>
        </p:txBody>
      </p:sp>
      <p:sp>
        <p:nvSpPr>
          <p:cNvPr id="490677601" name="TextBox 9"/>
          <p:cNvSpPr txBox="1"/>
          <p:nvPr/>
        </p:nvSpPr>
        <p:spPr bwMode="auto">
          <a:xfrm>
            <a:off x="877824" y="2313432"/>
            <a:ext cx="786384" cy="164592"/>
          </a:xfrm>
          <a:prstGeom prst="rect">
            <a:avLst/>
          </a:prstGeom>
          <a:noFill/>
        </p:spPr>
        <p:txBody>
          <a:bodyPr wrap="square" lIns="36576" tIns="0" rIns="36576" bIns="0" anchor="t">
            <a:spAutoFit/>
          </a:bodyPr>
          <a:lstStyle/>
          <a:p>
            <a:pPr algn="r">
              <a:defRPr sz="850" b="0">
                <a:solidFill>
                  <a:srgbClr val="566572"/>
                </a:solidFill>
                <a:latin typeface="Noto Sans"/>
              </a:defRPr>
            </a:pPr>
            <a:r>
              <a:rPr/>
              <a:t>mesh 01</a:t>
            </a:r>
            <a:endParaRPr/>
          </a:p>
        </p:txBody>
      </p:sp>
      <p:sp>
        <p:nvSpPr>
          <p:cNvPr id="1432735969" name="Oval 10"/>
          <p:cNvSpPr/>
          <p:nvPr/>
        </p:nvSpPr>
        <p:spPr bwMode="auto">
          <a:xfrm>
            <a:off x="182880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63101381" name="Oval 11"/>
          <p:cNvSpPr/>
          <p:nvPr/>
        </p:nvSpPr>
        <p:spPr bwMode="auto">
          <a:xfrm>
            <a:off x="224028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85117014" name="Oval 12"/>
          <p:cNvSpPr/>
          <p:nvPr/>
        </p:nvSpPr>
        <p:spPr bwMode="auto">
          <a:xfrm>
            <a:off x="265176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12308109" name="Oval 13"/>
          <p:cNvSpPr/>
          <p:nvPr/>
        </p:nvSpPr>
        <p:spPr bwMode="auto">
          <a:xfrm>
            <a:off x="306324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51588815" name="Oval 14"/>
          <p:cNvSpPr/>
          <p:nvPr/>
        </p:nvSpPr>
        <p:spPr bwMode="auto">
          <a:xfrm>
            <a:off x="347472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42107397" name="Oval 15"/>
          <p:cNvSpPr/>
          <p:nvPr/>
        </p:nvSpPr>
        <p:spPr bwMode="auto">
          <a:xfrm>
            <a:off x="388620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95268208" name="Oval 16"/>
          <p:cNvSpPr/>
          <p:nvPr/>
        </p:nvSpPr>
        <p:spPr bwMode="auto">
          <a:xfrm>
            <a:off x="429768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63535501" name="Oval 17"/>
          <p:cNvSpPr/>
          <p:nvPr/>
        </p:nvSpPr>
        <p:spPr bwMode="auto">
          <a:xfrm>
            <a:off x="470916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53752925" name="Oval 18"/>
          <p:cNvSpPr/>
          <p:nvPr/>
        </p:nvSpPr>
        <p:spPr bwMode="auto">
          <a:xfrm>
            <a:off x="5120640" y="2221992"/>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27127284" name="Oval 19"/>
          <p:cNvSpPr/>
          <p:nvPr/>
        </p:nvSpPr>
        <p:spPr bwMode="auto">
          <a:xfrm>
            <a:off x="5532120" y="2221992"/>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20306598" name="TextBox 20"/>
          <p:cNvSpPr txBox="1"/>
          <p:nvPr/>
        </p:nvSpPr>
        <p:spPr bwMode="auto">
          <a:xfrm>
            <a:off x="6062470" y="2231136"/>
            <a:ext cx="274320" cy="182880"/>
          </a:xfrm>
          <a:prstGeom prst="rect">
            <a:avLst/>
          </a:prstGeom>
          <a:noFill/>
        </p:spPr>
        <p:txBody>
          <a:bodyPr wrap="square" lIns="36576" tIns="0" rIns="36576" bIns="0" anchor="t">
            <a:spAutoFit/>
          </a:bodyPr>
          <a:lstStyle/>
          <a:p>
            <a:pPr algn="ctr">
              <a:defRPr sz="1500" b="0">
                <a:solidFill>
                  <a:srgbClr val="566572"/>
                </a:solidFill>
                <a:latin typeface="Noto Sans"/>
              </a:defRPr>
            </a:pPr>
            <a:r>
              <a:rPr/>
              <a:t>…</a:t>
            </a:r>
            <a:endParaRPr/>
          </a:p>
        </p:txBody>
      </p:sp>
      <p:sp>
        <p:nvSpPr>
          <p:cNvPr id="734057594" name="TextBox 21"/>
          <p:cNvSpPr txBox="1"/>
          <p:nvPr/>
        </p:nvSpPr>
        <p:spPr bwMode="auto">
          <a:xfrm>
            <a:off x="877824" y="2944368"/>
            <a:ext cx="786384" cy="164592"/>
          </a:xfrm>
          <a:prstGeom prst="rect">
            <a:avLst/>
          </a:prstGeom>
          <a:noFill/>
        </p:spPr>
        <p:txBody>
          <a:bodyPr wrap="square" lIns="36576" tIns="0" rIns="36576" bIns="0" anchor="t">
            <a:spAutoFit/>
          </a:bodyPr>
          <a:lstStyle/>
          <a:p>
            <a:pPr algn="r">
              <a:defRPr sz="850" b="0">
                <a:solidFill>
                  <a:srgbClr val="566572"/>
                </a:solidFill>
                <a:latin typeface="Noto Sans"/>
              </a:defRPr>
            </a:pPr>
            <a:r>
              <a:rPr/>
              <a:t>mesh 02</a:t>
            </a:r>
            <a:endParaRPr/>
          </a:p>
        </p:txBody>
      </p:sp>
      <p:sp>
        <p:nvSpPr>
          <p:cNvPr id="689110408" name="Oval 22"/>
          <p:cNvSpPr/>
          <p:nvPr/>
        </p:nvSpPr>
        <p:spPr bwMode="auto">
          <a:xfrm>
            <a:off x="182880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79770942" name="Oval 23"/>
          <p:cNvSpPr/>
          <p:nvPr/>
        </p:nvSpPr>
        <p:spPr bwMode="auto">
          <a:xfrm>
            <a:off x="224028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80893775" name="Oval 24"/>
          <p:cNvSpPr/>
          <p:nvPr/>
        </p:nvSpPr>
        <p:spPr bwMode="auto">
          <a:xfrm>
            <a:off x="265176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65979869" name="Oval 25"/>
          <p:cNvSpPr/>
          <p:nvPr/>
        </p:nvSpPr>
        <p:spPr bwMode="auto">
          <a:xfrm>
            <a:off x="306324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78691665" name="Oval 26"/>
          <p:cNvSpPr/>
          <p:nvPr/>
        </p:nvSpPr>
        <p:spPr bwMode="auto">
          <a:xfrm>
            <a:off x="347472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27816812" name="Oval 27"/>
          <p:cNvSpPr/>
          <p:nvPr/>
        </p:nvSpPr>
        <p:spPr bwMode="auto">
          <a:xfrm>
            <a:off x="388620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64696463" name="Oval 28"/>
          <p:cNvSpPr/>
          <p:nvPr/>
        </p:nvSpPr>
        <p:spPr bwMode="auto">
          <a:xfrm>
            <a:off x="429768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96527677" name="Oval 29"/>
          <p:cNvSpPr/>
          <p:nvPr/>
        </p:nvSpPr>
        <p:spPr bwMode="auto">
          <a:xfrm>
            <a:off x="470916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93472594" name="Oval 30"/>
          <p:cNvSpPr/>
          <p:nvPr/>
        </p:nvSpPr>
        <p:spPr bwMode="auto">
          <a:xfrm>
            <a:off x="5120640" y="2852928"/>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2703462" name="Oval 31"/>
          <p:cNvSpPr/>
          <p:nvPr/>
        </p:nvSpPr>
        <p:spPr bwMode="auto">
          <a:xfrm>
            <a:off x="5532120" y="2852928"/>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40549469" name="TextBox 32"/>
          <p:cNvSpPr txBox="1"/>
          <p:nvPr/>
        </p:nvSpPr>
        <p:spPr bwMode="auto">
          <a:xfrm>
            <a:off x="6062470" y="2862071"/>
            <a:ext cx="274320" cy="182880"/>
          </a:xfrm>
          <a:prstGeom prst="rect">
            <a:avLst/>
          </a:prstGeom>
          <a:noFill/>
        </p:spPr>
        <p:txBody>
          <a:bodyPr wrap="square" lIns="36576" tIns="0" rIns="36576" bIns="0" anchor="t">
            <a:spAutoFit/>
          </a:bodyPr>
          <a:lstStyle/>
          <a:p>
            <a:pPr algn="ctr">
              <a:defRPr sz="1500" b="0">
                <a:solidFill>
                  <a:srgbClr val="566572"/>
                </a:solidFill>
                <a:latin typeface="Noto Sans"/>
              </a:defRPr>
            </a:pPr>
            <a:r>
              <a:rPr/>
              <a:t>…</a:t>
            </a:r>
            <a:endParaRPr/>
          </a:p>
        </p:txBody>
      </p:sp>
      <p:sp>
        <p:nvSpPr>
          <p:cNvPr id="563736580" name="TextBox 33"/>
          <p:cNvSpPr txBox="1"/>
          <p:nvPr/>
        </p:nvSpPr>
        <p:spPr bwMode="auto">
          <a:xfrm>
            <a:off x="877824" y="3575302"/>
            <a:ext cx="786384" cy="164592"/>
          </a:xfrm>
          <a:prstGeom prst="rect">
            <a:avLst/>
          </a:prstGeom>
          <a:noFill/>
        </p:spPr>
        <p:txBody>
          <a:bodyPr wrap="square" lIns="36576" tIns="0" rIns="36576" bIns="0" anchor="t">
            <a:spAutoFit/>
          </a:bodyPr>
          <a:lstStyle/>
          <a:p>
            <a:pPr algn="r">
              <a:defRPr sz="850" b="0">
                <a:solidFill>
                  <a:srgbClr val="566572"/>
                </a:solidFill>
                <a:latin typeface="Noto Sans"/>
              </a:defRPr>
            </a:pPr>
            <a:r>
              <a:rPr/>
              <a:t>mesh 03</a:t>
            </a:r>
            <a:endParaRPr/>
          </a:p>
        </p:txBody>
      </p:sp>
      <p:sp>
        <p:nvSpPr>
          <p:cNvPr id="1755478296" name="Oval 34"/>
          <p:cNvSpPr/>
          <p:nvPr/>
        </p:nvSpPr>
        <p:spPr bwMode="auto">
          <a:xfrm>
            <a:off x="182880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58809000" name="Oval 35"/>
          <p:cNvSpPr/>
          <p:nvPr/>
        </p:nvSpPr>
        <p:spPr bwMode="auto">
          <a:xfrm>
            <a:off x="224028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2301302" name="Oval 36"/>
          <p:cNvSpPr/>
          <p:nvPr/>
        </p:nvSpPr>
        <p:spPr bwMode="auto">
          <a:xfrm>
            <a:off x="265176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9415112" name="Oval 37"/>
          <p:cNvSpPr/>
          <p:nvPr/>
        </p:nvSpPr>
        <p:spPr bwMode="auto">
          <a:xfrm>
            <a:off x="306324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43634492" name="Oval 38"/>
          <p:cNvSpPr/>
          <p:nvPr/>
        </p:nvSpPr>
        <p:spPr bwMode="auto">
          <a:xfrm>
            <a:off x="347472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30732683" name="Oval 39"/>
          <p:cNvSpPr/>
          <p:nvPr/>
        </p:nvSpPr>
        <p:spPr bwMode="auto">
          <a:xfrm>
            <a:off x="388620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69210992" name="Oval 40"/>
          <p:cNvSpPr/>
          <p:nvPr/>
        </p:nvSpPr>
        <p:spPr bwMode="auto">
          <a:xfrm>
            <a:off x="429768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8432957" name="Oval 41"/>
          <p:cNvSpPr/>
          <p:nvPr/>
        </p:nvSpPr>
        <p:spPr bwMode="auto">
          <a:xfrm>
            <a:off x="470916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50783227" name="Oval 42"/>
          <p:cNvSpPr/>
          <p:nvPr/>
        </p:nvSpPr>
        <p:spPr bwMode="auto">
          <a:xfrm>
            <a:off x="5120640" y="3483864"/>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42941676" name="Oval 43"/>
          <p:cNvSpPr/>
          <p:nvPr/>
        </p:nvSpPr>
        <p:spPr bwMode="auto">
          <a:xfrm>
            <a:off x="5532120" y="3483864"/>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61935413" name="TextBox 44"/>
          <p:cNvSpPr txBox="1"/>
          <p:nvPr/>
        </p:nvSpPr>
        <p:spPr bwMode="auto">
          <a:xfrm>
            <a:off x="6062470" y="3493008"/>
            <a:ext cx="274320" cy="182880"/>
          </a:xfrm>
          <a:prstGeom prst="rect">
            <a:avLst/>
          </a:prstGeom>
          <a:noFill/>
        </p:spPr>
        <p:txBody>
          <a:bodyPr wrap="square" lIns="36576" tIns="0" rIns="36576" bIns="0" anchor="t">
            <a:spAutoFit/>
          </a:bodyPr>
          <a:lstStyle/>
          <a:p>
            <a:pPr algn="ctr">
              <a:defRPr sz="1500" b="0">
                <a:solidFill>
                  <a:srgbClr val="566572"/>
                </a:solidFill>
                <a:latin typeface="Noto Sans"/>
              </a:defRPr>
            </a:pPr>
            <a:r>
              <a:rPr/>
              <a:t>…</a:t>
            </a:r>
            <a:endParaRPr/>
          </a:p>
        </p:txBody>
      </p:sp>
      <p:sp>
        <p:nvSpPr>
          <p:cNvPr id="1645646142" name="TextBox 45"/>
          <p:cNvSpPr txBox="1"/>
          <p:nvPr/>
        </p:nvSpPr>
        <p:spPr bwMode="auto">
          <a:xfrm>
            <a:off x="877824" y="4206240"/>
            <a:ext cx="786384" cy="164592"/>
          </a:xfrm>
          <a:prstGeom prst="rect">
            <a:avLst/>
          </a:prstGeom>
          <a:noFill/>
        </p:spPr>
        <p:txBody>
          <a:bodyPr wrap="square" lIns="36576" tIns="0" rIns="36576" bIns="0" anchor="t">
            <a:spAutoFit/>
          </a:bodyPr>
          <a:lstStyle/>
          <a:p>
            <a:pPr algn="r">
              <a:defRPr sz="850" b="0">
                <a:solidFill>
                  <a:srgbClr val="566572"/>
                </a:solidFill>
                <a:latin typeface="Noto Sans"/>
              </a:defRPr>
            </a:pPr>
            <a:r>
              <a:rPr/>
              <a:t>mesh 04</a:t>
            </a:r>
            <a:endParaRPr/>
          </a:p>
        </p:txBody>
      </p:sp>
      <p:sp>
        <p:nvSpPr>
          <p:cNvPr id="1929703286" name="Oval 46"/>
          <p:cNvSpPr/>
          <p:nvPr/>
        </p:nvSpPr>
        <p:spPr bwMode="auto">
          <a:xfrm>
            <a:off x="182880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14270987" name="Oval 47"/>
          <p:cNvSpPr/>
          <p:nvPr/>
        </p:nvSpPr>
        <p:spPr bwMode="auto">
          <a:xfrm>
            <a:off x="224028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27392523" name="Oval 48"/>
          <p:cNvSpPr/>
          <p:nvPr/>
        </p:nvSpPr>
        <p:spPr bwMode="auto">
          <a:xfrm>
            <a:off x="265176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25116185" name="Oval 49"/>
          <p:cNvSpPr/>
          <p:nvPr/>
        </p:nvSpPr>
        <p:spPr bwMode="auto">
          <a:xfrm>
            <a:off x="306324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2538289" name="Oval 50"/>
          <p:cNvSpPr/>
          <p:nvPr/>
        </p:nvSpPr>
        <p:spPr bwMode="auto">
          <a:xfrm>
            <a:off x="347472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44978023" name="Oval 51"/>
          <p:cNvSpPr/>
          <p:nvPr/>
        </p:nvSpPr>
        <p:spPr bwMode="auto">
          <a:xfrm>
            <a:off x="388620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31174995" name="Oval 52"/>
          <p:cNvSpPr/>
          <p:nvPr/>
        </p:nvSpPr>
        <p:spPr bwMode="auto">
          <a:xfrm>
            <a:off x="429768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09828901" name="Oval 53"/>
          <p:cNvSpPr/>
          <p:nvPr/>
        </p:nvSpPr>
        <p:spPr bwMode="auto">
          <a:xfrm>
            <a:off x="470916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78696096" name="Oval 54"/>
          <p:cNvSpPr/>
          <p:nvPr/>
        </p:nvSpPr>
        <p:spPr bwMode="auto">
          <a:xfrm>
            <a:off x="5120640" y="4114800"/>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11821741" name="Oval 55"/>
          <p:cNvSpPr/>
          <p:nvPr/>
        </p:nvSpPr>
        <p:spPr bwMode="auto">
          <a:xfrm>
            <a:off x="5532120" y="4114800"/>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18610802" name="TextBox 56"/>
          <p:cNvSpPr txBox="1"/>
          <p:nvPr/>
        </p:nvSpPr>
        <p:spPr bwMode="auto">
          <a:xfrm>
            <a:off x="6062470" y="4123944"/>
            <a:ext cx="274320" cy="182880"/>
          </a:xfrm>
          <a:prstGeom prst="rect">
            <a:avLst/>
          </a:prstGeom>
          <a:noFill/>
        </p:spPr>
        <p:txBody>
          <a:bodyPr wrap="square" lIns="36576" tIns="0" rIns="36576" bIns="0" anchor="t">
            <a:spAutoFit/>
          </a:bodyPr>
          <a:lstStyle/>
          <a:p>
            <a:pPr algn="ctr">
              <a:defRPr sz="1500" b="0">
                <a:solidFill>
                  <a:srgbClr val="566572"/>
                </a:solidFill>
                <a:latin typeface="Noto Sans"/>
              </a:defRPr>
            </a:pPr>
            <a:r>
              <a:rPr/>
              <a:t>…</a:t>
            </a:r>
            <a:endParaRPr/>
          </a:p>
        </p:txBody>
      </p:sp>
      <p:sp>
        <p:nvSpPr>
          <p:cNvPr id="725816220" name="TextBox 57"/>
          <p:cNvSpPr txBox="1"/>
          <p:nvPr/>
        </p:nvSpPr>
        <p:spPr bwMode="auto">
          <a:xfrm>
            <a:off x="877824" y="4837174"/>
            <a:ext cx="786384" cy="164592"/>
          </a:xfrm>
          <a:prstGeom prst="rect">
            <a:avLst/>
          </a:prstGeom>
          <a:noFill/>
        </p:spPr>
        <p:txBody>
          <a:bodyPr wrap="square" lIns="36576" tIns="0" rIns="36576" bIns="0" anchor="t">
            <a:spAutoFit/>
          </a:bodyPr>
          <a:lstStyle/>
          <a:p>
            <a:pPr algn="r">
              <a:defRPr sz="850" b="0">
                <a:solidFill>
                  <a:srgbClr val="566572"/>
                </a:solidFill>
                <a:latin typeface="Noto Sans"/>
              </a:defRPr>
            </a:pPr>
            <a:r>
              <a:rPr/>
              <a:t>mesh 05</a:t>
            </a:r>
            <a:endParaRPr/>
          </a:p>
        </p:txBody>
      </p:sp>
      <p:sp>
        <p:nvSpPr>
          <p:cNvPr id="2087559416" name="Oval 58"/>
          <p:cNvSpPr/>
          <p:nvPr/>
        </p:nvSpPr>
        <p:spPr bwMode="auto">
          <a:xfrm>
            <a:off x="182880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16232569" name="Oval 59"/>
          <p:cNvSpPr/>
          <p:nvPr/>
        </p:nvSpPr>
        <p:spPr bwMode="auto">
          <a:xfrm>
            <a:off x="224028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55100989" name="Oval 60"/>
          <p:cNvSpPr/>
          <p:nvPr/>
        </p:nvSpPr>
        <p:spPr bwMode="auto">
          <a:xfrm>
            <a:off x="265176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64836998" name="Oval 61"/>
          <p:cNvSpPr/>
          <p:nvPr/>
        </p:nvSpPr>
        <p:spPr bwMode="auto">
          <a:xfrm>
            <a:off x="306324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807390" name="Oval 62"/>
          <p:cNvSpPr/>
          <p:nvPr/>
        </p:nvSpPr>
        <p:spPr bwMode="auto">
          <a:xfrm>
            <a:off x="347472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61916613" name="Oval 63"/>
          <p:cNvSpPr/>
          <p:nvPr/>
        </p:nvSpPr>
        <p:spPr bwMode="auto">
          <a:xfrm>
            <a:off x="388620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44119695" name="Oval 64"/>
          <p:cNvSpPr/>
          <p:nvPr/>
        </p:nvSpPr>
        <p:spPr bwMode="auto">
          <a:xfrm>
            <a:off x="429768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45655124" name="Oval 65"/>
          <p:cNvSpPr/>
          <p:nvPr/>
        </p:nvSpPr>
        <p:spPr bwMode="auto">
          <a:xfrm>
            <a:off x="470916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81567105" name="Oval 66"/>
          <p:cNvSpPr/>
          <p:nvPr/>
        </p:nvSpPr>
        <p:spPr bwMode="auto">
          <a:xfrm>
            <a:off x="5120640" y="4745736"/>
            <a:ext cx="228600" cy="228600"/>
          </a:xfrm>
          <a:prstGeom prst="ellipse">
            <a:avLst/>
          </a:prstGeom>
          <a:solidFill>
            <a:srgbClr val="E0EFF9"/>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46904082" name="Oval 67"/>
          <p:cNvSpPr/>
          <p:nvPr/>
        </p:nvSpPr>
        <p:spPr bwMode="auto">
          <a:xfrm>
            <a:off x="5532120" y="4745736"/>
            <a:ext cx="228600" cy="228600"/>
          </a:xfrm>
          <a:prstGeom prst="ellipse">
            <a:avLst/>
          </a:prstGeom>
          <a:solidFill>
            <a:srgbClr val="CFE5F3"/>
          </a:solidFill>
          <a:ln w="12700">
            <a:solidFill>
              <a:srgbClr val="9E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14350220" name="TextBox 68"/>
          <p:cNvSpPr txBox="1"/>
          <p:nvPr/>
        </p:nvSpPr>
        <p:spPr bwMode="auto">
          <a:xfrm>
            <a:off x="6062470" y="4754878"/>
            <a:ext cx="274320" cy="182880"/>
          </a:xfrm>
          <a:prstGeom prst="rect">
            <a:avLst/>
          </a:prstGeom>
          <a:noFill/>
        </p:spPr>
        <p:txBody>
          <a:bodyPr wrap="square" lIns="36576" tIns="0" rIns="36576" bIns="0" anchor="t">
            <a:spAutoFit/>
          </a:bodyPr>
          <a:lstStyle/>
          <a:p>
            <a:pPr algn="ctr">
              <a:defRPr sz="1500" b="0">
                <a:solidFill>
                  <a:srgbClr val="566572"/>
                </a:solidFill>
                <a:latin typeface="Noto Sans"/>
              </a:defRPr>
            </a:pPr>
            <a:r>
              <a:rPr/>
              <a:t>…</a:t>
            </a:r>
            <a:endParaRPr/>
          </a:p>
        </p:txBody>
      </p:sp>
      <p:sp>
        <p:nvSpPr>
          <p:cNvPr id="942823423" name="TextBox 69"/>
          <p:cNvSpPr txBox="1"/>
          <p:nvPr/>
        </p:nvSpPr>
        <p:spPr bwMode="auto">
          <a:xfrm>
            <a:off x="877824" y="5468112"/>
            <a:ext cx="786384" cy="219456"/>
          </a:xfrm>
          <a:prstGeom prst="rect">
            <a:avLst/>
          </a:prstGeom>
          <a:noFill/>
        </p:spPr>
        <p:txBody>
          <a:bodyPr wrap="square" lIns="36576" tIns="0" rIns="36576" bIns="0" anchor="t">
            <a:spAutoFit/>
          </a:bodyPr>
          <a:lstStyle/>
          <a:p>
            <a:pPr algn="r">
              <a:defRPr sz="1600" b="0">
                <a:solidFill>
                  <a:srgbClr val="566572"/>
                </a:solidFill>
                <a:latin typeface="Noto Sans"/>
              </a:defRPr>
            </a:pPr>
            <a:r>
              <a:rPr/>
              <a:t>⋮</a:t>
            </a:r>
            <a:endParaRPr/>
          </a:p>
        </p:txBody>
      </p:sp>
      <p:sp>
        <p:nvSpPr>
          <p:cNvPr id="1505058578" name="TextBox 70"/>
          <p:cNvSpPr txBox="1"/>
          <p:nvPr/>
        </p:nvSpPr>
        <p:spPr bwMode="auto">
          <a:xfrm>
            <a:off x="1819656" y="5422392"/>
            <a:ext cx="4480560" cy="274320"/>
          </a:xfrm>
          <a:prstGeom prst="rect">
            <a:avLst/>
          </a:prstGeom>
          <a:noFill/>
        </p:spPr>
        <p:txBody>
          <a:bodyPr wrap="square" lIns="36576" tIns="0" rIns="36576" bIns="0" anchor="t">
            <a:spAutoFit/>
          </a:bodyPr>
          <a:lstStyle/>
          <a:p>
            <a:pPr algn="ctr">
              <a:defRPr sz="1100" b="1">
                <a:solidFill>
                  <a:srgbClr val="194874"/>
                </a:solidFill>
                <a:latin typeface="Noto Sans"/>
              </a:defRPr>
            </a:pPr>
            <a:r>
              <a:rPr/>
              <a:t>40 repeats conditional on the same geometry</a:t>
            </a:r>
            <a:endParaRPr/>
          </a:p>
        </p:txBody>
      </p:sp>
      <p:sp>
        <p:nvSpPr>
          <p:cNvPr id="2015470311" name="TextBox 79"/>
          <p:cNvSpPr txBox="1"/>
          <p:nvPr/>
        </p:nvSpPr>
        <p:spPr bwMode="auto">
          <a:xfrm>
            <a:off x="4572000" y="6556248"/>
            <a:ext cx="6263640" cy="155447"/>
          </a:xfrm>
          <a:prstGeom prst="rect">
            <a:avLst/>
          </a:prstGeom>
          <a:noFill/>
        </p:spPr>
        <p:txBody>
          <a:bodyPr wrap="square" lIns="36576" tIns="0" rIns="36576" bIns="0" anchor="t">
            <a:spAutoFit/>
          </a:bodyPr>
          <a:lstStyle/>
          <a:p>
            <a:pPr algn="r">
              <a:defRPr sz="650" b="0">
                <a:solidFill>
                  <a:srgbClr val="566572"/>
                </a:solidFill>
                <a:latin typeface="Noto Sans"/>
              </a:defRPr>
            </a:pPr>
            <a:r>
              <a:rPr/>
              <a:t>One fixed participant and target • 40 independently generated meshes • 40 complete solutions per mesh</a:t>
            </a:r>
            <a:endParaRPr/>
          </a:p>
        </p:txBody>
      </p:sp>
      <p:sp>
        <p:nvSpPr>
          <p:cNvPr id="1800934968" name="Rounded Rectangle 80"/>
          <p:cNvSpPr/>
          <p:nvPr/>
        </p:nvSpPr>
        <p:spPr bwMode="auto">
          <a:xfrm>
            <a:off x="7223760" y="1353312"/>
            <a:ext cx="4389120" cy="1307592"/>
          </a:xfrm>
          <a:prstGeom prst="roundRect">
            <a:avLst>
              <a:gd name="adj" fmla="val 16667"/>
            </a:avLst>
          </a:prstGeom>
          <a:solidFill>
            <a:srgbClr val="E0EFF9"/>
          </a:solidFill>
          <a:ln w="10160">
            <a:solidFill>
              <a:srgbClr val="194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09145913" name="Rectangle 81"/>
          <p:cNvSpPr/>
          <p:nvPr/>
        </p:nvSpPr>
        <p:spPr bwMode="auto">
          <a:xfrm>
            <a:off x="7223760" y="1353312"/>
            <a:ext cx="73152" cy="1307592"/>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65080000" name="TextBox 82"/>
          <p:cNvSpPr txBox="1"/>
          <p:nvPr/>
        </p:nvSpPr>
        <p:spPr bwMode="auto">
          <a:xfrm>
            <a:off x="7498078" y="1517904"/>
            <a:ext cx="2468880" cy="182880"/>
          </a:xfrm>
          <a:prstGeom prst="rect">
            <a:avLst/>
          </a:prstGeom>
          <a:noFill/>
        </p:spPr>
        <p:txBody>
          <a:bodyPr wrap="square" lIns="36576" tIns="0" rIns="36576" bIns="0" anchor="t">
            <a:spAutoFit/>
          </a:bodyPr>
          <a:lstStyle/>
          <a:p>
            <a:pPr algn="l">
              <a:defRPr sz="900" b="1">
                <a:solidFill>
                  <a:srgbClr val="194874"/>
                </a:solidFill>
                <a:latin typeface="Noto Sans"/>
              </a:defRPr>
            </a:pPr>
            <a:r>
              <a:rPr/>
              <a:t>BALANCED</a:t>
            </a:r>
            <a:endParaRPr/>
          </a:p>
        </p:txBody>
      </p:sp>
      <p:sp>
        <p:nvSpPr>
          <p:cNvPr id="513000126" name="TextBox 83"/>
          <p:cNvSpPr txBox="1"/>
          <p:nvPr/>
        </p:nvSpPr>
        <p:spPr bwMode="auto">
          <a:xfrm>
            <a:off x="7498078" y="1783080"/>
            <a:ext cx="3657600" cy="347471"/>
          </a:xfrm>
          <a:prstGeom prst="rect">
            <a:avLst/>
          </a:prstGeom>
          <a:noFill/>
        </p:spPr>
        <p:txBody>
          <a:bodyPr wrap="square" lIns="36576" tIns="0" rIns="36576" bIns="0" anchor="t">
            <a:spAutoFit/>
          </a:bodyPr>
          <a:lstStyle/>
          <a:p>
            <a:pPr algn="l">
              <a:defRPr sz="1500" b="1">
                <a:solidFill>
                  <a:srgbClr val="0C1E30"/>
                </a:solidFill>
                <a:latin typeface="Noto Sans"/>
              </a:defRPr>
            </a:pPr>
            <a:r>
              <a:rPr/>
              <a:t>40 meshes × 40 solutions</a:t>
            </a:r>
            <a:endParaRPr/>
          </a:p>
        </p:txBody>
      </p:sp>
      <p:sp>
        <p:nvSpPr>
          <p:cNvPr id="1783749308" name="TextBox 84"/>
          <p:cNvSpPr txBox="1"/>
          <p:nvPr/>
        </p:nvSpPr>
        <p:spPr bwMode="auto">
          <a:xfrm>
            <a:off x="7498078" y="2231136"/>
            <a:ext cx="3657600" cy="310895"/>
          </a:xfrm>
          <a:prstGeom prst="rect">
            <a:avLst/>
          </a:prstGeom>
          <a:noFill/>
        </p:spPr>
        <p:txBody>
          <a:bodyPr wrap="square" lIns="36576" tIns="0" rIns="36576" bIns="0" anchor="t">
            <a:spAutoFit/>
          </a:bodyPr>
          <a:lstStyle/>
          <a:p>
            <a:pPr algn="l">
              <a:defRPr sz="950" b="0">
                <a:solidFill>
                  <a:srgbClr val="566572"/>
                </a:solidFill>
                <a:latin typeface="Noto Sans"/>
              </a:defRPr>
            </a:pPr>
            <a:r>
              <a:rPr/>
              <a:t>Every mesh contributes the same number of observations and therefore has equal weight.</a:t>
            </a:r>
            <a:endParaRPr/>
          </a:p>
        </p:txBody>
      </p:sp>
      <p:sp>
        <p:nvSpPr>
          <p:cNvPr id="112294407" name="Rounded Rectangle 85"/>
          <p:cNvSpPr/>
          <p:nvPr/>
        </p:nvSpPr>
        <p:spPr bwMode="auto">
          <a:xfrm>
            <a:off x="7223760" y="2816352"/>
            <a:ext cx="4389120" cy="1307592"/>
          </a:xfrm>
          <a:prstGeom prst="roundRect">
            <a:avLst>
              <a:gd name="adj" fmla="val 16667"/>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93499512" name="Rectangle 86"/>
          <p:cNvSpPr/>
          <p:nvPr/>
        </p:nvSpPr>
        <p:spPr bwMode="auto">
          <a:xfrm>
            <a:off x="7223760" y="2816352"/>
            <a:ext cx="73152" cy="1307592"/>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30067027" name="TextBox 87"/>
          <p:cNvSpPr txBox="1"/>
          <p:nvPr/>
        </p:nvSpPr>
        <p:spPr bwMode="auto">
          <a:xfrm>
            <a:off x="7498078" y="2980944"/>
            <a:ext cx="2468880" cy="182880"/>
          </a:xfrm>
          <a:prstGeom prst="rect">
            <a:avLst/>
          </a:prstGeom>
          <a:noFill/>
        </p:spPr>
        <p:txBody>
          <a:bodyPr wrap="square" lIns="36576" tIns="0" rIns="36576" bIns="0" anchor="t">
            <a:spAutoFit/>
          </a:bodyPr>
          <a:lstStyle/>
          <a:p>
            <a:pPr algn="l">
              <a:defRPr sz="900" b="1">
                <a:solidFill>
                  <a:srgbClr val="1B8B7E"/>
                </a:solidFill>
                <a:latin typeface="Noto Sans"/>
              </a:defRPr>
            </a:pPr>
            <a:r>
              <a:rPr/>
              <a:t>NESTED</a:t>
            </a:r>
            <a:endParaRPr/>
          </a:p>
        </p:txBody>
      </p:sp>
      <p:sp>
        <p:nvSpPr>
          <p:cNvPr id="1215566513" name="TextBox 88"/>
          <p:cNvSpPr txBox="1"/>
          <p:nvPr/>
        </p:nvSpPr>
        <p:spPr bwMode="auto">
          <a:xfrm>
            <a:off x="7498078" y="3246120"/>
            <a:ext cx="3657600" cy="347471"/>
          </a:xfrm>
          <a:prstGeom prst="rect">
            <a:avLst/>
          </a:prstGeom>
          <a:noFill/>
        </p:spPr>
        <p:txBody>
          <a:bodyPr wrap="square" lIns="36576" tIns="0" rIns="36576" bIns="0" anchor="t">
            <a:spAutoFit/>
          </a:bodyPr>
          <a:lstStyle/>
          <a:p>
            <a:pPr algn="l">
              <a:defRPr sz="1500" b="1">
                <a:solidFill>
                  <a:srgbClr val="0C1E30"/>
                </a:solidFill>
                <a:latin typeface="Noto Sans"/>
              </a:defRPr>
            </a:pPr>
            <a:r>
              <a:rPr/>
              <a:t>Each solution belongs to one mesh</a:t>
            </a:r>
            <a:endParaRPr/>
          </a:p>
        </p:txBody>
      </p:sp>
      <p:sp>
        <p:nvSpPr>
          <p:cNvPr id="1808261190" name="TextBox 89"/>
          <p:cNvSpPr txBox="1"/>
          <p:nvPr/>
        </p:nvSpPr>
        <p:spPr bwMode="auto">
          <a:xfrm>
            <a:off x="7498078" y="3694176"/>
            <a:ext cx="3657600" cy="310895"/>
          </a:xfrm>
          <a:prstGeom prst="rect">
            <a:avLst/>
          </a:prstGeom>
          <a:noFill/>
        </p:spPr>
        <p:txBody>
          <a:bodyPr wrap="square" lIns="36576" tIns="0" rIns="36576" bIns="0" anchor="t">
            <a:spAutoFit/>
          </a:bodyPr>
          <a:lstStyle/>
          <a:p>
            <a:pPr algn="l">
              <a:defRPr sz="950" b="0">
                <a:solidFill>
                  <a:srgbClr val="566572"/>
                </a:solidFill>
                <a:latin typeface="Noto Sans"/>
              </a:defRPr>
            </a:pPr>
            <a:r>
              <a:rPr/>
              <a:t>Within-mesh comparisons hold the geometry fixed; mesh means are compared across geometries.</a:t>
            </a:r>
            <a:endParaRPr/>
          </a:p>
        </p:txBody>
      </p:sp>
      <p:sp>
        <p:nvSpPr>
          <p:cNvPr id="376099446" name="Rounded Rectangle 90"/>
          <p:cNvSpPr/>
          <p:nvPr/>
        </p:nvSpPr>
        <p:spPr bwMode="auto">
          <a:xfrm>
            <a:off x="7223760" y="4279392"/>
            <a:ext cx="4389120" cy="1307592"/>
          </a:xfrm>
          <a:prstGeom prst="roundRect">
            <a:avLst>
              <a:gd name="adj" fmla="val 16667"/>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69783425" name="Rectangle 91"/>
          <p:cNvSpPr/>
          <p:nvPr/>
        </p:nvSpPr>
        <p:spPr bwMode="auto">
          <a:xfrm>
            <a:off x="7223760" y="4279392"/>
            <a:ext cx="73152" cy="1307592"/>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18866133" name="TextBox 92"/>
          <p:cNvSpPr txBox="1"/>
          <p:nvPr/>
        </p:nvSpPr>
        <p:spPr bwMode="auto">
          <a:xfrm>
            <a:off x="7498078" y="4443982"/>
            <a:ext cx="2468880" cy="182880"/>
          </a:xfrm>
          <a:prstGeom prst="rect">
            <a:avLst/>
          </a:prstGeom>
          <a:noFill/>
        </p:spPr>
        <p:txBody>
          <a:bodyPr wrap="square" lIns="36576" tIns="0" rIns="36576" bIns="0" anchor="t">
            <a:spAutoFit/>
          </a:bodyPr>
          <a:lstStyle/>
          <a:p>
            <a:pPr algn="l">
              <a:defRPr sz="900" b="1">
                <a:solidFill>
                  <a:srgbClr val="C25B23"/>
                </a:solidFill>
                <a:latin typeface="Noto Sans"/>
              </a:defRPr>
            </a:pPr>
            <a:r>
              <a:rPr/>
              <a:t>RANDOM MESH EFFECT</a:t>
            </a:r>
            <a:endParaRPr/>
          </a:p>
        </p:txBody>
      </p:sp>
      <p:sp>
        <p:nvSpPr>
          <p:cNvPr id="1072206586" name="TextBox 93"/>
          <p:cNvSpPr txBox="1"/>
          <p:nvPr/>
        </p:nvSpPr>
        <p:spPr bwMode="auto">
          <a:xfrm>
            <a:off x="7498078" y="4709158"/>
            <a:ext cx="3657600" cy="347471"/>
          </a:xfrm>
          <a:prstGeom prst="rect">
            <a:avLst/>
          </a:prstGeom>
          <a:noFill/>
        </p:spPr>
        <p:txBody>
          <a:bodyPr wrap="square" lIns="36576" tIns="0" rIns="36576" bIns="0" anchor="t">
            <a:spAutoFit/>
          </a:bodyPr>
          <a:lstStyle/>
          <a:p>
            <a:pPr algn="l">
              <a:defRPr sz="1500" b="1">
                <a:solidFill>
                  <a:srgbClr val="0C1E30"/>
                </a:solidFill>
                <a:latin typeface="Noto Sans"/>
              </a:defRPr>
            </a:pPr>
            <a:r>
              <a:rPr/>
              <a:t>Meshes are sampled realizations</a:t>
            </a:r>
            <a:endParaRPr/>
          </a:p>
        </p:txBody>
      </p:sp>
      <p:sp>
        <p:nvSpPr>
          <p:cNvPr id="1116020375" name="TextBox 94"/>
          <p:cNvSpPr txBox="1"/>
          <p:nvPr/>
        </p:nvSpPr>
        <p:spPr bwMode="auto">
          <a:xfrm>
            <a:off x="7498078" y="5157216"/>
            <a:ext cx="3657600" cy="310895"/>
          </a:xfrm>
          <a:prstGeom prst="rect">
            <a:avLst/>
          </a:prstGeom>
          <a:noFill/>
        </p:spPr>
        <p:txBody>
          <a:bodyPr wrap="square" lIns="36576" tIns="0" rIns="36576" bIns="0" anchor="t">
            <a:spAutoFit/>
          </a:bodyPr>
          <a:lstStyle/>
          <a:p>
            <a:pPr algn="l">
              <a:defRPr sz="950" b="0">
                <a:solidFill>
                  <a:srgbClr val="566572"/>
                </a:solidFill>
                <a:latin typeface="Noto Sans"/>
              </a:defRPr>
            </a:pPr>
            <a:r>
              <a:rPr/>
              <a:t>The goal is to estimate pipeline variability—not to compare named meshes as conditions.</a:t>
            </a:r>
            <a:endParaRPr/>
          </a:p>
        </p:txBody>
      </p:sp>
      <p:sp>
        <p:nvSpPr>
          <p:cNvPr id="1107492850" name="Rounded Rectangle 95"/>
          <p:cNvSpPr/>
          <p:nvPr/>
        </p:nvSpPr>
        <p:spPr bwMode="auto">
          <a:xfrm>
            <a:off x="7223760" y="5751576"/>
            <a:ext cx="4389120" cy="466344"/>
          </a:xfrm>
          <a:prstGeom prst="roundRect">
            <a:avLst>
              <a:gd name="adj" fmla="val 16667"/>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34871149" name="TextBox 96"/>
          <p:cNvSpPr txBox="1"/>
          <p:nvPr/>
        </p:nvSpPr>
        <p:spPr bwMode="auto">
          <a:xfrm>
            <a:off x="7424926" y="5852160"/>
            <a:ext cx="3977638" cy="237744"/>
          </a:xfrm>
          <a:prstGeom prst="rect">
            <a:avLst/>
          </a:prstGeom>
          <a:noFill/>
        </p:spPr>
        <p:txBody>
          <a:bodyPr wrap="square" lIns="36576" tIns="0" rIns="36576" bIns="0" anchor="t">
            <a:spAutoFit/>
          </a:bodyPr>
          <a:lstStyle/>
          <a:p>
            <a:pPr algn="ctr">
              <a:defRPr sz="1000" b="1">
                <a:solidFill>
                  <a:srgbClr val="1D2730"/>
                </a:solidFill>
                <a:latin typeface="Noto Sans"/>
              </a:defRPr>
            </a:pPr>
            <a:r>
              <a:rPr/>
              <a:t>Two questions: how far apart are mesh means, and how tightly do repeats cluster within a mesh?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8FA"/>
        </a:solidFill>
      </p:bgPr>
    </p:bg>
    <p:spTree>
      <p:nvGrpSpPr>
        <p:cNvPr id="1" name=""/>
        <p:cNvGrpSpPr/>
        <p:nvPr/>
      </p:nvGrpSpPr>
      <p:grpSpPr bwMode="auto">
        <a:xfrm>
          <a:off x="0" y="0"/>
          <a:ext cx="0" cy="0"/>
          <a:chOff x="0" y="0"/>
          <a:chExt cx="0" cy="0"/>
        </a:xfrm>
      </p:grpSpPr>
      <p:sp>
        <p:nvSpPr>
          <p:cNvPr id="1611727352"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RANDOM-EFFECTS MODEL</a:t>
            </a:r>
            <a:endParaRPr/>
          </a:p>
        </p:txBody>
      </p:sp>
      <p:sp>
        <p:nvSpPr>
          <p:cNvPr id="269395132"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The model separates between-mesh from within-mesh variation</a:t>
            </a:r>
            <a:endParaRPr/>
          </a:p>
        </p:txBody>
      </p:sp>
      <p:cxnSp>
        <p:nvCxnSpPr>
          <p:cNvPr id="630369792"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333154881"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11</a:t>
            </a:r>
            <a:endParaRPr/>
          </a:p>
        </p:txBody>
      </p:sp>
      <p:sp>
        <p:nvSpPr>
          <p:cNvPr id="1383871104" name="Rounded Rectangle 6"/>
          <p:cNvSpPr/>
          <p:nvPr/>
        </p:nvSpPr>
        <p:spPr bwMode="auto">
          <a:xfrm>
            <a:off x="612648" y="1335024"/>
            <a:ext cx="10963656" cy="1325880"/>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43717579" name="TextBox 7"/>
          <p:cNvSpPr txBox="1"/>
          <p:nvPr/>
        </p:nvSpPr>
        <p:spPr bwMode="auto">
          <a:xfrm>
            <a:off x="859536" y="1517904"/>
            <a:ext cx="1920240" cy="164592"/>
          </a:xfrm>
          <a:prstGeom prst="rect">
            <a:avLst/>
          </a:prstGeom>
          <a:noFill/>
        </p:spPr>
        <p:txBody>
          <a:bodyPr wrap="square" lIns="36576" tIns="0" rIns="36576" bIns="0" anchor="t">
            <a:spAutoFit/>
          </a:bodyPr>
          <a:lstStyle/>
          <a:p>
            <a:pPr algn="l">
              <a:defRPr sz="900" b="1">
                <a:solidFill>
                  <a:srgbClr val="566572"/>
                </a:solidFill>
                <a:latin typeface="Noto Sans"/>
              </a:defRPr>
            </a:pPr>
            <a:r>
              <a:rPr/>
              <a:t>ONE OBSERVED ROI FIELD</a:t>
            </a:r>
            <a:endParaRPr/>
          </a:p>
        </p:txBody>
      </p:sp>
      <p:sp>
        <p:nvSpPr>
          <p:cNvPr id="143487410" name="Rounded Rectangle 8"/>
          <p:cNvSpPr/>
          <p:nvPr/>
        </p:nvSpPr>
        <p:spPr bwMode="auto">
          <a:xfrm>
            <a:off x="859536" y="1773936"/>
            <a:ext cx="1627632" cy="512064"/>
          </a:xfrm>
          <a:prstGeom prst="roundRect">
            <a:avLst>
              <a:gd name="adj" fmla="val 16667"/>
            </a:avLst>
          </a:prstGeom>
          <a:solidFill>
            <a:srgbClr val="F6F8FA"/>
          </a:solidFill>
          <a:ln w="10160">
            <a:solidFill>
              <a:srgbClr val="0C1E3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13683683" name="TextBox 9"/>
          <p:cNvSpPr txBox="1"/>
          <p:nvPr/>
        </p:nvSpPr>
        <p:spPr bwMode="auto">
          <a:xfrm>
            <a:off x="932688" y="1929384"/>
            <a:ext cx="1481328" cy="201168"/>
          </a:xfrm>
          <a:prstGeom prst="rect">
            <a:avLst/>
          </a:prstGeom>
          <a:noFill/>
        </p:spPr>
        <p:txBody>
          <a:bodyPr wrap="square" lIns="36576" tIns="0" rIns="36576" bIns="0" anchor="t">
            <a:spAutoFit/>
          </a:bodyPr>
          <a:lstStyle/>
          <a:p>
            <a:pPr algn="ctr">
              <a:defRPr sz="1200" b="1">
                <a:solidFill>
                  <a:srgbClr val="0C1E30"/>
                </a:solidFill>
                <a:latin typeface="Noto Sans"/>
              </a:defRPr>
            </a:pPr>
            <a:r>
              <a:rPr/>
              <a:t>observed field</a:t>
            </a:r>
            <a:endParaRPr/>
          </a:p>
        </p:txBody>
      </p:sp>
      <p:sp>
        <p:nvSpPr>
          <p:cNvPr id="687399990" name="TextBox 10"/>
          <p:cNvSpPr txBox="1"/>
          <p:nvPr/>
        </p:nvSpPr>
        <p:spPr bwMode="auto">
          <a:xfrm>
            <a:off x="2578608" y="1883664"/>
            <a:ext cx="310896" cy="256032"/>
          </a:xfrm>
          <a:prstGeom prst="rect">
            <a:avLst/>
          </a:prstGeom>
          <a:noFill/>
        </p:spPr>
        <p:txBody>
          <a:bodyPr wrap="square" lIns="36576" tIns="0" rIns="36576" bIns="0" anchor="t">
            <a:spAutoFit/>
          </a:bodyPr>
          <a:lstStyle/>
          <a:p>
            <a:pPr algn="ctr">
              <a:defRPr sz="2000" b="1">
                <a:solidFill>
                  <a:srgbClr val="566572"/>
                </a:solidFill>
                <a:latin typeface="Noto Sans"/>
              </a:defRPr>
            </a:pPr>
            <a:r>
              <a:rPr/>
              <a:t>=</a:t>
            </a:r>
            <a:endParaRPr/>
          </a:p>
        </p:txBody>
      </p:sp>
      <p:sp>
        <p:nvSpPr>
          <p:cNvPr id="2040717116" name="Rounded Rectangle 11"/>
          <p:cNvSpPr/>
          <p:nvPr/>
        </p:nvSpPr>
        <p:spPr bwMode="auto">
          <a:xfrm>
            <a:off x="2971800" y="1773936"/>
            <a:ext cx="1847088" cy="512064"/>
          </a:xfrm>
          <a:prstGeom prst="roundRect">
            <a:avLst>
              <a:gd name="adj" fmla="val 16667"/>
            </a:avLst>
          </a:prstGeom>
          <a:solidFill>
            <a:srgbClr val="E0EFF9"/>
          </a:solidFill>
          <a:ln w="10160">
            <a:solidFill>
              <a:srgbClr val="194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35356733" name="TextBox 12"/>
          <p:cNvSpPr txBox="1"/>
          <p:nvPr/>
        </p:nvSpPr>
        <p:spPr bwMode="auto">
          <a:xfrm>
            <a:off x="3044952" y="1929384"/>
            <a:ext cx="1700784" cy="201168"/>
          </a:xfrm>
          <a:prstGeom prst="rect">
            <a:avLst/>
          </a:prstGeom>
          <a:noFill/>
        </p:spPr>
        <p:txBody>
          <a:bodyPr wrap="square" lIns="36576" tIns="0" rIns="36576" bIns="0" anchor="t">
            <a:spAutoFit/>
          </a:bodyPr>
          <a:lstStyle/>
          <a:p>
            <a:pPr algn="ctr">
              <a:defRPr sz="1200" b="1">
                <a:solidFill>
                  <a:srgbClr val="194874"/>
                </a:solidFill>
                <a:latin typeface="Noto Sans"/>
              </a:defRPr>
            </a:pPr>
            <a:r>
              <a:rPr/>
              <a:t>overall mean</a:t>
            </a:r>
            <a:endParaRPr/>
          </a:p>
        </p:txBody>
      </p:sp>
      <p:sp>
        <p:nvSpPr>
          <p:cNvPr id="461354507" name="TextBox 13"/>
          <p:cNvSpPr txBox="1"/>
          <p:nvPr/>
        </p:nvSpPr>
        <p:spPr bwMode="auto">
          <a:xfrm>
            <a:off x="4919470" y="1883664"/>
            <a:ext cx="310896" cy="256032"/>
          </a:xfrm>
          <a:prstGeom prst="rect">
            <a:avLst/>
          </a:prstGeom>
          <a:noFill/>
        </p:spPr>
        <p:txBody>
          <a:bodyPr wrap="square" lIns="36576" tIns="0" rIns="36576" bIns="0" anchor="t">
            <a:spAutoFit/>
          </a:bodyPr>
          <a:lstStyle/>
          <a:p>
            <a:pPr algn="ctr">
              <a:defRPr sz="2000" b="1">
                <a:solidFill>
                  <a:srgbClr val="566572"/>
                </a:solidFill>
                <a:latin typeface="Noto Sans"/>
              </a:defRPr>
            </a:pPr>
            <a:r>
              <a:rPr/>
              <a:t>+</a:t>
            </a:r>
            <a:endParaRPr/>
          </a:p>
        </p:txBody>
      </p:sp>
      <p:sp>
        <p:nvSpPr>
          <p:cNvPr id="1865316652" name="Rounded Rectangle 14"/>
          <p:cNvSpPr/>
          <p:nvPr/>
        </p:nvSpPr>
        <p:spPr bwMode="auto">
          <a:xfrm>
            <a:off x="5321808" y="1773936"/>
            <a:ext cx="2304288" cy="512064"/>
          </a:xfrm>
          <a:prstGeom prst="roundRect">
            <a:avLst>
              <a:gd name="adj" fmla="val 16667"/>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69676211" name="TextBox 15"/>
          <p:cNvSpPr txBox="1"/>
          <p:nvPr/>
        </p:nvSpPr>
        <p:spPr bwMode="auto">
          <a:xfrm>
            <a:off x="5394960" y="1929384"/>
            <a:ext cx="2157984" cy="201168"/>
          </a:xfrm>
          <a:prstGeom prst="rect">
            <a:avLst/>
          </a:prstGeom>
          <a:noFill/>
        </p:spPr>
        <p:txBody>
          <a:bodyPr wrap="square" lIns="36576" tIns="0" rIns="36576" bIns="0" anchor="t">
            <a:spAutoFit/>
          </a:bodyPr>
          <a:lstStyle/>
          <a:p>
            <a:pPr algn="ctr">
              <a:defRPr sz="1200" b="1">
                <a:solidFill>
                  <a:srgbClr val="C25B23"/>
                </a:solidFill>
                <a:latin typeface="Noto Sans"/>
              </a:defRPr>
            </a:pPr>
            <a:r>
              <a:rPr/>
              <a:t>mesh-specific shift</a:t>
            </a:r>
            <a:endParaRPr/>
          </a:p>
        </p:txBody>
      </p:sp>
      <p:sp>
        <p:nvSpPr>
          <p:cNvPr id="1322599576" name="TextBox 16"/>
          <p:cNvSpPr txBox="1"/>
          <p:nvPr/>
        </p:nvSpPr>
        <p:spPr bwMode="auto">
          <a:xfrm>
            <a:off x="7726678" y="1883664"/>
            <a:ext cx="310896" cy="256032"/>
          </a:xfrm>
          <a:prstGeom prst="rect">
            <a:avLst/>
          </a:prstGeom>
          <a:noFill/>
        </p:spPr>
        <p:txBody>
          <a:bodyPr wrap="square" lIns="36576" tIns="0" rIns="36576" bIns="0" anchor="t">
            <a:spAutoFit/>
          </a:bodyPr>
          <a:lstStyle/>
          <a:p>
            <a:pPr algn="ctr">
              <a:defRPr sz="2000" b="1">
                <a:solidFill>
                  <a:srgbClr val="566572"/>
                </a:solidFill>
                <a:latin typeface="Noto Sans"/>
              </a:defRPr>
            </a:pPr>
            <a:r>
              <a:rPr/>
              <a:t>+</a:t>
            </a:r>
            <a:endParaRPr/>
          </a:p>
        </p:txBody>
      </p:sp>
      <p:sp>
        <p:nvSpPr>
          <p:cNvPr id="1450752375" name="Rounded Rectangle 17"/>
          <p:cNvSpPr/>
          <p:nvPr/>
        </p:nvSpPr>
        <p:spPr bwMode="auto">
          <a:xfrm>
            <a:off x="8129016" y="1773936"/>
            <a:ext cx="2724910" cy="512064"/>
          </a:xfrm>
          <a:prstGeom prst="roundRect">
            <a:avLst>
              <a:gd name="adj" fmla="val 16667"/>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01432187" name="TextBox 18"/>
          <p:cNvSpPr txBox="1"/>
          <p:nvPr/>
        </p:nvSpPr>
        <p:spPr bwMode="auto">
          <a:xfrm>
            <a:off x="8202168" y="1929384"/>
            <a:ext cx="2578608" cy="201168"/>
          </a:xfrm>
          <a:prstGeom prst="rect">
            <a:avLst/>
          </a:prstGeom>
          <a:noFill/>
        </p:spPr>
        <p:txBody>
          <a:bodyPr wrap="square" lIns="36576" tIns="0" rIns="36576" bIns="0" anchor="t">
            <a:spAutoFit/>
          </a:bodyPr>
          <a:lstStyle/>
          <a:p>
            <a:pPr algn="ctr">
              <a:defRPr sz="1200" b="1">
                <a:solidFill>
                  <a:srgbClr val="1B8B7E"/>
                </a:solidFill>
                <a:latin typeface="Noto Sans"/>
              </a:defRPr>
            </a:pPr>
            <a:r>
              <a:rPr/>
              <a:t>repeat-to-repeat residual</a:t>
            </a:r>
            <a:endParaRPr/>
          </a:p>
        </p:txBody>
      </p:sp>
      <p:sp>
        <p:nvSpPr>
          <p:cNvPr id="1120044941" name="TextBox 19"/>
          <p:cNvSpPr txBox="1"/>
          <p:nvPr/>
        </p:nvSpPr>
        <p:spPr bwMode="auto">
          <a:xfrm>
            <a:off x="859536" y="2386584"/>
            <a:ext cx="10378440" cy="192024"/>
          </a:xfrm>
          <a:prstGeom prst="rect">
            <a:avLst/>
          </a:prstGeom>
          <a:noFill/>
        </p:spPr>
        <p:txBody>
          <a:bodyPr wrap="square" lIns="36576" tIns="0" rIns="36576" bIns="0" anchor="t">
            <a:spAutoFit/>
          </a:bodyPr>
          <a:lstStyle/>
          <a:p>
            <a:pPr algn="ctr">
              <a:defRPr sz="1150" b="1">
                <a:solidFill>
                  <a:srgbClr val="566572"/>
                </a:solidFill>
                <a:latin typeface="Noto Sans"/>
              </a:defRPr>
            </a:pPr>
            <a:r>
              <a:rPr/>
              <a:t>yₘᵣ = μ + uₘ + εₘᵣ</a:t>
            </a:r>
            <a:endParaRPr/>
          </a:p>
        </p:txBody>
      </p:sp>
      <p:sp>
        <p:nvSpPr>
          <p:cNvPr id="891668316" name="Rounded Rectangle 20"/>
          <p:cNvSpPr/>
          <p:nvPr/>
        </p:nvSpPr>
        <p:spPr bwMode="auto">
          <a:xfrm>
            <a:off x="612648" y="2880360"/>
            <a:ext cx="5276088" cy="2276856"/>
          </a:xfrm>
          <a:prstGeom prst="roundRect">
            <a:avLst>
              <a:gd name="adj" fmla="val 16667"/>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69934251" name="TextBox 21"/>
          <p:cNvSpPr txBox="1"/>
          <p:nvPr/>
        </p:nvSpPr>
        <p:spPr bwMode="auto">
          <a:xfrm>
            <a:off x="896112" y="3182112"/>
            <a:ext cx="4023360" cy="237744"/>
          </a:xfrm>
          <a:prstGeom prst="rect">
            <a:avLst/>
          </a:prstGeom>
          <a:noFill/>
        </p:spPr>
        <p:txBody>
          <a:bodyPr wrap="square" lIns="36576" tIns="0" rIns="36576" bIns="0" anchor="t">
            <a:spAutoFit/>
          </a:bodyPr>
          <a:lstStyle/>
          <a:p>
            <a:pPr algn="l">
              <a:defRPr sz="1400" b="1">
                <a:solidFill>
                  <a:srgbClr val="C25B23"/>
                </a:solidFill>
                <a:latin typeface="Noto Sans"/>
              </a:defRPr>
            </a:pPr>
            <a:r>
              <a:rPr/>
              <a:t>BETWEEN MESHES  •  MESH VARIANCE</a:t>
            </a:r>
            <a:endParaRPr/>
          </a:p>
        </p:txBody>
      </p:sp>
      <p:sp>
        <p:nvSpPr>
          <p:cNvPr id="49140000" name="TextBox 22"/>
          <p:cNvSpPr txBox="1"/>
          <p:nvPr/>
        </p:nvSpPr>
        <p:spPr bwMode="auto">
          <a:xfrm>
            <a:off x="896112" y="3575302"/>
            <a:ext cx="4553712" cy="502920"/>
          </a:xfrm>
          <a:prstGeom prst="rect">
            <a:avLst/>
          </a:prstGeom>
          <a:noFill/>
        </p:spPr>
        <p:txBody>
          <a:bodyPr wrap="square" lIns="36576" tIns="0" rIns="36576" bIns="0" anchor="t">
            <a:spAutoFit/>
          </a:bodyPr>
          <a:lstStyle/>
          <a:p>
            <a:pPr algn="l">
              <a:defRPr sz="1700" b="1">
                <a:solidFill>
                  <a:srgbClr val="0C1E30"/>
                </a:solidFill>
                <a:latin typeface="Noto Sans"/>
              </a:defRPr>
            </a:pPr>
            <a:r>
              <a:rPr/>
              <a:t>Do independently generated geometries give different average fields?</a:t>
            </a:r>
            <a:endParaRPr/>
          </a:p>
        </p:txBody>
      </p:sp>
      <p:sp>
        <p:nvSpPr>
          <p:cNvPr id="1950341159" name="TextBox 23"/>
          <p:cNvSpPr txBox="1"/>
          <p:nvPr/>
        </p:nvSpPr>
        <p:spPr bwMode="auto">
          <a:xfrm>
            <a:off x="896112" y="4279392"/>
            <a:ext cx="4526280" cy="228600"/>
          </a:xfrm>
          <a:prstGeom prst="rect">
            <a:avLst/>
          </a:prstGeom>
          <a:noFill/>
        </p:spPr>
        <p:txBody>
          <a:bodyPr wrap="square" lIns="36576" tIns="0" rIns="36576" bIns="0" anchor="t">
            <a:spAutoFit/>
          </a:bodyPr>
          <a:lstStyle/>
          <a:p>
            <a:pPr algn="l">
              <a:defRPr sz="1250" b="0">
                <a:solidFill>
                  <a:srgbClr val="1D2730"/>
                </a:solidFill>
                <a:latin typeface="Noto Sans"/>
              </a:defRPr>
            </a:pPr>
            <a:r>
              <a:rPr/>
              <a:t>1  Average the 40 solutions within each mesh</a:t>
            </a:r>
            <a:endParaRPr/>
          </a:p>
        </p:txBody>
      </p:sp>
      <p:sp>
        <p:nvSpPr>
          <p:cNvPr id="318494325" name="TextBox 24"/>
          <p:cNvSpPr txBox="1"/>
          <p:nvPr/>
        </p:nvSpPr>
        <p:spPr bwMode="auto">
          <a:xfrm>
            <a:off x="896112" y="4617720"/>
            <a:ext cx="4526280" cy="228600"/>
          </a:xfrm>
          <a:prstGeom prst="rect">
            <a:avLst/>
          </a:prstGeom>
          <a:noFill/>
        </p:spPr>
        <p:txBody>
          <a:bodyPr wrap="square" lIns="36576" tIns="0" rIns="36576" bIns="0" anchor="t">
            <a:spAutoFit/>
          </a:bodyPr>
          <a:lstStyle/>
          <a:p>
            <a:pPr algn="l">
              <a:defRPr sz="1250" b="0">
                <a:solidFill>
                  <a:srgbClr val="1D2730"/>
                </a:solidFill>
                <a:latin typeface="Noto Sans"/>
              </a:defRPr>
            </a:pPr>
            <a:r>
              <a:rPr/>
              <a:t>2  Compare the 40 mesh means</a:t>
            </a:r>
            <a:endParaRPr/>
          </a:p>
        </p:txBody>
      </p:sp>
      <p:sp>
        <p:nvSpPr>
          <p:cNvPr id="1972554347" name="TextBox 25"/>
          <p:cNvSpPr txBox="1"/>
          <p:nvPr/>
        </p:nvSpPr>
        <p:spPr bwMode="auto">
          <a:xfrm>
            <a:off x="896112" y="4937760"/>
            <a:ext cx="4553712" cy="182880"/>
          </a:xfrm>
          <a:prstGeom prst="rect">
            <a:avLst/>
          </a:prstGeom>
          <a:noFill/>
        </p:spPr>
        <p:txBody>
          <a:bodyPr wrap="square" lIns="36576" tIns="0" rIns="36576" bIns="0" anchor="t">
            <a:spAutoFit/>
          </a:bodyPr>
          <a:lstStyle/>
          <a:p>
            <a:pPr algn="l">
              <a:defRPr sz="1050" b="1">
                <a:solidFill>
                  <a:srgbClr val="C25B23"/>
                </a:solidFill>
                <a:latin typeface="Noto Sans"/>
              </a:defRPr>
            </a:pPr>
            <a:r>
              <a:rPr/>
              <a:t>Large value → remeshing changes the estimated field</a:t>
            </a:r>
            <a:endParaRPr/>
          </a:p>
        </p:txBody>
      </p:sp>
      <p:sp>
        <p:nvSpPr>
          <p:cNvPr id="273254052" name="Rounded Rectangle 26"/>
          <p:cNvSpPr/>
          <p:nvPr/>
        </p:nvSpPr>
        <p:spPr bwMode="auto">
          <a:xfrm>
            <a:off x="6300216" y="2880360"/>
            <a:ext cx="5276088" cy="2276856"/>
          </a:xfrm>
          <a:prstGeom prst="roundRect">
            <a:avLst>
              <a:gd name="adj" fmla="val 16667"/>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87112319" name="TextBox 27"/>
          <p:cNvSpPr txBox="1"/>
          <p:nvPr/>
        </p:nvSpPr>
        <p:spPr bwMode="auto">
          <a:xfrm>
            <a:off x="6583680" y="3182112"/>
            <a:ext cx="4114800" cy="237744"/>
          </a:xfrm>
          <a:prstGeom prst="rect">
            <a:avLst/>
          </a:prstGeom>
          <a:noFill/>
        </p:spPr>
        <p:txBody>
          <a:bodyPr wrap="square" lIns="36576" tIns="0" rIns="36576" bIns="0" anchor="t">
            <a:spAutoFit/>
          </a:bodyPr>
          <a:lstStyle/>
          <a:p>
            <a:pPr algn="l">
              <a:defRPr sz="1400" b="1">
                <a:solidFill>
                  <a:srgbClr val="1B8B7E"/>
                </a:solidFill>
                <a:latin typeface="Noto Sans"/>
              </a:defRPr>
            </a:pPr>
            <a:r>
              <a:rPr/>
              <a:t>WITHIN A MESH  •  RESIDUAL VARIANCE</a:t>
            </a:r>
            <a:endParaRPr/>
          </a:p>
        </p:txBody>
      </p:sp>
      <p:sp>
        <p:nvSpPr>
          <p:cNvPr id="971519589" name="TextBox 28"/>
          <p:cNvSpPr txBox="1"/>
          <p:nvPr/>
        </p:nvSpPr>
        <p:spPr bwMode="auto">
          <a:xfrm>
            <a:off x="6583680" y="3575302"/>
            <a:ext cx="4553712" cy="502920"/>
          </a:xfrm>
          <a:prstGeom prst="rect">
            <a:avLst/>
          </a:prstGeom>
          <a:noFill/>
        </p:spPr>
        <p:txBody>
          <a:bodyPr wrap="square" lIns="36576" tIns="0" rIns="36576" bIns="0" anchor="t">
            <a:spAutoFit/>
          </a:bodyPr>
          <a:lstStyle/>
          <a:p>
            <a:pPr algn="l">
              <a:defRPr sz="1700" b="1">
                <a:solidFill>
                  <a:srgbClr val="0C1E30"/>
                </a:solidFill>
                <a:latin typeface="Noto Sans"/>
              </a:defRPr>
            </a:pPr>
            <a:r>
              <a:rPr/>
              <a:t>If geometry is fixed, how much do repeated solutions still differ?</a:t>
            </a:r>
            <a:endParaRPr/>
          </a:p>
        </p:txBody>
      </p:sp>
      <p:sp>
        <p:nvSpPr>
          <p:cNvPr id="223053753" name="TextBox 29"/>
          <p:cNvSpPr txBox="1"/>
          <p:nvPr/>
        </p:nvSpPr>
        <p:spPr bwMode="auto">
          <a:xfrm>
            <a:off x="6583680" y="4279392"/>
            <a:ext cx="4526280" cy="228600"/>
          </a:xfrm>
          <a:prstGeom prst="rect">
            <a:avLst/>
          </a:prstGeom>
          <a:noFill/>
        </p:spPr>
        <p:txBody>
          <a:bodyPr wrap="square" lIns="36576" tIns="0" rIns="36576" bIns="0" anchor="t">
            <a:spAutoFit/>
          </a:bodyPr>
          <a:lstStyle/>
          <a:p>
            <a:pPr algn="l">
              <a:defRPr sz="1250" b="0">
                <a:solidFill>
                  <a:srgbClr val="1D2730"/>
                </a:solidFill>
                <a:latin typeface="Noto Sans"/>
              </a:defRPr>
            </a:pPr>
            <a:r>
              <a:rPr/>
              <a:t>1  Compare each solution with its own mesh mean</a:t>
            </a:r>
            <a:endParaRPr/>
          </a:p>
        </p:txBody>
      </p:sp>
      <p:sp>
        <p:nvSpPr>
          <p:cNvPr id="1025509291" name="TextBox 30"/>
          <p:cNvSpPr txBox="1"/>
          <p:nvPr/>
        </p:nvSpPr>
        <p:spPr bwMode="auto">
          <a:xfrm>
            <a:off x="6583680" y="4617720"/>
            <a:ext cx="4526280" cy="228600"/>
          </a:xfrm>
          <a:prstGeom prst="rect">
            <a:avLst/>
          </a:prstGeom>
          <a:noFill/>
        </p:spPr>
        <p:txBody>
          <a:bodyPr wrap="square" lIns="36576" tIns="0" rIns="36576" bIns="0" anchor="t">
            <a:spAutoFit/>
          </a:bodyPr>
          <a:lstStyle/>
          <a:p>
            <a:pPr algn="l">
              <a:defRPr sz="1250" b="0">
                <a:solidFill>
                  <a:srgbClr val="1D2730"/>
                </a:solidFill>
                <a:latin typeface="Noto Sans"/>
              </a:defRPr>
            </a:pPr>
            <a:r>
              <a:rPr/>
              <a:t>2  Pool the remaining within-mesh scatter</a:t>
            </a:r>
            <a:endParaRPr/>
          </a:p>
        </p:txBody>
      </p:sp>
      <p:sp>
        <p:nvSpPr>
          <p:cNvPr id="1851732445" name="TextBox 31"/>
          <p:cNvSpPr txBox="1"/>
          <p:nvPr/>
        </p:nvSpPr>
        <p:spPr bwMode="auto">
          <a:xfrm>
            <a:off x="6583680" y="4937760"/>
            <a:ext cx="4553712" cy="182880"/>
          </a:xfrm>
          <a:prstGeom prst="rect">
            <a:avLst/>
          </a:prstGeom>
          <a:noFill/>
        </p:spPr>
        <p:txBody>
          <a:bodyPr wrap="square" lIns="36576" tIns="0" rIns="36576" bIns="0" anchor="t">
            <a:spAutoFit/>
          </a:bodyPr>
          <a:lstStyle/>
          <a:p>
            <a:pPr algn="l">
              <a:defRPr sz="1050" b="1">
                <a:solidFill>
                  <a:srgbClr val="1B8B7E"/>
                </a:solidFill>
                <a:latin typeface="Noto Sans"/>
              </a:defRPr>
            </a:pPr>
            <a:r>
              <a:rPr/>
              <a:t>Small value → the same mesh solves reproducibly</a:t>
            </a:r>
            <a:endParaRPr/>
          </a:p>
        </p:txBody>
      </p:sp>
      <p:sp>
        <p:nvSpPr>
          <p:cNvPr id="886659082" name="Rounded Rectangle 32"/>
          <p:cNvSpPr/>
          <p:nvPr/>
        </p:nvSpPr>
        <p:spPr bwMode="auto">
          <a:xfrm>
            <a:off x="822960" y="5449822"/>
            <a:ext cx="10533888" cy="612648"/>
          </a:xfrm>
          <a:prstGeom prst="roundRect">
            <a:avLst>
              <a:gd name="adj" fmla="val 16667"/>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1667739" name="TextBox 33"/>
          <p:cNvSpPr txBox="1"/>
          <p:nvPr/>
        </p:nvSpPr>
        <p:spPr bwMode="auto">
          <a:xfrm>
            <a:off x="1078992" y="5650992"/>
            <a:ext cx="10021824" cy="219456"/>
          </a:xfrm>
          <a:prstGeom prst="rect">
            <a:avLst/>
          </a:prstGeom>
          <a:noFill/>
        </p:spPr>
        <p:txBody>
          <a:bodyPr wrap="square" lIns="36576" tIns="0" rIns="36576" bIns="0" anchor="t">
            <a:spAutoFit/>
          </a:bodyPr>
          <a:lstStyle/>
          <a:p>
            <a:pPr algn="ctr">
              <a:defRPr sz="1400" b="1">
                <a:solidFill>
                  <a:srgbClr val="FFFFFF"/>
                </a:solidFill>
                <a:latin typeface="Noto Sans"/>
              </a:defRPr>
            </a:pPr>
            <a:r>
              <a:rPr/>
              <a:t>Total technical variance = mesh variance + within-mesh variance     •     mesh share = mesh variance / total</a:t>
            </a:r>
            <a:endParaRPr/>
          </a:p>
        </p:txBody>
      </p:sp>
      <p:sp>
        <p:nvSpPr>
          <p:cNvPr id="107016641" name="TextBox 34"/>
          <p:cNvSpPr txBox="1"/>
          <p:nvPr/>
        </p:nvSpPr>
        <p:spPr bwMode="auto">
          <a:xfrm>
            <a:off x="841248" y="6181344"/>
            <a:ext cx="10497312" cy="219456"/>
          </a:xfrm>
          <a:prstGeom prst="rect">
            <a:avLst/>
          </a:prstGeom>
          <a:noFill/>
        </p:spPr>
        <p:txBody>
          <a:bodyPr wrap="square" lIns="36576" tIns="0" rIns="36576" bIns="0" anchor="t">
            <a:spAutoFit/>
          </a:bodyPr>
          <a:lstStyle/>
          <a:p>
            <a:pPr algn="ctr">
              <a:defRPr sz="1050" b="1">
                <a:solidFill>
                  <a:srgbClr val="B13A3A"/>
                </a:solidFill>
                <a:latin typeface="Noto Sans"/>
              </a:defRPr>
            </a:pPr>
            <a:r>
              <a:rPr/>
              <a:t>Scope: one fixed participant and target. The model attributes technical variation; it does not estimate population variance.</a:t>
            </a:r>
            <a:endParaRPr/>
          </a:p>
        </p:txBody>
      </p:sp>
      <p:sp>
        <p:nvSpPr>
          <p:cNvPr id="1204295078" name="TextBox 35"/>
          <p:cNvSpPr txBox="1"/>
          <p:nvPr/>
        </p:nvSpPr>
        <p:spPr bwMode="auto">
          <a:xfrm>
            <a:off x="4572000" y="6556248"/>
            <a:ext cx="6263640" cy="155447"/>
          </a:xfrm>
          <a:prstGeom prst="rect">
            <a:avLst/>
          </a:prstGeom>
          <a:noFill/>
        </p:spPr>
        <p:txBody>
          <a:bodyPr wrap="square" lIns="36576" tIns="0" rIns="36576" bIns="0" anchor="t">
            <a:spAutoFit/>
          </a:bodyPr>
          <a:lstStyle/>
          <a:p>
            <a:pPr algn="r">
              <a:defRPr sz="650" b="0">
                <a:solidFill>
                  <a:srgbClr val="566572"/>
                </a:solidFill>
                <a:latin typeface="Noto Sans"/>
              </a:defRPr>
            </a:pPr>
            <a:r>
              <a:rPr/>
              <a:t>m = mesh • r = repeated solution • uₘ = mesh effect • εₘᵣ = residual within that mesh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8FA"/>
        </a:solidFill>
      </p:bgPr>
    </p:bg>
    <p:spTree>
      <p:nvGrpSpPr>
        <p:cNvPr id="1" name=""/>
        <p:cNvGrpSpPr/>
        <p:nvPr/>
      </p:nvGrpSpPr>
      <p:grpSpPr bwMode="auto">
        <a:xfrm>
          <a:off x="0" y="0"/>
          <a:ext cx="0" cy="0"/>
          <a:chOff x="0" y="0"/>
          <a:chExt cx="0" cy="0"/>
        </a:xfrm>
      </p:grpSpPr>
      <p:sp>
        <p:nvSpPr>
          <p:cNvPr id="1175459799"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RESULT 4 • HOW TO READ THE NESTED CHART</a:t>
            </a:r>
            <a:endParaRPr/>
          </a:p>
        </p:txBody>
      </p:sp>
      <p:sp>
        <p:nvSpPr>
          <p:cNvPr id="314075834"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Within each fixed mesh, 40 repeated solutions are nearly identical</a:t>
            </a:r>
            <a:endParaRPr/>
          </a:p>
        </p:txBody>
      </p:sp>
      <p:cxnSp>
        <p:nvCxnSpPr>
          <p:cNvPr id="1993091081"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740069034"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12</a:t>
            </a:r>
            <a:endParaRPr/>
          </a:p>
        </p:txBody>
      </p:sp>
      <p:sp>
        <p:nvSpPr>
          <p:cNvPr id="1814962956" name="TextBox 10"/>
          <p:cNvSpPr txBox="1"/>
          <p:nvPr/>
        </p:nvSpPr>
        <p:spPr bwMode="auto">
          <a:xfrm>
            <a:off x="4572000" y="6556248"/>
            <a:ext cx="6263640" cy="155447"/>
          </a:xfrm>
          <a:prstGeom prst="rect">
            <a:avLst/>
          </a:prstGeom>
          <a:noFill/>
        </p:spPr>
        <p:txBody>
          <a:bodyPr wrap="square" lIns="36576" tIns="0" rIns="36576" bIns="0" anchor="t">
            <a:spAutoFit/>
          </a:bodyPr>
          <a:lstStyle/>
          <a:p>
            <a:pPr algn="r">
              <a:defRPr sz="650" b="0">
                <a:solidFill>
                  <a:srgbClr val="566572"/>
                </a:solidFill>
                <a:latin typeface="Noto Sans"/>
              </a:defRPr>
            </a:pPr>
            <a:r>
              <a:rPr/>
              <a:t>Blue points: within-mesh CVs • dashed line: pooled within-mesh CV • between-mesh CV uses the 40 mesh means</a:t>
            </a:r>
            <a:endParaRPr/>
          </a:p>
        </p:txBody>
      </p:sp>
      <p:sp>
        <p:nvSpPr>
          <p:cNvPr id="1302789576" name="Rounded Rectangle 11"/>
          <p:cNvSpPr/>
          <p:nvPr/>
        </p:nvSpPr>
        <p:spPr bwMode="auto">
          <a:xfrm>
            <a:off x="457200" y="1280160"/>
            <a:ext cx="7635240" cy="416051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527873290" name="Picture 12" descr="image.png"/>
          <p:cNvPicPr>
            <a:picLocks noChangeAspect="1"/>
          </p:cNvPicPr>
          <p:nvPr/>
        </p:nvPicPr>
        <p:blipFill rotWithShape="1">
          <a:blip r:embed="rId3"/>
          <a:stretch/>
        </p:blipFill>
        <p:spPr bwMode="auto">
          <a:xfrm>
            <a:off x="630997" y="1371600"/>
            <a:ext cx="7287642" cy="3968496"/>
          </a:xfrm>
          <a:prstGeom prst="rect">
            <a:avLst/>
          </a:prstGeom>
        </p:spPr>
      </p:pic>
      <p:sp>
        <p:nvSpPr>
          <p:cNvPr id="471346945" name="Rounded Rectangle 13"/>
          <p:cNvSpPr/>
          <p:nvPr/>
        </p:nvSpPr>
        <p:spPr bwMode="auto">
          <a:xfrm>
            <a:off x="8302752" y="1280160"/>
            <a:ext cx="3383280" cy="1234440"/>
          </a:xfrm>
          <a:prstGeom prst="roundRect">
            <a:avLst>
              <a:gd name="adj" fmla="val 16667"/>
            </a:avLst>
          </a:prstGeom>
          <a:solidFill>
            <a:srgbClr val="E0EFF9"/>
          </a:solidFill>
          <a:ln w="10160">
            <a:solidFill>
              <a:srgbClr val="194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26128732" name="Rectangle 14"/>
          <p:cNvSpPr/>
          <p:nvPr/>
        </p:nvSpPr>
        <p:spPr bwMode="auto">
          <a:xfrm>
            <a:off x="8302752" y="1280160"/>
            <a:ext cx="73152" cy="1234440"/>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95916348" name="TextBox 15"/>
          <p:cNvSpPr txBox="1"/>
          <p:nvPr/>
        </p:nvSpPr>
        <p:spPr bwMode="auto">
          <a:xfrm>
            <a:off x="8577072" y="1463038"/>
            <a:ext cx="2788920" cy="274320"/>
          </a:xfrm>
          <a:prstGeom prst="rect">
            <a:avLst/>
          </a:prstGeom>
          <a:noFill/>
        </p:spPr>
        <p:txBody>
          <a:bodyPr wrap="square" lIns="36576" tIns="0" rIns="36576" bIns="0" anchor="t">
            <a:spAutoFit/>
          </a:bodyPr>
          <a:lstStyle/>
          <a:p>
            <a:pPr algn="l">
              <a:defRPr sz="1450" b="1">
                <a:solidFill>
                  <a:srgbClr val="194874"/>
                </a:solidFill>
                <a:latin typeface="Noto Sans"/>
              </a:defRPr>
            </a:pPr>
            <a:r>
              <a:rPr/>
              <a:t>● Blue point = one mesh</a:t>
            </a:r>
            <a:endParaRPr/>
          </a:p>
        </p:txBody>
      </p:sp>
      <p:sp>
        <p:nvSpPr>
          <p:cNvPr id="1787144418" name="TextBox 16"/>
          <p:cNvSpPr txBox="1"/>
          <p:nvPr/>
        </p:nvSpPr>
        <p:spPr bwMode="auto">
          <a:xfrm>
            <a:off x="8577072" y="1847088"/>
            <a:ext cx="2788920" cy="502920"/>
          </a:xfrm>
          <a:prstGeom prst="rect">
            <a:avLst/>
          </a:prstGeom>
          <a:noFill/>
        </p:spPr>
        <p:txBody>
          <a:bodyPr wrap="square" lIns="36576" tIns="0" rIns="36576" bIns="0" anchor="t">
            <a:spAutoFit/>
          </a:bodyPr>
          <a:lstStyle/>
          <a:p>
            <a:pPr algn="l">
              <a:defRPr sz="1050" b="0">
                <a:solidFill>
                  <a:srgbClr val="1D2730"/>
                </a:solidFill>
                <a:latin typeface="Noto Sans"/>
              </a:defRPr>
            </a:pPr>
            <a:r>
              <a:rPr/>
              <a:t>Height = CV across that mesh's 40 repeated solutions. Median 0%; maximum 0.023%.</a:t>
            </a:r>
            <a:endParaRPr/>
          </a:p>
        </p:txBody>
      </p:sp>
      <p:sp>
        <p:nvSpPr>
          <p:cNvPr id="38555368" name="Rounded Rectangle 17"/>
          <p:cNvSpPr/>
          <p:nvPr/>
        </p:nvSpPr>
        <p:spPr bwMode="auto">
          <a:xfrm>
            <a:off x="8302752" y="2670048"/>
            <a:ext cx="3383280" cy="1234440"/>
          </a:xfrm>
          <a:prstGeom prst="roundRect">
            <a:avLst>
              <a:gd name="adj" fmla="val 16667"/>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02562055" name="Rectangle 18"/>
          <p:cNvSpPr/>
          <p:nvPr/>
        </p:nvSpPr>
        <p:spPr bwMode="auto">
          <a:xfrm>
            <a:off x="8302752" y="2670048"/>
            <a:ext cx="73152" cy="1234440"/>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53726738" name="TextBox 19"/>
          <p:cNvSpPr txBox="1"/>
          <p:nvPr/>
        </p:nvSpPr>
        <p:spPr bwMode="auto">
          <a:xfrm>
            <a:off x="8577072" y="2852928"/>
            <a:ext cx="2788920" cy="274320"/>
          </a:xfrm>
          <a:prstGeom prst="rect">
            <a:avLst/>
          </a:prstGeom>
          <a:noFill/>
        </p:spPr>
        <p:txBody>
          <a:bodyPr wrap="square" lIns="36576" tIns="0" rIns="36576" bIns="0" anchor="t">
            <a:spAutoFit/>
          </a:bodyPr>
          <a:lstStyle/>
          <a:p>
            <a:pPr algn="l">
              <a:defRPr sz="1450" b="1">
                <a:solidFill>
                  <a:srgbClr val="C25B23"/>
                </a:solidFill>
                <a:latin typeface="Noto Sans"/>
              </a:defRPr>
            </a:pPr>
            <a:r>
              <a:rPr/>
              <a:t>– – Within meshes: CV 0.0040%</a:t>
            </a:r>
            <a:endParaRPr/>
          </a:p>
        </p:txBody>
      </p:sp>
      <p:sp>
        <p:nvSpPr>
          <p:cNvPr id="1105356010" name="TextBox 20"/>
          <p:cNvSpPr txBox="1"/>
          <p:nvPr/>
        </p:nvSpPr>
        <p:spPr bwMode="auto">
          <a:xfrm>
            <a:off x="8577072" y="3355848"/>
            <a:ext cx="2788920" cy="502920"/>
          </a:xfrm>
          <a:prstGeom prst="rect">
            <a:avLst/>
          </a:prstGeom>
          <a:noFill/>
        </p:spPr>
        <p:txBody>
          <a:bodyPr wrap="square" lIns="36576" tIns="0" rIns="36576" bIns="0" anchor="t">
            <a:spAutoFit/>
          </a:bodyPr>
          <a:lstStyle/>
          <a:p>
            <a:pPr algn="l">
              <a:defRPr sz="1050" b="0">
                <a:solidFill>
                  <a:srgbClr val="1D2730"/>
                </a:solidFill>
                <a:latin typeface="Noto Sans"/>
              </a:defRPr>
            </a:pPr>
            <a:r>
              <a:rPr/>
              <a:t>The dashed line is the pooled residual. Model residual SD = 9.72 × 10⁻⁶ V/m.</a:t>
            </a:r>
            <a:endParaRPr/>
          </a:p>
        </p:txBody>
      </p:sp>
      <p:sp>
        <p:nvSpPr>
          <p:cNvPr id="1287769060" name="Rounded Rectangle 21"/>
          <p:cNvSpPr/>
          <p:nvPr/>
        </p:nvSpPr>
        <p:spPr bwMode="auto">
          <a:xfrm>
            <a:off x="8302752" y="4059936"/>
            <a:ext cx="3383280" cy="1234440"/>
          </a:xfrm>
          <a:prstGeom prst="roundRect">
            <a:avLst>
              <a:gd name="adj" fmla="val 16667"/>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55337239" name="Rectangle 22"/>
          <p:cNvSpPr/>
          <p:nvPr/>
        </p:nvSpPr>
        <p:spPr bwMode="auto">
          <a:xfrm>
            <a:off x="8302752" y="4059936"/>
            <a:ext cx="73152" cy="1234440"/>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61020714" name="TextBox 23"/>
          <p:cNvSpPr txBox="1"/>
          <p:nvPr/>
        </p:nvSpPr>
        <p:spPr bwMode="auto">
          <a:xfrm>
            <a:off x="8577072" y="4242816"/>
            <a:ext cx="2788920" cy="274320"/>
          </a:xfrm>
          <a:prstGeom prst="rect">
            <a:avLst/>
          </a:prstGeom>
          <a:noFill/>
        </p:spPr>
        <p:txBody>
          <a:bodyPr wrap="square" lIns="36576" tIns="0" rIns="36576" bIns="0" anchor="t">
            <a:spAutoFit/>
          </a:bodyPr>
          <a:lstStyle/>
          <a:p>
            <a:pPr algn="l">
              <a:defRPr sz="1450" b="1">
                <a:solidFill>
                  <a:srgbClr val="1B8B7E"/>
                </a:solidFill>
                <a:latin typeface="Noto Sans"/>
              </a:defRPr>
            </a:pPr>
            <a:r>
              <a:rPr/>
              <a:t>Between meshes: CV 2.018%</a:t>
            </a:r>
            <a:endParaRPr/>
          </a:p>
        </p:txBody>
      </p:sp>
      <p:sp>
        <p:nvSpPr>
          <p:cNvPr id="534886592" name="TextBox 24"/>
          <p:cNvSpPr txBox="1"/>
          <p:nvPr/>
        </p:nvSpPr>
        <p:spPr bwMode="auto">
          <a:xfrm>
            <a:off x="8577072" y="4626864"/>
            <a:ext cx="2788920" cy="502920"/>
          </a:xfrm>
          <a:prstGeom prst="rect">
            <a:avLst/>
          </a:prstGeom>
          <a:noFill/>
        </p:spPr>
        <p:txBody>
          <a:bodyPr wrap="square" lIns="36576" tIns="0" rIns="36576" bIns="0" anchor="t">
            <a:spAutoFit/>
          </a:bodyPr>
          <a:lstStyle/>
          <a:p>
            <a:pPr algn="l">
              <a:defRPr sz="1050" b="0">
                <a:solidFill>
                  <a:srgbClr val="1D2730"/>
                </a:solidFill>
                <a:latin typeface="Noto Sans"/>
              </a:defRPr>
            </a:pPr>
            <a:r>
              <a:rPr/>
              <a:t>This uses the 40 mesh means. Model mesh SD = 4.87 × 10⁻³ V/m; it is not plotted here.</a:t>
            </a:r>
            <a:endParaRPr/>
          </a:p>
        </p:txBody>
      </p:sp>
      <p:sp>
        <p:nvSpPr>
          <p:cNvPr id="1358739466" name="Rounded Rectangle 25"/>
          <p:cNvSpPr/>
          <p:nvPr/>
        </p:nvSpPr>
        <p:spPr bwMode="auto">
          <a:xfrm>
            <a:off x="621792" y="5559551"/>
            <a:ext cx="10954510" cy="594360"/>
          </a:xfrm>
          <a:prstGeom prst="roundRect">
            <a:avLst>
              <a:gd name="adj" fmla="val 16667"/>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83724032" name="TextBox 26"/>
          <p:cNvSpPr txBox="1"/>
          <p:nvPr/>
        </p:nvSpPr>
        <p:spPr bwMode="auto">
          <a:xfrm>
            <a:off x="914400" y="5660136"/>
            <a:ext cx="2240280" cy="146304"/>
          </a:xfrm>
          <a:prstGeom prst="rect">
            <a:avLst/>
          </a:prstGeom>
          <a:noFill/>
        </p:spPr>
        <p:txBody>
          <a:bodyPr wrap="square" lIns="36576" tIns="0" rIns="36576" bIns="0" anchor="t">
            <a:spAutoFit/>
          </a:bodyPr>
          <a:lstStyle/>
          <a:p>
            <a:pPr algn="l">
              <a:defRPr sz="850" b="1">
                <a:solidFill>
                  <a:srgbClr val="DDA83F"/>
                </a:solidFill>
                <a:latin typeface="Noto Sans"/>
              </a:defRPr>
            </a:pPr>
            <a:r>
              <a:rPr/>
              <a:t>RANDOM-EFFECTS MODEL OUTPUT</a:t>
            </a:r>
            <a:endParaRPr/>
          </a:p>
        </p:txBody>
      </p:sp>
      <p:sp>
        <p:nvSpPr>
          <p:cNvPr id="544001714" name="TextBox 27"/>
          <p:cNvSpPr txBox="1"/>
          <p:nvPr/>
        </p:nvSpPr>
        <p:spPr bwMode="auto">
          <a:xfrm>
            <a:off x="2880360" y="5705856"/>
            <a:ext cx="8257030" cy="219456"/>
          </a:xfrm>
          <a:prstGeom prst="rect">
            <a:avLst/>
          </a:prstGeom>
          <a:noFill/>
        </p:spPr>
        <p:txBody>
          <a:bodyPr wrap="square" lIns="36576" tIns="0" rIns="36576" bIns="0" anchor="t">
            <a:spAutoFit/>
          </a:bodyPr>
          <a:lstStyle/>
          <a:p>
            <a:pPr algn="ctr">
              <a:defRPr sz="1400" b="1">
                <a:solidFill>
                  <a:srgbClr val="FFFFFF"/>
                </a:solidFill>
                <a:latin typeface="Noto Sans"/>
              </a:defRPr>
            </a:pPr>
            <a:r>
              <a:rPr/>
              <a:t>between / within SD = 501×   •   mesh variance share = 99.9996%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bg>
      <p:bgPr shadeToTitle="0">
        <a:solidFill>
          <a:srgbClr val="F6F8FA"/>
        </a:solidFill>
      </p:bgPr>
    </p:bg>
    <p:spTree>
      <p:nvGrpSpPr>
        <p:cNvPr id="1" name=""/>
        <p:cNvGrpSpPr/>
        <p:nvPr/>
      </p:nvGrpSpPr>
      <p:grpSpPr bwMode="auto">
        <a:xfrm>
          <a:off x="0" y="0"/>
          <a:ext cx="0" cy="0"/>
          <a:chOff x="0" y="0"/>
          <a:chExt cx="0" cy="0"/>
        </a:xfrm>
      </p:grpSpPr>
      <p:sp>
        <p:nvSpPr>
          <p:cNvPr id="387162980"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RESULT 4 • FULLY NESTED SUBJECT</a:t>
            </a:r>
            <a:endParaRPr/>
          </a:p>
        </p:txBody>
      </p:sp>
      <p:sp>
        <p:nvSpPr>
          <p:cNvPr id="56970190"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The nested case assigns virtually all observed variance to mesh generation</a:t>
            </a:r>
            <a:endParaRPr/>
          </a:p>
        </p:txBody>
      </p:sp>
      <p:cxnSp>
        <p:nvCxnSpPr>
          <p:cNvPr id="1005021389"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547337532"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11</a:t>
            </a:r>
            <a:endParaRPr/>
          </a:p>
        </p:txBody>
      </p:sp>
      <p:sp>
        <p:nvSpPr>
          <p:cNvPr id="1495695319" name="Rounded Rectangle 6"/>
          <p:cNvSpPr/>
          <p:nvPr/>
        </p:nvSpPr>
        <p:spPr bwMode="auto">
          <a:xfrm>
            <a:off x="457200" y="1188720"/>
            <a:ext cx="11274552" cy="5102352"/>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95155057" name="Picture 7" descr="nested_mesh_by_solver_repeatability.png"/>
          <p:cNvPicPr>
            <a:picLocks noChangeAspect="1"/>
          </p:cNvPicPr>
          <p:nvPr/>
        </p:nvPicPr>
        <p:blipFill rotWithShape="1">
          <a:blip r:embed="rId3"/>
          <a:stretch/>
        </p:blipFill>
        <p:spPr bwMode="auto">
          <a:xfrm>
            <a:off x="1891953" y="1298448"/>
            <a:ext cx="8395901" cy="4572000"/>
          </a:xfrm>
          <a:prstGeom prst="rect">
            <a:avLst/>
          </a:prstGeom>
        </p:spPr>
      </p:pic>
      <p:sp>
        <p:nvSpPr>
          <p:cNvPr id="307061220" name="Rounded Rectangle 8"/>
          <p:cNvSpPr/>
          <p:nvPr/>
        </p:nvSpPr>
        <p:spPr bwMode="auto">
          <a:xfrm>
            <a:off x="749808" y="5934456"/>
            <a:ext cx="10680192" cy="301752"/>
          </a:xfrm>
          <a:prstGeom prst="roundRect">
            <a:avLst>
              <a:gd name="adj" fmla="val 16667"/>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53605992" name="TextBox 9"/>
          <p:cNvSpPr txBox="1"/>
          <p:nvPr/>
        </p:nvSpPr>
        <p:spPr bwMode="auto">
          <a:xfrm>
            <a:off x="914400" y="6016752"/>
            <a:ext cx="10369296" cy="146304"/>
          </a:xfrm>
          <a:prstGeom prst="rect">
            <a:avLst/>
          </a:prstGeom>
          <a:noFill/>
        </p:spPr>
        <p:txBody>
          <a:bodyPr wrap="square" lIns="36576" tIns="0" rIns="36576" bIns="0" anchor="t">
            <a:spAutoFit/>
          </a:bodyPr>
          <a:lstStyle/>
          <a:p>
            <a:pPr algn="ctr">
              <a:defRPr sz="950" b="1">
                <a:solidFill>
                  <a:srgbClr val="1D2730"/>
                </a:solidFill>
                <a:latin typeface="Noto Sans"/>
              </a:defRPr>
            </a:pPr>
            <a:r>
              <a:rPr/>
              <a:t>Boundary: one participant • one target • one workflow. Source attribution, not population prevalence.</a:t>
            </a:r>
            <a:endParaRPr/>
          </a:p>
        </p:txBody>
      </p:sp>
      <p:sp>
        <p:nvSpPr>
          <p:cNvPr id="91407817" name="TextBox 10"/>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566572"/>
                </a:solidFill>
                <a:latin typeface="Noto Sans"/>
              </a:defRPr>
            </a:pPr>
            <a:r>
              <a:rPr/>
              <a:t>Between-mesh CV 2.018% • within-mesh CV 0.0040% • SD ratio 501×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8FA"/>
        </a:solidFill>
      </p:bgPr>
    </p:bg>
    <p:spTree>
      <p:nvGrpSpPr>
        <p:cNvPr id="1" name=""/>
        <p:cNvGrpSpPr/>
        <p:nvPr/>
      </p:nvGrpSpPr>
      <p:grpSpPr bwMode="auto">
        <a:xfrm>
          <a:off x="0" y="0"/>
          <a:ext cx="0" cy="0"/>
          <a:chOff x="0" y="0"/>
          <a:chExt cx="0" cy="0"/>
        </a:xfrm>
      </p:grpSpPr>
      <p:sp>
        <p:nvSpPr>
          <p:cNvPr id="1918531102"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SENSITIVITY • FIXED MNI152 MODEL</a:t>
            </a:r>
            <a:endParaRPr/>
          </a:p>
        </p:txBody>
      </p:sp>
      <p:sp>
        <p:nvSpPr>
          <p:cNvPr id="218959004"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Version sensitivity is systematic in amplitude—not spatial pattern</a:t>
            </a:r>
            <a:endParaRPr/>
          </a:p>
        </p:txBody>
      </p:sp>
      <p:cxnSp>
        <p:nvCxnSpPr>
          <p:cNvPr id="121945760"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674962963"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12</a:t>
            </a:r>
            <a:endParaRPr/>
          </a:p>
        </p:txBody>
      </p:sp>
      <p:sp>
        <p:nvSpPr>
          <p:cNvPr id="1211247583" name="Rounded Rectangle 6"/>
          <p:cNvSpPr/>
          <p:nvPr/>
        </p:nvSpPr>
        <p:spPr bwMode="auto">
          <a:xfrm>
            <a:off x="457200" y="1280160"/>
            <a:ext cx="7818120" cy="509320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2035380207" name="Picture 7" descr="figure_01_mean_roi_field_by_version.png"/>
          <p:cNvPicPr>
            <a:picLocks noChangeAspect="1"/>
          </p:cNvPicPr>
          <p:nvPr/>
        </p:nvPicPr>
        <p:blipFill rotWithShape="1">
          <a:blip r:embed="rId3"/>
          <a:stretch/>
        </p:blipFill>
        <p:spPr bwMode="auto">
          <a:xfrm flipH="0" flipV="0">
            <a:off x="935263" y="1573485"/>
            <a:ext cx="6861992" cy="4488986"/>
          </a:xfrm>
          <a:prstGeom prst="rect">
            <a:avLst/>
          </a:prstGeom>
        </p:spPr>
      </p:pic>
      <p:sp>
        <p:nvSpPr>
          <p:cNvPr id="2047408521" name="Rounded Rectangle 8"/>
          <p:cNvSpPr/>
          <p:nvPr/>
        </p:nvSpPr>
        <p:spPr bwMode="auto">
          <a:xfrm>
            <a:off x="8485632" y="1344168"/>
            <a:ext cx="3182112" cy="1207008"/>
          </a:xfrm>
          <a:prstGeom prst="roundRect">
            <a:avLst>
              <a:gd name="adj" fmla="val 16667"/>
            </a:avLst>
          </a:prstGeom>
          <a:solidFill>
            <a:srgbClr val="FCECE2"/>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00051855" name="Rectangle 9"/>
          <p:cNvSpPr/>
          <p:nvPr/>
        </p:nvSpPr>
        <p:spPr bwMode="auto">
          <a:xfrm>
            <a:off x="8485632" y="1344168"/>
            <a:ext cx="64008" cy="1207008"/>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55255167" name="TextBox 10"/>
          <p:cNvSpPr txBox="1"/>
          <p:nvPr/>
        </p:nvSpPr>
        <p:spPr bwMode="auto">
          <a:xfrm>
            <a:off x="8686800" y="1490472"/>
            <a:ext cx="2834640" cy="429768"/>
          </a:xfrm>
          <a:prstGeom prst="rect">
            <a:avLst/>
          </a:prstGeom>
          <a:noFill/>
        </p:spPr>
        <p:txBody>
          <a:bodyPr wrap="square" lIns="36576" tIns="0" rIns="36576" bIns="0" anchor="t">
            <a:spAutoFit/>
          </a:bodyPr>
          <a:lstStyle/>
          <a:p>
            <a:pPr algn="l">
              <a:defRPr sz="2500" b="1">
                <a:solidFill>
                  <a:srgbClr val="C25B23"/>
                </a:solidFill>
                <a:latin typeface="Noto Sans"/>
              </a:defRPr>
            </a:pPr>
            <a:r>
              <a:rPr/>
              <a:t>4 / 4</a:t>
            </a:r>
            <a:endParaRPr/>
          </a:p>
        </p:txBody>
      </p:sp>
      <p:sp>
        <p:nvSpPr>
          <p:cNvPr id="1401211767" name="TextBox 11"/>
          <p:cNvSpPr txBox="1"/>
          <p:nvPr/>
        </p:nvSpPr>
        <p:spPr bwMode="auto">
          <a:xfrm>
            <a:off x="8686800" y="2002536"/>
            <a:ext cx="2834640" cy="457200"/>
          </a:xfrm>
          <a:prstGeom prst="rect">
            <a:avLst/>
          </a:prstGeom>
          <a:noFill/>
        </p:spPr>
        <p:txBody>
          <a:bodyPr wrap="square" lIns="36576" tIns="0" rIns="36576" bIns="0" anchor="t">
            <a:spAutoFit/>
          </a:bodyPr>
          <a:lstStyle/>
          <a:p>
            <a:pPr algn="l">
              <a:defRPr sz="1050" b="0">
                <a:solidFill>
                  <a:srgbClr val="566572"/>
                </a:solidFill>
                <a:latin typeface="Noto Sans"/>
              </a:defRPr>
            </a:pPr>
            <a:r>
              <a:rPr/>
              <a:t>ROIs lower under SimNIBS 4.0.1</a:t>
            </a:r>
            <a:endParaRPr/>
          </a:p>
        </p:txBody>
      </p:sp>
      <p:sp>
        <p:nvSpPr>
          <p:cNvPr id="2008185023" name="Rounded Rectangle 12"/>
          <p:cNvSpPr/>
          <p:nvPr/>
        </p:nvSpPr>
        <p:spPr bwMode="auto">
          <a:xfrm>
            <a:off x="8485632" y="2761488"/>
            <a:ext cx="3182112" cy="1207008"/>
          </a:xfrm>
          <a:prstGeom prst="roundRect">
            <a:avLst>
              <a:gd name="adj" fmla="val 16667"/>
            </a:avLst>
          </a:prstGeom>
          <a:solidFill>
            <a:srgbClr val="E0EFF9"/>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55343533" name="Rectangle 13"/>
          <p:cNvSpPr/>
          <p:nvPr/>
        </p:nvSpPr>
        <p:spPr bwMode="auto">
          <a:xfrm>
            <a:off x="8485632" y="2761488"/>
            <a:ext cx="64008" cy="1207008"/>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00341469" name="TextBox 14"/>
          <p:cNvSpPr txBox="1"/>
          <p:nvPr/>
        </p:nvSpPr>
        <p:spPr bwMode="auto">
          <a:xfrm>
            <a:off x="8686800" y="2907792"/>
            <a:ext cx="2834640" cy="429768"/>
          </a:xfrm>
          <a:prstGeom prst="rect">
            <a:avLst/>
          </a:prstGeom>
          <a:noFill/>
        </p:spPr>
        <p:txBody>
          <a:bodyPr wrap="square" lIns="36576" tIns="0" rIns="36576" bIns="0" anchor="t">
            <a:spAutoFit/>
          </a:bodyPr>
          <a:lstStyle/>
          <a:p>
            <a:pPr algn="l">
              <a:defRPr sz="2000" b="1">
                <a:solidFill>
                  <a:srgbClr val="194874"/>
                </a:solidFill>
                <a:latin typeface="Noto Sans"/>
              </a:defRPr>
            </a:pPr>
            <a:r>
              <a:rPr/>
              <a:t>−1.13% to −2.97%</a:t>
            </a:r>
            <a:endParaRPr/>
          </a:p>
        </p:txBody>
      </p:sp>
      <p:sp>
        <p:nvSpPr>
          <p:cNvPr id="1440318619" name="TextBox 15"/>
          <p:cNvSpPr txBox="1"/>
          <p:nvPr/>
        </p:nvSpPr>
        <p:spPr bwMode="auto">
          <a:xfrm>
            <a:off x="8686800" y="3419856"/>
            <a:ext cx="2834640" cy="457200"/>
          </a:xfrm>
          <a:prstGeom prst="rect">
            <a:avLst/>
          </a:prstGeom>
          <a:noFill/>
        </p:spPr>
        <p:txBody>
          <a:bodyPr wrap="square" lIns="36576" tIns="0" rIns="36576" bIns="0" anchor="t">
            <a:spAutoFit/>
          </a:bodyPr>
          <a:lstStyle/>
          <a:p>
            <a:pPr algn="l">
              <a:defRPr sz="1050" b="0">
                <a:solidFill>
                  <a:srgbClr val="566572"/>
                </a:solidFill>
                <a:latin typeface="Noto Sans"/>
              </a:defRPr>
            </a:pPr>
            <a:r>
              <a:rPr/>
              <a:t>change in mean field, 4.0.1 versus 4.5.0</a:t>
            </a:r>
            <a:endParaRPr/>
          </a:p>
        </p:txBody>
      </p:sp>
      <p:sp>
        <p:nvSpPr>
          <p:cNvPr id="1976658351" name="Rounded Rectangle 16"/>
          <p:cNvSpPr/>
          <p:nvPr/>
        </p:nvSpPr>
        <p:spPr bwMode="auto">
          <a:xfrm>
            <a:off x="8485632" y="4178808"/>
            <a:ext cx="3182112" cy="1207008"/>
          </a:xfrm>
          <a:prstGeom prst="roundRect">
            <a:avLst>
              <a:gd name="adj" fmla="val 16667"/>
            </a:avLst>
          </a:prstGeom>
          <a:solidFill>
            <a:srgbClr val="E0F4F1"/>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44981653" name="Rectangle 17"/>
          <p:cNvSpPr/>
          <p:nvPr/>
        </p:nvSpPr>
        <p:spPr bwMode="auto">
          <a:xfrm>
            <a:off x="8485632" y="4178808"/>
            <a:ext cx="64008" cy="1207008"/>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54259292" name="TextBox 18"/>
          <p:cNvSpPr txBox="1"/>
          <p:nvPr/>
        </p:nvSpPr>
        <p:spPr bwMode="auto">
          <a:xfrm>
            <a:off x="8686800" y="4325112"/>
            <a:ext cx="2834640" cy="429768"/>
          </a:xfrm>
          <a:prstGeom prst="rect">
            <a:avLst/>
          </a:prstGeom>
          <a:noFill/>
        </p:spPr>
        <p:txBody>
          <a:bodyPr wrap="square" lIns="36576" tIns="0" rIns="36576" bIns="0" anchor="t">
            <a:spAutoFit/>
          </a:bodyPr>
          <a:lstStyle/>
          <a:p>
            <a:pPr algn="l">
              <a:defRPr sz="2200" b="1">
                <a:solidFill>
                  <a:srgbClr val="1B8B7E"/>
                </a:solidFill>
                <a:latin typeface="Noto Sans"/>
              </a:defRPr>
            </a:pPr>
            <a:r>
              <a:rPr/>
              <a:t>r ≥ 0.99983</a:t>
            </a:r>
            <a:endParaRPr/>
          </a:p>
        </p:txBody>
      </p:sp>
      <p:sp>
        <p:nvSpPr>
          <p:cNvPr id="1148087290" name="TextBox 19"/>
          <p:cNvSpPr txBox="1"/>
          <p:nvPr/>
        </p:nvSpPr>
        <p:spPr bwMode="auto">
          <a:xfrm>
            <a:off x="8686800" y="4837176"/>
            <a:ext cx="2834640" cy="457200"/>
          </a:xfrm>
          <a:prstGeom prst="rect">
            <a:avLst/>
          </a:prstGeom>
          <a:noFill/>
        </p:spPr>
        <p:txBody>
          <a:bodyPr wrap="square" lIns="36576" tIns="0" rIns="36576" bIns="0" anchor="t">
            <a:spAutoFit/>
          </a:bodyPr>
          <a:lstStyle/>
          <a:p>
            <a:pPr algn="l">
              <a:defRPr sz="1050" b="0">
                <a:solidFill>
                  <a:srgbClr val="566572"/>
                </a:solidFill>
                <a:latin typeface="Noto Sans"/>
              </a:defRPr>
            </a:pPr>
            <a:r>
              <a:rPr/>
              <a:t>whole-brain voxelwise agreement</a:t>
            </a:r>
            <a:endParaRPr/>
          </a:p>
        </p:txBody>
      </p:sp>
      <p:sp>
        <p:nvSpPr>
          <p:cNvPr id="1401420533" name="Rounded Rectangle 20"/>
          <p:cNvSpPr/>
          <p:nvPr/>
        </p:nvSpPr>
        <p:spPr bwMode="auto">
          <a:xfrm>
            <a:off x="8485632" y="5605272"/>
            <a:ext cx="3182112" cy="603504"/>
          </a:xfrm>
          <a:prstGeom prst="roundRect">
            <a:avLst>
              <a:gd name="adj" fmla="val 16667"/>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33005126" name="TextBox 21"/>
          <p:cNvSpPr txBox="1"/>
          <p:nvPr/>
        </p:nvSpPr>
        <p:spPr bwMode="auto">
          <a:xfrm>
            <a:off x="8659368" y="5742432"/>
            <a:ext cx="2834640" cy="320040"/>
          </a:xfrm>
          <a:prstGeom prst="rect">
            <a:avLst/>
          </a:prstGeom>
          <a:noFill/>
        </p:spPr>
        <p:txBody>
          <a:bodyPr wrap="square" lIns="36576" tIns="0" rIns="36576" bIns="0" anchor="t">
            <a:spAutoFit/>
          </a:bodyPr>
          <a:lstStyle/>
          <a:p>
            <a:pPr algn="ctr">
              <a:defRPr sz="1050" b="1">
                <a:solidFill>
                  <a:srgbClr val="1D2730"/>
                </a:solidFill>
                <a:latin typeface="Noto Sans"/>
              </a:defRPr>
            </a:pPr>
            <a:r>
              <a:rPr/>
              <a:t>One fixed model: software sensitivity, not participant-level repeatability.</a:t>
            </a:r>
            <a:endParaRPr/>
          </a:p>
        </p:txBody>
      </p:sp>
      <p:sp>
        <p:nvSpPr>
          <p:cNvPr id="1746799077" name="TextBox 22"/>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566572"/>
                </a:solidFill>
                <a:latin typeface="Noto Sans"/>
              </a:defRPr>
            </a:pPr>
            <a:r>
              <a:rPr/>
              <a:t>Fixed mesh, reference image, montage, ROI definitions, conductivities, and currents; runtime version changed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8FA"/>
        </a:solidFill>
      </p:bgPr>
    </p:bg>
    <p:spTree>
      <p:nvGrpSpPr>
        <p:cNvPr id="1" name=""/>
        <p:cNvGrpSpPr/>
        <p:nvPr/>
      </p:nvGrpSpPr>
      <p:grpSpPr bwMode="auto">
        <a:xfrm>
          <a:off x="0" y="0"/>
          <a:ext cx="0" cy="0"/>
          <a:chOff x="0" y="0"/>
          <a:chExt cx="0" cy="0"/>
        </a:xfrm>
      </p:grpSpPr>
      <p:sp>
        <p:nvSpPr>
          <p:cNvPr id="1971570155"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TAKE-HOME FIRST</a:t>
            </a:r>
            <a:endParaRPr/>
          </a:p>
        </p:txBody>
      </p:sp>
      <p:sp>
        <p:nvSpPr>
          <p:cNvPr id="2075033652"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The field estimate is mesh-dependent</a:t>
            </a:r>
            <a:endParaRPr/>
          </a:p>
        </p:txBody>
      </p:sp>
      <p:cxnSp>
        <p:nvCxnSpPr>
          <p:cNvPr id="1013414087"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434636766"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02</a:t>
            </a:r>
            <a:endParaRPr/>
          </a:p>
        </p:txBody>
      </p:sp>
      <p:sp>
        <p:nvSpPr>
          <p:cNvPr id="1767063298" name="Rounded Rectangle 6"/>
          <p:cNvSpPr/>
          <p:nvPr/>
        </p:nvSpPr>
        <p:spPr bwMode="auto">
          <a:xfrm>
            <a:off x="566928" y="1344168"/>
            <a:ext cx="2615184" cy="157276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15934667" name="Rectangle 7"/>
          <p:cNvSpPr/>
          <p:nvPr/>
        </p:nvSpPr>
        <p:spPr bwMode="auto">
          <a:xfrm>
            <a:off x="566928" y="1344168"/>
            <a:ext cx="64008" cy="1572768"/>
          </a:xfrm>
          <a:prstGeom prst="rect">
            <a:avLst/>
          </a:prstGeom>
          <a:solidFill>
            <a:srgbClr val="25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54348746" name="TextBox 8"/>
          <p:cNvSpPr txBox="1"/>
          <p:nvPr/>
        </p:nvSpPr>
        <p:spPr bwMode="auto">
          <a:xfrm>
            <a:off x="768096" y="1490472"/>
            <a:ext cx="2267712" cy="429768"/>
          </a:xfrm>
          <a:prstGeom prst="rect">
            <a:avLst/>
          </a:prstGeom>
          <a:noFill/>
        </p:spPr>
        <p:txBody>
          <a:bodyPr wrap="square" lIns="36576" tIns="0" rIns="36576" bIns="0" anchor="t">
            <a:spAutoFit/>
          </a:bodyPr>
          <a:lstStyle/>
          <a:p>
            <a:pPr algn="l">
              <a:defRPr sz="2700" b="1">
                <a:solidFill>
                  <a:srgbClr val="256FA6"/>
                </a:solidFill>
                <a:latin typeface="Noto Sans"/>
              </a:defRPr>
            </a:pPr>
            <a:r>
              <a:rPr/>
              <a:t>1.81–3.65%</a:t>
            </a:r>
            <a:endParaRPr/>
          </a:p>
        </p:txBody>
      </p:sp>
      <p:sp>
        <p:nvSpPr>
          <p:cNvPr id="187878008" name="TextBox 9"/>
          <p:cNvSpPr txBox="1"/>
          <p:nvPr/>
        </p:nvSpPr>
        <p:spPr bwMode="auto">
          <a:xfrm>
            <a:off x="768096" y="2002536"/>
            <a:ext cx="2267712" cy="822960"/>
          </a:xfrm>
          <a:prstGeom prst="rect">
            <a:avLst/>
          </a:prstGeom>
          <a:noFill/>
        </p:spPr>
        <p:txBody>
          <a:bodyPr wrap="square" lIns="36576" tIns="0" rIns="36576" bIns="0" anchor="t">
            <a:spAutoFit/>
          </a:bodyPr>
          <a:lstStyle/>
          <a:p>
            <a:pPr algn="l">
              <a:defRPr sz="1050" b="0">
                <a:solidFill>
                  <a:srgbClr val="566572"/>
                </a:solidFill>
                <a:latin typeface="Noto Sans"/>
              </a:defRPr>
            </a:pPr>
            <a:r>
              <a:rPr/>
              <a:t>Left-hippocampus CV across remesh repeats</a:t>
            </a:r>
            <a:endParaRPr/>
          </a:p>
        </p:txBody>
      </p:sp>
      <p:sp>
        <p:nvSpPr>
          <p:cNvPr id="1661899111" name="Rounded Rectangle 10"/>
          <p:cNvSpPr/>
          <p:nvPr/>
        </p:nvSpPr>
        <p:spPr bwMode="auto">
          <a:xfrm>
            <a:off x="3310127" y="1344168"/>
            <a:ext cx="2615184" cy="157276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60007520" name="Rectangle 11"/>
          <p:cNvSpPr/>
          <p:nvPr/>
        </p:nvSpPr>
        <p:spPr bwMode="auto">
          <a:xfrm>
            <a:off x="3310127" y="1344168"/>
            <a:ext cx="64008" cy="1572768"/>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16640593" name="TextBox 12"/>
          <p:cNvSpPr txBox="1"/>
          <p:nvPr/>
        </p:nvSpPr>
        <p:spPr bwMode="auto">
          <a:xfrm>
            <a:off x="3511296" y="1490472"/>
            <a:ext cx="2267712" cy="429768"/>
          </a:xfrm>
          <a:prstGeom prst="rect">
            <a:avLst/>
          </a:prstGeom>
          <a:noFill/>
        </p:spPr>
        <p:txBody>
          <a:bodyPr wrap="square" lIns="36576" tIns="0" rIns="36576" bIns="0" anchor="t">
            <a:spAutoFit/>
          </a:bodyPr>
          <a:lstStyle/>
          <a:p>
            <a:pPr algn="l">
              <a:defRPr sz="2700" b="1">
                <a:solidFill>
                  <a:srgbClr val="1B8B7E"/>
                </a:solidFill>
                <a:latin typeface="Noto Sans"/>
              </a:defRPr>
            </a:pPr>
            <a:r>
              <a:rPr/>
              <a:t>1.62–2.79%</a:t>
            </a:r>
            <a:endParaRPr/>
          </a:p>
        </p:txBody>
      </p:sp>
      <p:sp>
        <p:nvSpPr>
          <p:cNvPr id="2012003631" name="TextBox 13"/>
          <p:cNvSpPr txBox="1"/>
          <p:nvPr/>
        </p:nvSpPr>
        <p:spPr bwMode="auto">
          <a:xfrm>
            <a:off x="3511296" y="2002536"/>
            <a:ext cx="2267712" cy="822960"/>
          </a:xfrm>
          <a:prstGeom prst="rect">
            <a:avLst/>
          </a:prstGeom>
          <a:noFill/>
        </p:spPr>
        <p:txBody>
          <a:bodyPr wrap="square" lIns="36576" tIns="0" rIns="36576" bIns="0" anchor="t">
            <a:spAutoFit/>
          </a:bodyPr>
          <a:lstStyle/>
          <a:p>
            <a:pPr algn="l">
              <a:defRPr sz="1050" b="0">
                <a:solidFill>
                  <a:srgbClr val="566572"/>
                </a:solidFill>
                <a:latin typeface="Noto Sans"/>
              </a:defRPr>
            </a:pPr>
            <a:r>
              <a:rPr/>
              <a:t>Right-M1 CV across remesh repeats</a:t>
            </a:r>
            <a:endParaRPr/>
          </a:p>
        </p:txBody>
      </p:sp>
      <p:sp>
        <p:nvSpPr>
          <p:cNvPr id="1205975587" name="Rounded Rectangle 14"/>
          <p:cNvSpPr/>
          <p:nvPr/>
        </p:nvSpPr>
        <p:spPr bwMode="auto">
          <a:xfrm>
            <a:off x="6053328" y="1344168"/>
            <a:ext cx="2615184" cy="157276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72599704" name="Rectangle 15"/>
          <p:cNvSpPr/>
          <p:nvPr/>
        </p:nvSpPr>
        <p:spPr bwMode="auto">
          <a:xfrm>
            <a:off x="6053328" y="1344168"/>
            <a:ext cx="64008" cy="1572768"/>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06741190" name="TextBox 16"/>
          <p:cNvSpPr txBox="1"/>
          <p:nvPr/>
        </p:nvSpPr>
        <p:spPr bwMode="auto">
          <a:xfrm>
            <a:off x="6254496" y="1490472"/>
            <a:ext cx="2267712" cy="429768"/>
          </a:xfrm>
          <a:prstGeom prst="rect">
            <a:avLst/>
          </a:prstGeom>
          <a:noFill/>
        </p:spPr>
        <p:txBody>
          <a:bodyPr wrap="square" lIns="36576" tIns="0" rIns="36576" bIns="0" anchor="t">
            <a:spAutoFit/>
          </a:bodyPr>
          <a:lstStyle/>
          <a:p>
            <a:pPr algn="l">
              <a:defRPr sz="2700" b="1">
                <a:solidFill>
                  <a:srgbClr val="C25B23"/>
                </a:solidFill>
                <a:latin typeface="Noto Sans"/>
              </a:defRPr>
            </a:pPr>
            <a:r>
              <a:rPr/>
              <a:t>95.7%</a:t>
            </a:r>
            <a:endParaRPr/>
          </a:p>
        </p:txBody>
      </p:sp>
      <p:sp>
        <p:nvSpPr>
          <p:cNvPr id="1078640028" name="TextBox 17"/>
          <p:cNvSpPr txBox="1"/>
          <p:nvPr/>
        </p:nvSpPr>
        <p:spPr bwMode="auto">
          <a:xfrm>
            <a:off x="6254496" y="2002536"/>
            <a:ext cx="2267712" cy="822960"/>
          </a:xfrm>
          <a:prstGeom prst="rect">
            <a:avLst/>
          </a:prstGeom>
          <a:noFill/>
        </p:spPr>
        <p:txBody>
          <a:bodyPr wrap="square" lIns="36576" tIns="0" rIns="36576" bIns="0" anchor="t">
            <a:spAutoFit/>
          </a:bodyPr>
          <a:lstStyle/>
          <a:p>
            <a:pPr algn="l">
              <a:defRPr sz="1050" b="0">
                <a:solidFill>
                  <a:srgbClr val="566572"/>
                </a:solidFill>
                <a:latin typeface="Noto Sans"/>
              </a:defRPr>
            </a:pPr>
            <a:r>
              <a:rPr/>
              <a:t>Hippocampal draws with ≥1 rank reversal</a:t>
            </a:r>
            <a:endParaRPr/>
          </a:p>
        </p:txBody>
      </p:sp>
      <p:sp>
        <p:nvSpPr>
          <p:cNvPr id="551831987" name="Rounded Rectangle 18"/>
          <p:cNvSpPr/>
          <p:nvPr/>
        </p:nvSpPr>
        <p:spPr bwMode="auto">
          <a:xfrm>
            <a:off x="8796528" y="1344168"/>
            <a:ext cx="2816352" cy="157276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74080680" name="Rectangle 19"/>
          <p:cNvSpPr/>
          <p:nvPr/>
        </p:nvSpPr>
        <p:spPr bwMode="auto">
          <a:xfrm>
            <a:off x="8796528" y="1344168"/>
            <a:ext cx="64008" cy="1572768"/>
          </a:xfrm>
          <a:prstGeom prst="rect">
            <a:avLst/>
          </a:prstGeom>
          <a:solidFill>
            <a:srgbClr val="B1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23940176" name="TextBox 20"/>
          <p:cNvSpPr txBox="1"/>
          <p:nvPr/>
        </p:nvSpPr>
        <p:spPr bwMode="auto">
          <a:xfrm>
            <a:off x="8997696" y="1490472"/>
            <a:ext cx="2468880" cy="429768"/>
          </a:xfrm>
          <a:prstGeom prst="rect">
            <a:avLst/>
          </a:prstGeom>
          <a:noFill/>
        </p:spPr>
        <p:txBody>
          <a:bodyPr wrap="square" lIns="36576" tIns="0" rIns="36576" bIns="0" anchor="t">
            <a:spAutoFit/>
          </a:bodyPr>
          <a:lstStyle/>
          <a:p>
            <a:pPr algn="l">
              <a:defRPr sz="2500" b="1">
                <a:solidFill>
                  <a:srgbClr val="B13A3A"/>
                </a:solidFill>
                <a:latin typeface="Noto Sans"/>
              </a:defRPr>
            </a:pPr>
            <a:r>
              <a:rPr/>
              <a:t>99.9996%</a:t>
            </a:r>
            <a:endParaRPr/>
          </a:p>
        </p:txBody>
      </p:sp>
      <p:sp>
        <p:nvSpPr>
          <p:cNvPr id="1967923990" name="TextBox 21"/>
          <p:cNvSpPr txBox="1"/>
          <p:nvPr/>
        </p:nvSpPr>
        <p:spPr bwMode="auto">
          <a:xfrm>
            <a:off x="8997696" y="2002536"/>
            <a:ext cx="2468880" cy="822960"/>
          </a:xfrm>
          <a:prstGeom prst="rect">
            <a:avLst/>
          </a:prstGeom>
          <a:noFill/>
        </p:spPr>
        <p:txBody>
          <a:bodyPr wrap="square" lIns="36576" tIns="0" rIns="36576" bIns="0" anchor="t">
            <a:spAutoFit/>
          </a:bodyPr>
          <a:lstStyle/>
          <a:p>
            <a:pPr algn="l">
              <a:defRPr sz="1050" b="0">
                <a:solidFill>
                  <a:srgbClr val="566572"/>
                </a:solidFill>
                <a:latin typeface="Noto Sans"/>
              </a:defRPr>
            </a:pPr>
            <a:r>
              <a:rPr/>
              <a:t>Variance share attributed to mesh in one nested subject</a:t>
            </a:r>
            <a:endParaRPr/>
          </a:p>
        </p:txBody>
      </p:sp>
      <p:sp>
        <p:nvSpPr>
          <p:cNvPr id="1310850492" name="Rounded Rectangle 22"/>
          <p:cNvSpPr/>
          <p:nvPr/>
        </p:nvSpPr>
        <p:spPr bwMode="auto">
          <a:xfrm>
            <a:off x="566928" y="3236976"/>
            <a:ext cx="11045952" cy="1261872"/>
          </a:xfrm>
          <a:prstGeom prst="roundRect">
            <a:avLst>
              <a:gd name="adj" fmla="val 16667"/>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73977805" name="TextBox 23"/>
          <p:cNvSpPr txBox="1"/>
          <p:nvPr/>
        </p:nvSpPr>
        <p:spPr bwMode="auto">
          <a:xfrm>
            <a:off x="850392" y="3493008"/>
            <a:ext cx="1828800" cy="256032"/>
          </a:xfrm>
          <a:prstGeom prst="rect">
            <a:avLst/>
          </a:prstGeom>
          <a:noFill/>
        </p:spPr>
        <p:txBody>
          <a:bodyPr wrap="square" lIns="36576" tIns="0" rIns="36576" bIns="0" anchor="t">
            <a:spAutoFit/>
          </a:bodyPr>
          <a:lstStyle/>
          <a:p>
            <a:pPr algn="l">
              <a:defRPr sz="1000" b="1">
                <a:solidFill>
                  <a:srgbClr val="AECADC"/>
                </a:solidFill>
                <a:latin typeface="Noto Sans"/>
              </a:defRPr>
            </a:pPr>
            <a:r>
              <a:rPr/>
              <a:t>Central conclusion</a:t>
            </a:r>
            <a:endParaRPr/>
          </a:p>
        </p:txBody>
      </p:sp>
      <p:sp>
        <p:nvSpPr>
          <p:cNvPr id="711859864" name="TextBox 24"/>
          <p:cNvSpPr txBox="1"/>
          <p:nvPr/>
        </p:nvSpPr>
        <p:spPr bwMode="auto">
          <a:xfrm>
            <a:off x="850392" y="3822191"/>
            <a:ext cx="10424160" cy="438912"/>
          </a:xfrm>
          <a:prstGeom prst="rect">
            <a:avLst/>
          </a:prstGeom>
          <a:noFill/>
        </p:spPr>
        <p:txBody>
          <a:bodyPr wrap="square" lIns="36576" tIns="0" rIns="36576" bIns="0" anchor="ctr">
            <a:spAutoFit/>
          </a:bodyPr>
          <a:lstStyle/>
          <a:p>
            <a:pPr algn="l">
              <a:defRPr sz="2100" b="1">
                <a:solidFill>
                  <a:srgbClr val="FFFFFF"/>
                </a:solidFill>
                <a:latin typeface="Noto Sans"/>
              </a:defRPr>
            </a:pPr>
            <a:r>
              <a:rPr/>
              <a:t>Within the evaluated CHARM–SimNIBS workflow, mesh generation—not repeated solution on a fixed mesh—dominates repeated-run variability.</a:t>
            </a:r>
            <a:endParaRPr/>
          </a:p>
        </p:txBody>
      </p:sp>
      <p:sp>
        <p:nvSpPr>
          <p:cNvPr id="1853368688" name="Rounded Rectangle 25"/>
          <p:cNvSpPr/>
          <p:nvPr/>
        </p:nvSpPr>
        <p:spPr bwMode="auto">
          <a:xfrm>
            <a:off x="566928" y="4818888"/>
            <a:ext cx="11045952" cy="1042415"/>
          </a:xfrm>
          <a:prstGeom prst="roundRect">
            <a:avLst>
              <a:gd name="adj" fmla="val 16667"/>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51859539" name="TextBox 26"/>
          <p:cNvSpPr txBox="1"/>
          <p:nvPr/>
        </p:nvSpPr>
        <p:spPr bwMode="auto">
          <a:xfrm>
            <a:off x="832104" y="5056632"/>
            <a:ext cx="1874519" cy="219456"/>
          </a:xfrm>
          <a:prstGeom prst="rect">
            <a:avLst/>
          </a:prstGeom>
          <a:noFill/>
        </p:spPr>
        <p:txBody>
          <a:bodyPr wrap="square" lIns="36576" tIns="0" rIns="36576" bIns="0" anchor="t">
            <a:spAutoFit/>
          </a:bodyPr>
          <a:lstStyle/>
          <a:p>
            <a:pPr algn="l">
              <a:defRPr sz="950" b="1">
                <a:solidFill>
                  <a:srgbClr val="C25B23"/>
                </a:solidFill>
                <a:latin typeface="Noto Sans"/>
              </a:defRPr>
            </a:pPr>
            <a:r>
              <a:rPr/>
              <a:t>Interpretation boundary</a:t>
            </a:r>
            <a:endParaRPr/>
          </a:p>
        </p:txBody>
      </p:sp>
      <p:sp>
        <p:nvSpPr>
          <p:cNvPr id="1690223881" name="TextBox 27"/>
          <p:cNvSpPr txBox="1"/>
          <p:nvPr/>
        </p:nvSpPr>
        <p:spPr bwMode="auto">
          <a:xfrm>
            <a:off x="2395728" y="5001768"/>
            <a:ext cx="8842248" cy="512064"/>
          </a:xfrm>
          <a:prstGeom prst="rect">
            <a:avLst/>
          </a:prstGeom>
          <a:noFill/>
        </p:spPr>
        <p:txBody>
          <a:bodyPr wrap="square" lIns="36576" tIns="0" rIns="36576" bIns="0" anchor="t">
            <a:spAutoFit/>
          </a:bodyPr>
          <a:lstStyle/>
          <a:p>
            <a:pPr algn="l">
              <a:defRPr sz="1400" b="1">
                <a:solidFill>
                  <a:srgbClr val="1D2730"/>
                </a:solidFill>
                <a:latin typeface="Noto Sans"/>
              </a:defRPr>
            </a:pPr>
            <a:r>
              <a:rPr/>
              <a:t>The 40×40 variance decomposition is a single-participant sensitivity analysis. It strengthens source attribution, but it is not a population variance estimate.</a:t>
            </a:r>
            <a:endParaRPr/>
          </a:p>
        </p:txBody>
      </p:sp>
      <p:sp>
        <p:nvSpPr>
          <p:cNvPr id="692299656" name="TextBox 28"/>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566572"/>
                </a:solidFill>
                <a:latin typeface="Noto Sans"/>
              </a:defRPr>
            </a:pPr>
            <a:r>
              <a:rPr/>
              <a:t>Corrected spherical-ROI analysis freeze: 11 Sep 2026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bg>
      <p:bgPr shadeToTitle="0">
        <a:solidFill>
          <a:srgbClr val="F6F8FA"/>
        </a:solidFill>
      </p:bgPr>
    </p:bg>
    <p:spTree>
      <p:nvGrpSpPr>
        <p:cNvPr id="1" name=""/>
        <p:cNvGrpSpPr/>
        <p:nvPr/>
      </p:nvGrpSpPr>
      <p:grpSpPr bwMode="auto">
        <a:xfrm>
          <a:off x="0" y="0"/>
          <a:ext cx="0" cy="0"/>
          <a:chOff x="0" y="0"/>
          <a:chExt cx="0" cy="0"/>
        </a:xfrm>
      </p:grpSpPr>
      <p:sp>
        <p:nvSpPr>
          <p:cNvPr id="970804158"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INTERPRETATION</a:t>
            </a:r>
            <a:endParaRPr/>
          </a:p>
        </p:txBody>
      </p:sp>
      <p:sp>
        <p:nvSpPr>
          <p:cNvPr id="827379798"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Within-version evidence converges on mesh realization</a:t>
            </a:r>
            <a:endParaRPr/>
          </a:p>
        </p:txBody>
      </p:sp>
      <p:cxnSp>
        <p:nvCxnSpPr>
          <p:cNvPr id="1722131185"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256297460"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13</a:t>
            </a:r>
            <a:endParaRPr/>
          </a:p>
        </p:txBody>
      </p:sp>
      <p:sp>
        <p:nvSpPr>
          <p:cNvPr id="2015377198" name="Rounded Rectangle 6"/>
          <p:cNvSpPr/>
          <p:nvPr/>
        </p:nvSpPr>
        <p:spPr bwMode="auto">
          <a:xfrm>
            <a:off x="594360" y="1481328"/>
            <a:ext cx="3474720" cy="3154680"/>
          </a:xfrm>
          <a:prstGeom prst="roundRect">
            <a:avLst>
              <a:gd name="adj" fmla="val 16667"/>
            </a:avLst>
          </a:prstGeom>
          <a:solidFill>
            <a:srgbClr val="E0EFF9"/>
          </a:solidFill>
          <a:ln w="10160">
            <a:solidFill>
              <a:srgbClr val="256F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38983545" name="Oval 7"/>
          <p:cNvSpPr/>
          <p:nvPr/>
        </p:nvSpPr>
        <p:spPr bwMode="auto">
          <a:xfrm>
            <a:off x="868680" y="1773936"/>
            <a:ext cx="475488" cy="475488"/>
          </a:xfrm>
          <a:prstGeom prst="ellipse">
            <a:avLst/>
          </a:prstGeom>
          <a:solidFill>
            <a:srgbClr val="25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21943019" name="TextBox 8"/>
          <p:cNvSpPr txBox="1"/>
          <p:nvPr/>
        </p:nvSpPr>
        <p:spPr bwMode="auto">
          <a:xfrm>
            <a:off x="868680" y="1892807"/>
            <a:ext cx="475488" cy="164592"/>
          </a:xfrm>
          <a:prstGeom prst="rect">
            <a:avLst/>
          </a:prstGeom>
          <a:noFill/>
        </p:spPr>
        <p:txBody>
          <a:bodyPr wrap="square" lIns="36576" tIns="0" rIns="36576" bIns="0" anchor="t">
            <a:spAutoFit/>
          </a:bodyPr>
          <a:lstStyle/>
          <a:p>
            <a:pPr algn="ctr">
              <a:defRPr sz="1000" b="1">
                <a:solidFill>
                  <a:srgbClr val="FFFFFF"/>
                </a:solidFill>
                <a:latin typeface="Noto Sans"/>
              </a:defRPr>
            </a:pPr>
            <a:r>
              <a:rPr/>
              <a:t>1</a:t>
            </a:r>
            <a:endParaRPr/>
          </a:p>
        </p:txBody>
      </p:sp>
      <p:sp>
        <p:nvSpPr>
          <p:cNvPr id="1217645892" name="TextBox 9"/>
          <p:cNvSpPr txBox="1"/>
          <p:nvPr/>
        </p:nvSpPr>
        <p:spPr bwMode="auto">
          <a:xfrm>
            <a:off x="886968" y="2423160"/>
            <a:ext cx="2880360" cy="329184"/>
          </a:xfrm>
          <a:prstGeom prst="rect">
            <a:avLst/>
          </a:prstGeom>
          <a:noFill/>
        </p:spPr>
        <p:txBody>
          <a:bodyPr wrap="square" lIns="36576" tIns="0" rIns="36576" bIns="0" anchor="t">
            <a:spAutoFit/>
          </a:bodyPr>
          <a:lstStyle/>
          <a:p>
            <a:pPr algn="l">
              <a:defRPr sz="1800" b="1">
                <a:solidFill>
                  <a:srgbClr val="0C1E30"/>
                </a:solidFill>
                <a:latin typeface="Noto Sans"/>
              </a:defRPr>
            </a:pPr>
            <a:r>
              <a:rPr/>
              <a:t>Cohort contrast</a:t>
            </a:r>
            <a:endParaRPr/>
          </a:p>
        </p:txBody>
      </p:sp>
      <p:sp>
        <p:nvSpPr>
          <p:cNvPr id="377002046" name="TextBox 10"/>
          <p:cNvSpPr txBox="1"/>
          <p:nvPr/>
        </p:nvSpPr>
        <p:spPr bwMode="auto">
          <a:xfrm>
            <a:off x="886968" y="3008376"/>
            <a:ext cx="2852928" cy="1188720"/>
          </a:xfrm>
          <a:prstGeom prst="rect">
            <a:avLst/>
          </a:prstGeom>
          <a:noFill/>
        </p:spPr>
        <p:txBody>
          <a:bodyPr wrap="square" lIns="36576" tIns="0" rIns="36576" bIns="0" anchor="t">
            <a:spAutoFit/>
          </a:bodyPr>
          <a:lstStyle/>
          <a:p>
            <a:pPr algn="l">
              <a:defRPr sz="1500" b="0">
                <a:solidFill>
                  <a:srgbClr val="1D2730"/>
                </a:solidFill>
                <a:latin typeface="Noto Sans"/>
              </a:defRPr>
            </a:pPr>
            <a:r>
              <a:rPr/>
              <a:t>Remesh repeats spread; fixed-mesh repeats collapse across 10 participants and two targets.</a:t>
            </a:r>
            <a:endParaRPr/>
          </a:p>
        </p:txBody>
      </p:sp>
      <p:sp>
        <p:nvSpPr>
          <p:cNvPr id="373116827" name="Rounded Rectangle 11"/>
          <p:cNvSpPr/>
          <p:nvPr/>
        </p:nvSpPr>
        <p:spPr bwMode="auto">
          <a:xfrm>
            <a:off x="4361688" y="1481328"/>
            <a:ext cx="3474720" cy="3154680"/>
          </a:xfrm>
          <a:prstGeom prst="roundRect">
            <a:avLst>
              <a:gd name="adj" fmla="val 16667"/>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24540527" name="Oval 12"/>
          <p:cNvSpPr/>
          <p:nvPr/>
        </p:nvSpPr>
        <p:spPr bwMode="auto">
          <a:xfrm>
            <a:off x="4636008" y="1773936"/>
            <a:ext cx="475488" cy="475488"/>
          </a:xfrm>
          <a:prstGeom prst="ellipse">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20234490" name="TextBox 13"/>
          <p:cNvSpPr txBox="1"/>
          <p:nvPr/>
        </p:nvSpPr>
        <p:spPr bwMode="auto">
          <a:xfrm>
            <a:off x="4636008" y="1892807"/>
            <a:ext cx="475488" cy="164592"/>
          </a:xfrm>
          <a:prstGeom prst="rect">
            <a:avLst/>
          </a:prstGeom>
          <a:noFill/>
        </p:spPr>
        <p:txBody>
          <a:bodyPr wrap="square" lIns="36576" tIns="0" rIns="36576" bIns="0" anchor="t">
            <a:spAutoFit/>
          </a:bodyPr>
          <a:lstStyle/>
          <a:p>
            <a:pPr algn="ctr">
              <a:defRPr sz="1000" b="1">
                <a:solidFill>
                  <a:srgbClr val="FFFFFF"/>
                </a:solidFill>
                <a:latin typeface="Noto Sans"/>
              </a:defRPr>
            </a:pPr>
            <a:r>
              <a:rPr/>
              <a:t>2</a:t>
            </a:r>
            <a:endParaRPr/>
          </a:p>
        </p:txBody>
      </p:sp>
      <p:sp>
        <p:nvSpPr>
          <p:cNvPr id="1649139685" name="TextBox 14"/>
          <p:cNvSpPr txBox="1"/>
          <p:nvPr/>
        </p:nvSpPr>
        <p:spPr bwMode="auto">
          <a:xfrm>
            <a:off x="4654296" y="2423160"/>
            <a:ext cx="2880360" cy="329184"/>
          </a:xfrm>
          <a:prstGeom prst="rect">
            <a:avLst/>
          </a:prstGeom>
          <a:noFill/>
        </p:spPr>
        <p:txBody>
          <a:bodyPr wrap="square" lIns="36576" tIns="0" rIns="36576" bIns="0" anchor="t">
            <a:spAutoFit/>
          </a:bodyPr>
          <a:lstStyle/>
          <a:p>
            <a:pPr algn="l">
              <a:defRPr sz="1800" b="1">
                <a:solidFill>
                  <a:srgbClr val="0C1E30"/>
                </a:solidFill>
                <a:latin typeface="Noto Sans"/>
              </a:defRPr>
            </a:pPr>
            <a:r>
              <a:rPr/>
              <a:t>Nested decomposition</a:t>
            </a:r>
            <a:endParaRPr/>
          </a:p>
        </p:txBody>
      </p:sp>
      <p:sp>
        <p:nvSpPr>
          <p:cNvPr id="164339813" name="TextBox 15"/>
          <p:cNvSpPr txBox="1"/>
          <p:nvPr/>
        </p:nvSpPr>
        <p:spPr bwMode="auto">
          <a:xfrm>
            <a:off x="4654296" y="3008376"/>
            <a:ext cx="2852928" cy="1188720"/>
          </a:xfrm>
          <a:prstGeom prst="rect">
            <a:avLst/>
          </a:prstGeom>
          <a:noFill/>
        </p:spPr>
        <p:txBody>
          <a:bodyPr wrap="square" lIns="36576" tIns="0" rIns="36576" bIns="0" anchor="t">
            <a:spAutoFit/>
          </a:bodyPr>
          <a:lstStyle/>
          <a:p>
            <a:pPr algn="l">
              <a:defRPr sz="1500" b="0">
                <a:solidFill>
                  <a:srgbClr val="1D2730"/>
                </a:solidFill>
                <a:latin typeface="Noto Sans"/>
              </a:defRPr>
            </a:pPr>
            <a:r>
              <a:rPr/>
              <a:t>Between-mesh SD is 501× the residual within-mesh SD in the fully nested subject.</a:t>
            </a:r>
            <a:endParaRPr/>
          </a:p>
        </p:txBody>
      </p:sp>
      <p:sp>
        <p:nvSpPr>
          <p:cNvPr id="1551531880" name="Rounded Rectangle 16"/>
          <p:cNvSpPr/>
          <p:nvPr/>
        </p:nvSpPr>
        <p:spPr bwMode="auto">
          <a:xfrm>
            <a:off x="8129016" y="1481328"/>
            <a:ext cx="3474720" cy="3154680"/>
          </a:xfrm>
          <a:prstGeom prst="roundRect">
            <a:avLst>
              <a:gd name="adj" fmla="val 16667"/>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58730448" name="Oval 17"/>
          <p:cNvSpPr/>
          <p:nvPr/>
        </p:nvSpPr>
        <p:spPr bwMode="auto">
          <a:xfrm>
            <a:off x="8403336" y="1773936"/>
            <a:ext cx="475488" cy="475488"/>
          </a:xfrm>
          <a:prstGeom prst="ellipse">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82290528" name="TextBox 18"/>
          <p:cNvSpPr txBox="1"/>
          <p:nvPr/>
        </p:nvSpPr>
        <p:spPr bwMode="auto">
          <a:xfrm>
            <a:off x="8403336" y="1892807"/>
            <a:ext cx="475488" cy="164592"/>
          </a:xfrm>
          <a:prstGeom prst="rect">
            <a:avLst/>
          </a:prstGeom>
          <a:noFill/>
        </p:spPr>
        <p:txBody>
          <a:bodyPr wrap="square" lIns="36576" tIns="0" rIns="36576" bIns="0" anchor="t">
            <a:spAutoFit/>
          </a:bodyPr>
          <a:lstStyle/>
          <a:p>
            <a:pPr algn="ctr">
              <a:defRPr sz="1000" b="1">
                <a:solidFill>
                  <a:srgbClr val="FFFFFF"/>
                </a:solidFill>
                <a:latin typeface="Noto Sans"/>
              </a:defRPr>
            </a:pPr>
            <a:r>
              <a:rPr/>
              <a:t>3</a:t>
            </a:r>
            <a:endParaRPr/>
          </a:p>
        </p:txBody>
      </p:sp>
      <p:sp>
        <p:nvSpPr>
          <p:cNvPr id="1340137173" name="TextBox 19"/>
          <p:cNvSpPr txBox="1"/>
          <p:nvPr/>
        </p:nvSpPr>
        <p:spPr bwMode="auto">
          <a:xfrm>
            <a:off x="8421624" y="2423160"/>
            <a:ext cx="2880360" cy="329184"/>
          </a:xfrm>
          <a:prstGeom prst="rect">
            <a:avLst/>
          </a:prstGeom>
          <a:noFill/>
        </p:spPr>
        <p:txBody>
          <a:bodyPr wrap="square" lIns="36576" tIns="0" rIns="36576" bIns="0" anchor="t">
            <a:spAutoFit/>
          </a:bodyPr>
          <a:lstStyle/>
          <a:p>
            <a:pPr algn="l">
              <a:defRPr sz="1800" b="1">
                <a:solidFill>
                  <a:srgbClr val="0C1E30"/>
                </a:solidFill>
                <a:latin typeface="Noto Sans"/>
              </a:defRPr>
            </a:pPr>
            <a:r>
              <a:rPr/>
              <a:t>Structural correlates</a:t>
            </a:r>
            <a:endParaRPr/>
          </a:p>
        </p:txBody>
      </p:sp>
      <p:sp>
        <p:nvSpPr>
          <p:cNvPr id="1426906907" name="TextBox 20"/>
          <p:cNvSpPr txBox="1"/>
          <p:nvPr/>
        </p:nvSpPr>
        <p:spPr bwMode="auto">
          <a:xfrm>
            <a:off x="8421624" y="3008376"/>
            <a:ext cx="2852928" cy="1188720"/>
          </a:xfrm>
          <a:prstGeom prst="rect">
            <a:avLst/>
          </a:prstGeom>
          <a:noFill/>
        </p:spPr>
        <p:txBody>
          <a:bodyPr wrap="square" lIns="36576" tIns="0" rIns="36576" bIns="0" anchor="t">
            <a:spAutoFit/>
          </a:bodyPr>
          <a:lstStyle/>
          <a:p>
            <a:pPr algn="l">
              <a:defRPr sz="1500" b="0">
                <a:solidFill>
                  <a:srgbClr val="1D2730"/>
                </a:solidFill>
                <a:latin typeface="Noto Sans"/>
              </a:defRPr>
            </a:pPr>
            <a:r>
              <a:rPr/>
              <a:t>Element count and tissue-volume composition change across remesh realizations.</a:t>
            </a:r>
            <a:endParaRPr/>
          </a:p>
        </p:txBody>
      </p:sp>
      <p:cxnSp>
        <p:nvCxnSpPr>
          <p:cNvPr id="87613226" name="Connector 21"/>
          <p:cNvCxnSpPr/>
          <p:nvPr/>
        </p:nvCxnSpPr>
        <p:spPr bwMode="auto">
          <a:xfrm>
            <a:off x="2340864" y="4892039"/>
            <a:ext cx="3236976" cy="0"/>
          </a:xfrm>
          <a:prstGeom prst="line">
            <a:avLst/>
          </a:prstGeom>
          <a:ln w="20320">
            <a:solidFill>
              <a:srgbClr val="CFD8E0"/>
            </a:solidFill>
          </a:ln>
        </p:spPr>
        <p:style>
          <a:lnRef idx="2">
            <a:schemeClr val="accent1"/>
          </a:lnRef>
          <a:fillRef idx="0">
            <a:schemeClr val="accent1"/>
          </a:fillRef>
          <a:effectRef idx="1">
            <a:schemeClr val="accent1"/>
          </a:effectRef>
          <a:fontRef idx="minor">
            <a:schemeClr val="tx1"/>
          </a:fontRef>
        </p:style>
      </p:cxnSp>
      <p:cxnSp>
        <p:nvCxnSpPr>
          <p:cNvPr id="468333508" name="Connector 22"/>
          <p:cNvCxnSpPr/>
          <p:nvPr/>
        </p:nvCxnSpPr>
        <p:spPr bwMode="auto">
          <a:xfrm>
            <a:off x="6345936" y="4892039"/>
            <a:ext cx="3273552" cy="0"/>
          </a:xfrm>
          <a:prstGeom prst="line">
            <a:avLst/>
          </a:prstGeom>
          <a:ln w="20320">
            <a:solidFill>
              <a:srgbClr val="CFD8E0"/>
            </a:solidFill>
          </a:ln>
        </p:spPr>
        <p:style>
          <a:lnRef idx="2">
            <a:schemeClr val="accent1"/>
          </a:lnRef>
          <a:fillRef idx="0">
            <a:schemeClr val="accent1"/>
          </a:fillRef>
          <a:effectRef idx="1">
            <a:schemeClr val="accent1"/>
          </a:effectRef>
          <a:fontRef idx="minor">
            <a:schemeClr val="tx1"/>
          </a:fontRef>
        </p:style>
      </p:cxnSp>
      <p:sp>
        <p:nvSpPr>
          <p:cNvPr id="199020657" name="Rounded Rectangle 23"/>
          <p:cNvSpPr/>
          <p:nvPr/>
        </p:nvSpPr>
        <p:spPr bwMode="auto">
          <a:xfrm>
            <a:off x="1325880" y="5175504"/>
            <a:ext cx="9537192" cy="822960"/>
          </a:xfrm>
          <a:prstGeom prst="roundRect">
            <a:avLst>
              <a:gd name="adj" fmla="val 16667"/>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43855102" name="TextBox 24"/>
          <p:cNvSpPr txBox="1"/>
          <p:nvPr/>
        </p:nvSpPr>
        <p:spPr bwMode="auto">
          <a:xfrm>
            <a:off x="1641348" y="5338347"/>
            <a:ext cx="8915400" cy="310896"/>
          </a:xfrm>
          <a:prstGeom prst="rect">
            <a:avLst/>
          </a:prstGeom>
          <a:noFill/>
        </p:spPr>
        <p:txBody>
          <a:bodyPr wrap="square" lIns="36576" tIns="0" rIns="36576" bIns="0" anchor="t">
            <a:spAutoFit/>
          </a:bodyPr>
          <a:lstStyle/>
          <a:p>
            <a:pPr algn="ctr">
              <a:defRPr sz="1900" b="1">
                <a:solidFill>
                  <a:srgbClr val="FFFFFF"/>
                </a:solidFill>
                <a:latin typeface="Noto Sans"/>
              </a:defRPr>
            </a:pPr>
            <a:r>
              <a:rPr/>
              <a:t>Inference: mesh realization is a numerical experimental factor and belongs in the uncertainty budget.</a:t>
            </a:r>
            <a:endParaRPr/>
          </a:p>
        </p:txBody>
      </p:sp>
      <p:sp>
        <p:nvSpPr>
          <p:cNvPr id="1349903949" name="TextBox 25"/>
          <p:cNvSpPr txBox="1"/>
          <p:nvPr/>
        </p:nvSpPr>
        <p:spPr bwMode="auto">
          <a:xfrm>
            <a:off x="1325880" y="6190488"/>
            <a:ext cx="9537192" cy="237744"/>
          </a:xfrm>
          <a:prstGeom prst="rect">
            <a:avLst/>
          </a:prstGeom>
          <a:noFill/>
        </p:spPr>
        <p:txBody>
          <a:bodyPr wrap="square" lIns="36576" tIns="0" rIns="36576" bIns="0" anchor="t">
            <a:spAutoFit/>
          </a:bodyPr>
          <a:lstStyle/>
          <a:p>
            <a:pPr algn="ctr">
              <a:defRPr sz="1100" b="1">
                <a:solidFill>
                  <a:srgbClr val="B13A3A"/>
                </a:solidFill>
                <a:latin typeface="Noto Sans"/>
              </a:defRPr>
            </a:pPr>
            <a:r>
              <a:rPr/>
              <a:t>Dominant source of repeated-run variation ≠ proof that the selected mesh is the most accurate anatomy.</a:t>
            </a:r>
            <a:endParaRPr/>
          </a:p>
        </p:txBody>
      </p:sp>
      <p:sp>
        <p:nvSpPr>
          <p:cNvPr id="2070183259" name="TextBox 26"/>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566572"/>
                </a:solidFill>
                <a:latin typeface="Noto Sans"/>
              </a:defRPr>
            </a:pPr>
            <a:r>
              <a:rPr/>
              <a:t>Evidence triangulation across field, variance, and mesh outcomes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bg>
      <p:bgPr shadeToTitle="0">
        <a:solidFill>
          <a:srgbClr val="F6F8FA"/>
        </a:solidFill>
      </p:bgPr>
    </p:bg>
    <p:spTree>
      <p:nvGrpSpPr>
        <p:cNvPr id="1" name=""/>
        <p:cNvGrpSpPr/>
        <p:nvPr/>
      </p:nvGrpSpPr>
      <p:grpSpPr bwMode="auto">
        <a:xfrm>
          <a:off x="0" y="0"/>
          <a:ext cx="0" cy="0"/>
          <a:chOff x="0" y="0"/>
          <a:chExt cx="0" cy="0"/>
        </a:xfrm>
      </p:grpSpPr>
      <p:sp>
        <p:nvSpPr>
          <p:cNvPr id="381191340"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IMPLICATIONS</a:t>
            </a:r>
            <a:endParaRPr/>
          </a:p>
        </p:txBody>
      </p:sp>
      <p:sp>
        <p:nvSpPr>
          <p:cNvPr id="2070155129"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The practical response depends on the scientific comparison</a:t>
            </a:r>
            <a:endParaRPr/>
          </a:p>
        </p:txBody>
      </p:sp>
      <p:cxnSp>
        <p:nvCxnSpPr>
          <p:cNvPr id="812420876"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150304548"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14</a:t>
            </a:r>
            <a:endParaRPr/>
          </a:p>
        </p:txBody>
      </p:sp>
      <p:sp>
        <p:nvSpPr>
          <p:cNvPr id="924923928" name="Rounded Rectangle 6"/>
          <p:cNvSpPr/>
          <p:nvPr/>
        </p:nvSpPr>
        <p:spPr bwMode="auto">
          <a:xfrm>
            <a:off x="621792" y="1417320"/>
            <a:ext cx="5367528" cy="1883664"/>
          </a:xfrm>
          <a:prstGeom prst="roundRect">
            <a:avLst>
              <a:gd name="adj" fmla="val 16667"/>
            </a:avLst>
          </a:prstGeom>
          <a:solidFill>
            <a:srgbClr val="E0EFF9"/>
          </a:solidFill>
          <a:ln w="10160">
            <a:solidFill>
              <a:srgbClr val="194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8249091" name="Rectangle 7"/>
          <p:cNvSpPr/>
          <p:nvPr/>
        </p:nvSpPr>
        <p:spPr bwMode="auto">
          <a:xfrm>
            <a:off x="621792" y="1417320"/>
            <a:ext cx="82296" cy="1883664"/>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61304505" name="TextBox 8"/>
          <p:cNvSpPr txBox="1"/>
          <p:nvPr/>
        </p:nvSpPr>
        <p:spPr bwMode="auto">
          <a:xfrm>
            <a:off x="932688" y="1691640"/>
            <a:ext cx="4663440" cy="301752"/>
          </a:xfrm>
          <a:prstGeom prst="rect">
            <a:avLst/>
          </a:prstGeom>
          <a:noFill/>
        </p:spPr>
        <p:txBody>
          <a:bodyPr wrap="square" lIns="36576" tIns="0" rIns="36576" bIns="0" anchor="t">
            <a:spAutoFit/>
          </a:bodyPr>
          <a:lstStyle/>
          <a:p>
            <a:pPr algn="l">
              <a:defRPr sz="1700" b="1">
                <a:solidFill>
                  <a:srgbClr val="0C1E30"/>
                </a:solidFill>
                <a:latin typeface="Noto Sans"/>
              </a:defRPr>
            </a:pPr>
            <a:r>
              <a:rPr/>
              <a:t>Controlled contrasts</a:t>
            </a:r>
            <a:endParaRPr/>
          </a:p>
        </p:txBody>
      </p:sp>
      <p:sp>
        <p:nvSpPr>
          <p:cNvPr id="2075387807" name="TextBox 9"/>
          <p:cNvSpPr txBox="1"/>
          <p:nvPr/>
        </p:nvSpPr>
        <p:spPr bwMode="auto">
          <a:xfrm>
            <a:off x="932688" y="2221992"/>
            <a:ext cx="4645152" cy="804672"/>
          </a:xfrm>
          <a:prstGeom prst="rect">
            <a:avLst/>
          </a:prstGeom>
          <a:noFill/>
        </p:spPr>
        <p:txBody>
          <a:bodyPr wrap="square" lIns="36576" tIns="0" rIns="36576" bIns="0" anchor="t">
            <a:spAutoFit/>
          </a:bodyPr>
          <a:lstStyle/>
          <a:p>
            <a:pPr algn="l">
              <a:defRPr sz="1400" b="0">
                <a:solidFill>
                  <a:srgbClr val="1D2730"/>
                </a:solidFill>
                <a:latin typeface="Noto Sans"/>
              </a:defRPr>
            </a:pPr>
            <a:r>
              <a:rPr/>
              <a:t>Freeze and checksum the mesh when comparing conditions within the same anatomy and meshing is a nuisance factor.</a:t>
            </a:r>
            <a:endParaRPr/>
          </a:p>
        </p:txBody>
      </p:sp>
      <p:sp>
        <p:nvSpPr>
          <p:cNvPr id="1287643338" name="Rounded Rectangle 10"/>
          <p:cNvSpPr/>
          <p:nvPr/>
        </p:nvSpPr>
        <p:spPr bwMode="auto">
          <a:xfrm>
            <a:off x="6199632" y="1417320"/>
            <a:ext cx="5367528" cy="1883664"/>
          </a:xfrm>
          <a:prstGeom prst="roundRect">
            <a:avLst>
              <a:gd name="adj" fmla="val 16667"/>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17750351" name="Rectangle 11"/>
          <p:cNvSpPr/>
          <p:nvPr/>
        </p:nvSpPr>
        <p:spPr bwMode="auto">
          <a:xfrm>
            <a:off x="6199632" y="1417320"/>
            <a:ext cx="82296" cy="1883664"/>
          </a:xfrm>
          <a:prstGeom prst="rect">
            <a:avLst/>
          </a:prstGeom>
          <a:solidFill>
            <a:srgbClr val="C25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78851460" name="TextBox 12"/>
          <p:cNvSpPr txBox="1"/>
          <p:nvPr/>
        </p:nvSpPr>
        <p:spPr bwMode="auto">
          <a:xfrm>
            <a:off x="6510528" y="1691640"/>
            <a:ext cx="4663440" cy="301752"/>
          </a:xfrm>
          <a:prstGeom prst="rect">
            <a:avLst/>
          </a:prstGeom>
          <a:noFill/>
        </p:spPr>
        <p:txBody>
          <a:bodyPr wrap="square" lIns="36576" tIns="0" rIns="36576" bIns="0" anchor="t">
            <a:spAutoFit/>
          </a:bodyPr>
          <a:lstStyle/>
          <a:p>
            <a:pPr algn="l">
              <a:defRPr sz="1700" b="1">
                <a:solidFill>
                  <a:srgbClr val="0C1E30"/>
                </a:solidFill>
                <a:latin typeface="Noto Sans"/>
              </a:defRPr>
            </a:pPr>
            <a:r>
              <a:rPr/>
              <a:t>Percent-level effects</a:t>
            </a:r>
            <a:endParaRPr/>
          </a:p>
        </p:txBody>
      </p:sp>
      <p:sp>
        <p:nvSpPr>
          <p:cNvPr id="712298349" name="TextBox 13"/>
          <p:cNvSpPr txBox="1"/>
          <p:nvPr/>
        </p:nvSpPr>
        <p:spPr bwMode="auto">
          <a:xfrm>
            <a:off x="6510528" y="2221992"/>
            <a:ext cx="4645152" cy="804672"/>
          </a:xfrm>
          <a:prstGeom prst="rect">
            <a:avLst/>
          </a:prstGeom>
          <a:noFill/>
        </p:spPr>
        <p:txBody>
          <a:bodyPr wrap="square" lIns="36576" tIns="0" rIns="36576" bIns="0" anchor="t">
            <a:spAutoFit/>
          </a:bodyPr>
          <a:lstStyle/>
          <a:p>
            <a:pPr algn="l">
              <a:defRPr sz="1400" b="0">
                <a:solidFill>
                  <a:srgbClr val="1D2730"/>
                </a:solidFill>
                <a:latin typeface="Noto Sans"/>
              </a:defRPr>
            </a:pPr>
            <a:r>
              <a:rPr/>
              <a:t>Repeat remeshing—or otherwise quantify discretization uncertainty—when the expected effect is similar to the observed CV.</a:t>
            </a:r>
            <a:endParaRPr/>
          </a:p>
        </p:txBody>
      </p:sp>
      <p:sp>
        <p:nvSpPr>
          <p:cNvPr id="1522177192" name="Rounded Rectangle 14"/>
          <p:cNvSpPr/>
          <p:nvPr/>
        </p:nvSpPr>
        <p:spPr bwMode="auto">
          <a:xfrm>
            <a:off x="621792" y="3730752"/>
            <a:ext cx="5367528" cy="1883664"/>
          </a:xfrm>
          <a:prstGeom prst="roundRect">
            <a:avLst>
              <a:gd name="adj" fmla="val 16667"/>
            </a:avLst>
          </a:prstGeom>
          <a:solidFill>
            <a:srgbClr val="FBE8E8"/>
          </a:solidFill>
          <a:ln w="10160">
            <a:solidFill>
              <a:srgbClr val="B13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50256758" name="Rectangle 15"/>
          <p:cNvSpPr/>
          <p:nvPr/>
        </p:nvSpPr>
        <p:spPr bwMode="auto">
          <a:xfrm>
            <a:off x="621792" y="3730752"/>
            <a:ext cx="82296" cy="1883664"/>
          </a:xfrm>
          <a:prstGeom prst="rect">
            <a:avLst/>
          </a:prstGeom>
          <a:solidFill>
            <a:srgbClr val="B1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22693464" name="TextBox 16"/>
          <p:cNvSpPr txBox="1"/>
          <p:nvPr/>
        </p:nvSpPr>
        <p:spPr bwMode="auto">
          <a:xfrm>
            <a:off x="932688" y="4005072"/>
            <a:ext cx="4663440" cy="301752"/>
          </a:xfrm>
          <a:prstGeom prst="rect">
            <a:avLst/>
          </a:prstGeom>
          <a:noFill/>
        </p:spPr>
        <p:txBody>
          <a:bodyPr wrap="square" lIns="36576" tIns="0" rIns="36576" bIns="0" anchor="t">
            <a:spAutoFit/>
          </a:bodyPr>
          <a:lstStyle/>
          <a:p>
            <a:pPr algn="l">
              <a:defRPr sz="1700" b="1">
                <a:solidFill>
                  <a:srgbClr val="0C1E30"/>
                </a:solidFill>
                <a:latin typeface="Noto Sans"/>
              </a:defRPr>
            </a:pPr>
            <a:r>
              <a:rPr/>
              <a:t>Subject ranking</a:t>
            </a:r>
            <a:endParaRPr/>
          </a:p>
        </p:txBody>
      </p:sp>
      <p:sp>
        <p:nvSpPr>
          <p:cNvPr id="590962375" name="TextBox 17"/>
          <p:cNvSpPr txBox="1"/>
          <p:nvPr/>
        </p:nvSpPr>
        <p:spPr bwMode="auto">
          <a:xfrm>
            <a:off x="932688" y="4535424"/>
            <a:ext cx="4645152" cy="804672"/>
          </a:xfrm>
          <a:prstGeom prst="rect">
            <a:avLst/>
          </a:prstGeom>
          <a:noFill/>
        </p:spPr>
        <p:txBody>
          <a:bodyPr wrap="square" lIns="36576" tIns="0" rIns="36576" bIns="0" anchor="t">
            <a:spAutoFit/>
          </a:bodyPr>
          <a:lstStyle/>
          <a:p>
            <a:pPr algn="l">
              <a:defRPr sz="1400" b="0">
                <a:solidFill>
                  <a:srgbClr val="1D2730"/>
                </a:solidFill>
                <a:latin typeface="Noto Sans"/>
              </a:defRPr>
            </a:pPr>
            <a:r>
              <a:rPr/>
              <a:t>Avoid fine-grained selection or responder stratification from one mesh when participant means are close.</a:t>
            </a:r>
            <a:endParaRPr/>
          </a:p>
        </p:txBody>
      </p:sp>
      <p:sp>
        <p:nvSpPr>
          <p:cNvPr id="316426716" name="Rounded Rectangle 18"/>
          <p:cNvSpPr/>
          <p:nvPr/>
        </p:nvSpPr>
        <p:spPr bwMode="auto">
          <a:xfrm>
            <a:off x="6199632" y="3730752"/>
            <a:ext cx="5367528" cy="1883664"/>
          </a:xfrm>
          <a:prstGeom prst="roundRect">
            <a:avLst>
              <a:gd name="adj" fmla="val 16667"/>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69654197" name="Rectangle 19"/>
          <p:cNvSpPr/>
          <p:nvPr/>
        </p:nvSpPr>
        <p:spPr bwMode="auto">
          <a:xfrm>
            <a:off x="6199632" y="3730752"/>
            <a:ext cx="82296" cy="1883664"/>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11117908" name="TextBox 20"/>
          <p:cNvSpPr txBox="1"/>
          <p:nvPr/>
        </p:nvSpPr>
        <p:spPr bwMode="auto">
          <a:xfrm>
            <a:off x="6510528" y="4005072"/>
            <a:ext cx="4663440" cy="301752"/>
          </a:xfrm>
          <a:prstGeom prst="rect">
            <a:avLst/>
          </a:prstGeom>
          <a:noFill/>
        </p:spPr>
        <p:txBody>
          <a:bodyPr wrap="square" lIns="36576" tIns="0" rIns="36576" bIns="0" anchor="t">
            <a:spAutoFit/>
          </a:bodyPr>
          <a:lstStyle/>
          <a:p>
            <a:pPr algn="l">
              <a:defRPr sz="1700" b="1">
                <a:solidFill>
                  <a:srgbClr val="0C1E30"/>
                </a:solidFill>
                <a:latin typeface="Noto Sans"/>
              </a:defRPr>
            </a:pPr>
            <a:r>
              <a:rPr/>
              <a:t>Reproducibility</a:t>
            </a:r>
            <a:endParaRPr/>
          </a:p>
        </p:txBody>
      </p:sp>
      <p:sp>
        <p:nvSpPr>
          <p:cNvPr id="191959441" name="TextBox 21"/>
          <p:cNvSpPr txBox="1"/>
          <p:nvPr/>
        </p:nvSpPr>
        <p:spPr bwMode="auto">
          <a:xfrm>
            <a:off x="6510528" y="4535424"/>
            <a:ext cx="4645152" cy="804672"/>
          </a:xfrm>
          <a:prstGeom prst="rect">
            <a:avLst/>
          </a:prstGeom>
          <a:noFill/>
        </p:spPr>
        <p:txBody>
          <a:bodyPr wrap="square" lIns="36576" tIns="0" rIns="36576" bIns="0" anchor="t">
            <a:spAutoFit/>
          </a:bodyPr>
          <a:lstStyle/>
          <a:p>
            <a:pPr algn="l">
              <a:defRPr sz="1400" b="0">
                <a:solidFill>
                  <a:srgbClr val="1D2730"/>
                </a:solidFill>
                <a:latin typeface="Noto Sans"/>
              </a:defRPr>
            </a:pPr>
            <a:r>
              <a:rPr/>
              <a:t>Report meshing policy, selected-mesh provenance, software version, seed/selection rule, and remesh variability.</a:t>
            </a:r>
            <a:endParaRPr/>
          </a:p>
        </p:txBody>
      </p:sp>
      <p:sp>
        <p:nvSpPr>
          <p:cNvPr id="735563794" name="TextBox 22"/>
          <p:cNvSpPr txBox="1"/>
          <p:nvPr/>
        </p:nvSpPr>
        <p:spPr bwMode="auto">
          <a:xfrm>
            <a:off x="786384" y="5916168"/>
            <a:ext cx="2103120" cy="201168"/>
          </a:xfrm>
          <a:prstGeom prst="rect">
            <a:avLst/>
          </a:prstGeom>
          <a:noFill/>
        </p:spPr>
        <p:txBody>
          <a:bodyPr wrap="square" lIns="36576" tIns="0" rIns="36576" bIns="0" anchor="t">
            <a:spAutoFit/>
          </a:bodyPr>
          <a:lstStyle/>
          <a:p>
            <a:pPr algn="l">
              <a:defRPr sz="950" b="1">
                <a:solidFill>
                  <a:srgbClr val="C25B23"/>
                </a:solidFill>
                <a:latin typeface="Noto Sans"/>
              </a:defRPr>
            </a:pPr>
            <a:r>
              <a:rPr/>
              <a:t>Rule of thumb for interpretation</a:t>
            </a:r>
            <a:endParaRPr/>
          </a:p>
        </p:txBody>
      </p:sp>
      <p:sp>
        <p:nvSpPr>
          <p:cNvPr id="375421070" name="TextBox 23"/>
          <p:cNvSpPr txBox="1"/>
          <p:nvPr/>
        </p:nvSpPr>
        <p:spPr bwMode="auto">
          <a:xfrm>
            <a:off x="2816352" y="5852160"/>
            <a:ext cx="8357616" cy="365760"/>
          </a:xfrm>
          <a:prstGeom prst="rect">
            <a:avLst/>
          </a:prstGeom>
          <a:noFill/>
        </p:spPr>
        <p:txBody>
          <a:bodyPr wrap="square" lIns="36576" tIns="0" rIns="36576" bIns="0" anchor="t">
            <a:spAutoFit/>
          </a:bodyPr>
          <a:lstStyle/>
          <a:p>
            <a:pPr algn="l">
              <a:defRPr sz="1500" b="1">
                <a:solidFill>
                  <a:srgbClr val="0C1E30"/>
                </a:solidFill>
                <a:latin typeface="Noto Sans"/>
              </a:defRPr>
            </a:pPr>
            <a:r>
              <a:rPr/>
              <a:t>If the scientific contrast is smaller than the mesh-induced spread, the mesh must enter the design or uncertainty statement.</a:t>
            </a:r>
            <a:endParaRPr/>
          </a:p>
        </p:txBody>
      </p:sp>
      <p:sp>
        <p:nvSpPr>
          <p:cNvPr id="790689463" name="TextBox 24"/>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566572"/>
                </a:solidFill>
                <a:latin typeface="Noto Sans"/>
              </a:defRPr>
            </a:pPr>
            <a:r>
              <a:rPr/>
              <a:t>Recommendations are scoped to the evaluated workflow</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bg>
      <p:bgPr shadeToTitle="0">
        <a:solidFill>
          <a:srgbClr val="F6F8FA"/>
        </a:solidFill>
      </p:bgPr>
    </p:bg>
    <p:spTree>
      <p:nvGrpSpPr>
        <p:cNvPr id="1" name=""/>
        <p:cNvGrpSpPr/>
        <p:nvPr/>
      </p:nvGrpSpPr>
      <p:grpSpPr bwMode="auto">
        <a:xfrm>
          <a:off x="0" y="0"/>
          <a:ext cx="0" cy="0"/>
          <a:chOff x="0" y="0"/>
          <a:chExt cx="0" cy="0"/>
        </a:xfrm>
      </p:grpSpPr>
      <p:sp>
        <p:nvSpPr>
          <p:cNvPr id="731486686"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LIMITATIONS AND CLAIM BOUNDARIES</a:t>
            </a:r>
            <a:endParaRPr/>
          </a:p>
        </p:txBody>
      </p:sp>
      <p:sp>
        <p:nvSpPr>
          <p:cNvPr id="1636491336"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The result is strong about repeatability—and deliberately narrow about validity</a:t>
            </a:r>
            <a:endParaRPr/>
          </a:p>
        </p:txBody>
      </p:sp>
      <p:cxnSp>
        <p:nvCxnSpPr>
          <p:cNvPr id="1721672568"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282053040"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15</a:t>
            </a:r>
            <a:endParaRPr/>
          </a:p>
        </p:txBody>
      </p:sp>
      <p:sp>
        <p:nvSpPr>
          <p:cNvPr id="229054987" name="Rounded Rectangle 6"/>
          <p:cNvSpPr/>
          <p:nvPr/>
        </p:nvSpPr>
        <p:spPr bwMode="auto">
          <a:xfrm>
            <a:off x="612648" y="1389888"/>
            <a:ext cx="5358384" cy="4526280"/>
          </a:xfrm>
          <a:prstGeom prst="roundRect">
            <a:avLst>
              <a:gd name="adj" fmla="val 16667"/>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96597475" name="TextBox 7"/>
          <p:cNvSpPr txBox="1"/>
          <p:nvPr/>
        </p:nvSpPr>
        <p:spPr bwMode="auto">
          <a:xfrm>
            <a:off x="896112" y="1719072"/>
            <a:ext cx="1188720" cy="246888"/>
          </a:xfrm>
          <a:prstGeom prst="rect">
            <a:avLst/>
          </a:prstGeom>
          <a:noFill/>
        </p:spPr>
        <p:txBody>
          <a:bodyPr wrap="square" lIns="36576" tIns="0" rIns="36576" bIns="0" anchor="t">
            <a:spAutoFit/>
          </a:bodyPr>
          <a:lstStyle/>
          <a:p>
            <a:pPr algn="l">
              <a:defRPr sz="1100" b="1">
                <a:solidFill>
                  <a:srgbClr val="1B8B7E"/>
                </a:solidFill>
                <a:latin typeface="Noto Sans"/>
              </a:defRPr>
            </a:pPr>
            <a:r>
              <a:rPr/>
              <a:t>SUPPORTED</a:t>
            </a:r>
            <a:endParaRPr/>
          </a:p>
        </p:txBody>
      </p:sp>
      <p:sp>
        <p:nvSpPr>
          <p:cNvPr id="2016472571" name="TextBox 8"/>
          <p:cNvSpPr txBox="1"/>
          <p:nvPr/>
        </p:nvSpPr>
        <p:spPr bwMode="auto">
          <a:xfrm>
            <a:off x="896112" y="2194560"/>
            <a:ext cx="4645152" cy="3200400"/>
          </a:xfrm>
          <a:prstGeom prst="rect">
            <a:avLst/>
          </a:prstGeom>
          <a:noFill/>
        </p:spPr>
        <p:txBody>
          <a:bodyPr wrap="square" lIns="27432" tIns="0" rIns="27432" bIns="0">
            <a:spAutoFit/>
          </a:bodyPr>
          <a:lstStyle/>
          <a:p>
            <a:pPr>
              <a:spcAft>
                <a:spcPts val="800"/>
              </a:spcAft>
              <a:defRPr/>
            </a:pPr>
            <a:r>
              <a:rPr sz="900">
                <a:solidFill>
                  <a:srgbClr val="1B8B7E"/>
                </a:solidFill>
                <a:latin typeface="Noto Sans"/>
              </a:rPr>
              <a:t>●  </a:t>
            </a:r>
            <a:r>
              <a:rPr sz="1400">
                <a:solidFill>
                  <a:srgbClr val="1D2730"/>
                </a:solidFill>
                <a:latin typeface="Noto Sans"/>
              </a:rPr>
              <a:t>Fresh remeshing introduces percent-level field variation in both evaluated targets.</a:t>
            </a:r>
            <a:endParaRPr/>
          </a:p>
          <a:p>
            <a:pPr>
              <a:spcAft>
                <a:spcPts val="800"/>
              </a:spcAft>
              <a:defRPr/>
            </a:pPr>
            <a:r>
              <a:rPr sz="900">
                <a:solidFill>
                  <a:srgbClr val="1B8B7E"/>
                </a:solidFill>
                <a:latin typeface="Noto Sans"/>
              </a:rPr>
              <a:t>●  </a:t>
            </a:r>
            <a:r>
              <a:rPr sz="1400">
                <a:solidFill>
                  <a:srgbClr val="1D2730"/>
                </a:solidFill>
                <a:latin typeface="Noto Sans"/>
              </a:rPr>
              <a:t>Repeated solving on one copied mesh is effectively deterministic.</a:t>
            </a:r>
            <a:endParaRPr/>
          </a:p>
          <a:p>
            <a:pPr>
              <a:spcAft>
                <a:spcPts val="800"/>
              </a:spcAft>
              <a:defRPr/>
            </a:pPr>
            <a:r>
              <a:rPr sz="900">
                <a:solidFill>
                  <a:srgbClr val="1B8B7E"/>
                </a:solidFill>
                <a:latin typeface="Noto Sans"/>
              </a:rPr>
              <a:t>●  </a:t>
            </a:r>
            <a:r>
              <a:rPr sz="1400">
                <a:solidFill>
                  <a:srgbClr val="1D2730"/>
                </a:solidFill>
                <a:latin typeface="Noto Sans"/>
              </a:rPr>
              <a:t>A single mesh can alter close between-subject rankings.</a:t>
            </a:r>
            <a:endParaRPr/>
          </a:p>
          <a:p>
            <a:pPr>
              <a:spcAft>
                <a:spcPts val="800"/>
              </a:spcAft>
              <a:defRPr/>
            </a:pPr>
            <a:r>
              <a:rPr sz="900">
                <a:solidFill>
                  <a:srgbClr val="1B8B7E"/>
                </a:solidFill>
                <a:latin typeface="Noto Sans"/>
              </a:rPr>
              <a:t>●  </a:t>
            </a:r>
            <a:r>
              <a:rPr sz="1400">
                <a:solidFill>
                  <a:srgbClr val="1D2730"/>
                </a:solidFill>
                <a:latin typeface="Noto Sans"/>
              </a:rPr>
              <a:t>The nested case isolates mesh generation as the dominant source for one participant.</a:t>
            </a:r>
            <a:endParaRPr/>
          </a:p>
        </p:txBody>
      </p:sp>
      <p:sp>
        <p:nvSpPr>
          <p:cNvPr id="1446109372" name="Rounded Rectangle 9"/>
          <p:cNvSpPr/>
          <p:nvPr/>
        </p:nvSpPr>
        <p:spPr bwMode="auto">
          <a:xfrm>
            <a:off x="6217920" y="1389888"/>
            <a:ext cx="5358384" cy="4526280"/>
          </a:xfrm>
          <a:prstGeom prst="roundRect">
            <a:avLst>
              <a:gd name="adj" fmla="val 16667"/>
            </a:avLst>
          </a:prstGeom>
          <a:solidFill>
            <a:srgbClr val="FBEBEB"/>
          </a:solidFill>
          <a:ln w="10160">
            <a:solidFill>
              <a:srgbClr val="B13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0716004" name="TextBox 10"/>
          <p:cNvSpPr txBox="1"/>
          <p:nvPr/>
        </p:nvSpPr>
        <p:spPr bwMode="auto">
          <a:xfrm>
            <a:off x="6501384" y="1719072"/>
            <a:ext cx="1600200" cy="246888"/>
          </a:xfrm>
          <a:prstGeom prst="rect">
            <a:avLst/>
          </a:prstGeom>
          <a:noFill/>
        </p:spPr>
        <p:txBody>
          <a:bodyPr wrap="square" lIns="36576" tIns="0" rIns="36576" bIns="0" anchor="t">
            <a:spAutoFit/>
          </a:bodyPr>
          <a:lstStyle/>
          <a:p>
            <a:pPr algn="l">
              <a:defRPr sz="1100" b="1">
                <a:solidFill>
                  <a:srgbClr val="B13A3A"/>
                </a:solidFill>
                <a:latin typeface="Noto Sans"/>
              </a:defRPr>
            </a:pPr>
            <a:r>
              <a:rPr/>
              <a:t>NOT ESTABLISHED</a:t>
            </a:r>
            <a:endParaRPr/>
          </a:p>
        </p:txBody>
      </p:sp>
      <p:sp>
        <p:nvSpPr>
          <p:cNvPr id="1288139374" name="TextBox 11"/>
          <p:cNvSpPr txBox="1"/>
          <p:nvPr/>
        </p:nvSpPr>
        <p:spPr bwMode="auto">
          <a:xfrm>
            <a:off x="6501384" y="2194560"/>
            <a:ext cx="4626864" cy="3200400"/>
          </a:xfrm>
          <a:prstGeom prst="rect">
            <a:avLst/>
          </a:prstGeom>
          <a:noFill/>
        </p:spPr>
        <p:txBody>
          <a:bodyPr wrap="square" lIns="27432" tIns="0" rIns="27432" bIns="0">
            <a:spAutoFit/>
          </a:bodyPr>
          <a:lstStyle/>
          <a:p>
            <a:pPr>
              <a:spcAft>
                <a:spcPts val="800"/>
              </a:spcAft>
              <a:defRPr/>
            </a:pPr>
            <a:r>
              <a:rPr sz="900">
                <a:solidFill>
                  <a:srgbClr val="B13A3A"/>
                </a:solidFill>
                <a:latin typeface="Noto Sans"/>
              </a:rPr>
              <a:t>●  </a:t>
            </a:r>
            <a:r>
              <a:rPr sz="1400">
                <a:solidFill>
                  <a:srgbClr val="1D2730"/>
                </a:solidFill>
                <a:latin typeface="Noto Sans"/>
              </a:rPr>
              <a:t>Which mesh is anatomically or physically most accurate.</a:t>
            </a:r>
            <a:endParaRPr/>
          </a:p>
          <a:p>
            <a:pPr>
              <a:spcAft>
                <a:spcPts val="800"/>
              </a:spcAft>
              <a:defRPr/>
            </a:pPr>
            <a:r>
              <a:rPr sz="900">
                <a:solidFill>
                  <a:srgbClr val="B13A3A"/>
                </a:solidFill>
                <a:latin typeface="Noto Sans"/>
              </a:rPr>
              <a:t>●  </a:t>
            </a:r>
            <a:r>
              <a:rPr sz="1400">
                <a:solidFill>
                  <a:srgbClr val="1D2730"/>
                </a:solidFill>
                <a:latin typeface="Noto Sans"/>
              </a:rPr>
              <a:t>Generalization beyond 10 datasets, two targets, and this CHARM–SimNIBS pipeline.</a:t>
            </a:r>
            <a:endParaRPr/>
          </a:p>
          <a:p>
            <a:pPr>
              <a:spcAft>
                <a:spcPts val="800"/>
              </a:spcAft>
              <a:defRPr/>
            </a:pPr>
            <a:r>
              <a:rPr sz="900">
                <a:solidFill>
                  <a:srgbClr val="B13A3A"/>
                </a:solidFill>
                <a:latin typeface="Noto Sans"/>
              </a:rPr>
              <a:t>●  </a:t>
            </a:r>
            <a:r>
              <a:rPr sz="1400">
                <a:solidFill>
                  <a:srgbClr val="1D2730"/>
                </a:solidFill>
                <a:latin typeface="Noto Sans"/>
              </a:rPr>
              <a:t>A specific tissue boundary or mesh metric as the causal mechanism.</a:t>
            </a:r>
            <a:endParaRPr/>
          </a:p>
          <a:p>
            <a:pPr>
              <a:spcAft>
                <a:spcPts val="800"/>
              </a:spcAft>
              <a:defRPr/>
            </a:pPr>
            <a:r>
              <a:rPr sz="900">
                <a:solidFill>
                  <a:srgbClr val="B13A3A"/>
                </a:solidFill>
                <a:latin typeface="Noto Sans"/>
              </a:rPr>
              <a:t>●  </a:t>
            </a:r>
            <a:r>
              <a:rPr sz="1400">
                <a:solidFill>
                  <a:srgbClr val="1D2730"/>
                </a:solidFill>
                <a:latin typeface="Noto Sans"/>
              </a:rPr>
              <a:t>Population inference from the 1,600 nested technical observations.</a:t>
            </a:r>
            <a:endParaRPr/>
          </a:p>
        </p:txBody>
      </p:sp>
      <p:sp>
        <p:nvSpPr>
          <p:cNvPr id="992996182" name="Rounded Rectangle 12"/>
          <p:cNvSpPr/>
          <p:nvPr/>
        </p:nvSpPr>
        <p:spPr bwMode="auto">
          <a:xfrm>
            <a:off x="960120" y="6062471"/>
            <a:ext cx="10241280" cy="338328"/>
          </a:xfrm>
          <a:prstGeom prst="roundRect">
            <a:avLst>
              <a:gd name="adj" fmla="val 16667"/>
            </a:avLst>
          </a:prstGeom>
          <a:solidFill>
            <a:srgbClr val="FBF5E0"/>
          </a:solidFill>
          <a:ln w="10160">
            <a:solidFill>
              <a:srgbClr val="DD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88567779" name="TextBox 13"/>
          <p:cNvSpPr txBox="1"/>
          <p:nvPr/>
        </p:nvSpPr>
        <p:spPr bwMode="auto">
          <a:xfrm>
            <a:off x="1124712" y="6144768"/>
            <a:ext cx="9912096" cy="182880"/>
          </a:xfrm>
          <a:prstGeom prst="rect">
            <a:avLst/>
          </a:prstGeom>
          <a:noFill/>
        </p:spPr>
        <p:txBody>
          <a:bodyPr wrap="square" lIns="36576" tIns="0" rIns="36576" bIns="0" anchor="t">
            <a:spAutoFit/>
          </a:bodyPr>
          <a:lstStyle/>
          <a:p>
            <a:pPr algn="ctr">
              <a:defRPr sz="1050" b="1">
                <a:solidFill>
                  <a:srgbClr val="1D2730"/>
                </a:solidFill>
                <a:latin typeface="Noto Sans"/>
              </a:defRPr>
            </a:pPr>
            <a:r>
              <a:rPr/>
              <a:t>Design caveat: the fixed mesh was selected using the primary outcome, so central agreement is partly imposed by design.</a:t>
            </a:r>
            <a:endParaRPr/>
          </a:p>
        </p:txBody>
      </p:sp>
      <p:sp>
        <p:nvSpPr>
          <p:cNvPr id="977941934" name="TextBox 14"/>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566572"/>
                </a:solidFill>
                <a:latin typeface="Noto Sans"/>
              </a:defRPr>
            </a:pPr>
            <a:r>
              <a:rPr/>
              <a:t>Technical repeats are not independent participants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bg>
      <p:bgPr shadeToTitle="0">
        <a:solidFill>
          <a:srgbClr val="0C1E30"/>
        </a:solidFill>
      </p:bgPr>
    </p:bg>
    <p:spTree>
      <p:nvGrpSpPr>
        <p:cNvPr id="1" name=""/>
        <p:cNvGrpSpPr/>
        <p:nvPr/>
      </p:nvGrpSpPr>
      <p:grpSpPr bwMode="auto">
        <a:xfrm>
          <a:off x="0" y="0"/>
          <a:ext cx="0" cy="0"/>
          <a:chOff x="0" y="0"/>
          <a:chExt cx="0" cy="0"/>
        </a:xfrm>
      </p:grpSpPr>
      <p:sp>
        <p:nvSpPr>
          <p:cNvPr id="774178490"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DISCUSSION</a:t>
            </a:r>
            <a:endParaRPr/>
          </a:p>
        </p:txBody>
      </p:sp>
      <p:sp>
        <p:nvSpPr>
          <p:cNvPr id="541899"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FFFFFF"/>
                </a:solidFill>
                <a:latin typeface="Noto Sans"/>
              </a:defRPr>
            </a:pPr>
            <a:r>
              <a:rPr/>
              <a:t>If the claim is smaller than the mesh noise, the mesh belongs in the claim</a:t>
            </a:r>
            <a:endParaRPr/>
          </a:p>
        </p:txBody>
      </p:sp>
      <p:cxnSp>
        <p:nvCxnSpPr>
          <p:cNvPr id="1385398430" name="Connector 3"/>
          <p:cNvCxnSpPr/>
          <p:nvPr/>
        </p:nvCxnSpPr>
        <p:spPr bwMode="auto">
          <a:xfrm>
            <a:off x="502920" y="1143000"/>
            <a:ext cx="11183112" cy="0"/>
          </a:xfrm>
          <a:prstGeom prst="line">
            <a:avLst/>
          </a:prstGeom>
          <a:ln w="10160">
            <a:solidFill>
              <a:srgbClr val="435D72"/>
            </a:solidFill>
          </a:ln>
        </p:spPr>
        <p:style>
          <a:lnRef idx="2">
            <a:schemeClr val="accent1"/>
          </a:lnRef>
          <a:fillRef idx="0">
            <a:schemeClr val="accent1"/>
          </a:fillRef>
          <a:effectRef idx="1">
            <a:schemeClr val="accent1"/>
          </a:effectRef>
          <a:fontRef idx="minor">
            <a:schemeClr val="tx1"/>
          </a:fontRef>
        </p:style>
      </p:cxnSp>
      <p:sp>
        <p:nvSpPr>
          <p:cNvPr id="416533855"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BACAD7"/>
                </a:solidFill>
                <a:latin typeface="Noto Sans"/>
              </a:defRPr>
            </a:pPr>
            <a:r>
              <a:rPr/>
              <a:t>16</a:t>
            </a:r>
            <a:endParaRPr/>
          </a:p>
        </p:txBody>
      </p:sp>
      <p:sp>
        <p:nvSpPr>
          <p:cNvPr id="1737701220" name="Oval 6"/>
          <p:cNvSpPr/>
          <p:nvPr/>
        </p:nvSpPr>
        <p:spPr bwMode="auto">
          <a:xfrm>
            <a:off x="713232" y="1389888"/>
            <a:ext cx="566928" cy="566928"/>
          </a:xfrm>
          <a:prstGeom prst="ellipse">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50223931" name="TextBox 7"/>
          <p:cNvSpPr txBox="1"/>
          <p:nvPr/>
        </p:nvSpPr>
        <p:spPr bwMode="auto">
          <a:xfrm>
            <a:off x="713232" y="1554480"/>
            <a:ext cx="566928" cy="182880"/>
          </a:xfrm>
          <a:prstGeom prst="rect">
            <a:avLst/>
          </a:prstGeom>
          <a:noFill/>
        </p:spPr>
        <p:txBody>
          <a:bodyPr wrap="square" lIns="36576" tIns="0" rIns="36576" bIns="0" anchor="t">
            <a:spAutoFit/>
          </a:bodyPr>
          <a:lstStyle/>
          <a:p>
            <a:pPr algn="ctr">
              <a:defRPr sz="1100" b="1">
                <a:solidFill>
                  <a:srgbClr val="FFFFFF"/>
                </a:solidFill>
                <a:latin typeface="Noto Sans"/>
              </a:defRPr>
            </a:pPr>
            <a:r>
              <a:rPr/>
              <a:t>1</a:t>
            </a:r>
            <a:endParaRPr/>
          </a:p>
        </p:txBody>
      </p:sp>
      <p:sp>
        <p:nvSpPr>
          <p:cNvPr id="2011464157" name="TextBox 8"/>
          <p:cNvSpPr txBox="1"/>
          <p:nvPr/>
        </p:nvSpPr>
        <p:spPr bwMode="auto">
          <a:xfrm>
            <a:off x="1572768" y="1371600"/>
            <a:ext cx="9528048" cy="841248"/>
          </a:xfrm>
          <a:prstGeom prst="rect">
            <a:avLst/>
          </a:prstGeom>
          <a:noFill/>
        </p:spPr>
        <p:txBody>
          <a:bodyPr wrap="square" lIns="36576" tIns="0" rIns="36576" bIns="0" anchor="t">
            <a:spAutoFit/>
          </a:bodyPr>
          <a:lstStyle/>
          <a:p>
            <a:pPr algn="l">
              <a:defRPr sz="2000" b="1">
                <a:solidFill>
                  <a:srgbClr val="FFFFFF"/>
                </a:solidFill>
                <a:latin typeface="Noto Sans"/>
              </a:defRPr>
            </a:pPr>
            <a:r>
              <a:rPr/>
              <a:t>Should future primary analyses average across mesh realizations—or standardize one mesh and treat it as part of the model definition?</a:t>
            </a:r>
            <a:endParaRPr/>
          </a:p>
        </p:txBody>
      </p:sp>
      <p:cxnSp>
        <p:nvCxnSpPr>
          <p:cNvPr id="707286615" name="Connector 9"/>
          <p:cNvCxnSpPr/>
          <p:nvPr/>
        </p:nvCxnSpPr>
        <p:spPr bwMode="auto">
          <a:xfrm>
            <a:off x="1572768" y="2414016"/>
            <a:ext cx="9564624" cy="0"/>
          </a:xfrm>
          <a:prstGeom prst="line">
            <a:avLst/>
          </a:prstGeom>
          <a:ln w="8890">
            <a:solidFill>
              <a:srgbClr val="3E586B"/>
            </a:solidFill>
          </a:ln>
        </p:spPr>
        <p:style>
          <a:lnRef idx="2">
            <a:schemeClr val="accent1"/>
          </a:lnRef>
          <a:fillRef idx="0">
            <a:schemeClr val="accent1"/>
          </a:fillRef>
          <a:effectRef idx="1">
            <a:schemeClr val="accent1"/>
          </a:effectRef>
          <a:fontRef idx="minor">
            <a:schemeClr val="tx1"/>
          </a:fontRef>
        </p:style>
      </p:cxnSp>
      <p:sp>
        <p:nvSpPr>
          <p:cNvPr id="533072133" name="Oval 10"/>
          <p:cNvSpPr/>
          <p:nvPr/>
        </p:nvSpPr>
        <p:spPr bwMode="auto">
          <a:xfrm>
            <a:off x="713232" y="2779776"/>
            <a:ext cx="566928" cy="566928"/>
          </a:xfrm>
          <a:prstGeom prst="ellipse">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28913116" name="TextBox 11"/>
          <p:cNvSpPr txBox="1"/>
          <p:nvPr/>
        </p:nvSpPr>
        <p:spPr bwMode="auto">
          <a:xfrm>
            <a:off x="713232" y="2944368"/>
            <a:ext cx="566928" cy="182880"/>
          </a:xfrm>
          <a:prstGeom prst="rect">
            <a:avLst/>
          </a:prstGeom>
          <a:noFill/>
        </p:spPr>
        <p:txBody>
          <a:bodyPr wrap="square" lIns="36576" tIns="0" rIns="36576" bIns="0" anchor="t">
            <a:spAutoFit/>
          </a:bodyPr>
          <a:lstStyle/>
          <a:p>
            <a:pPr algn="ctr">
              <a:defRPr sz="1100" b="1">
                <a:solidFill>
                  <a:srgbClr val="FFFFFF"/>
                </a:solidFill>
                <a:latin typeface="Noto Sans"/>
              </a:defRPr>
            </a:pPr>
            <a:r>
              <a:rPr/>
              <a:t>2</a:t>
            </a:r>
            <a:endParaRPr/>
          </a:p>
        </p:txBody>
      </p:sp>
      <p:sp>
        <p:nvSpPr>
          <p:cNvPr id="1962621435" name="TextBox 12"/>
          <p:cNvSpPr txBox="1"/>
          <p:nvPr/>
        </p:nvSpPr>
        <p:spPr bwMode="auto">
          <a:xfrm>
            <a:off x="1572768" y="2761488"/>
            <a:ext cx="9528048" cy="841248"/>
          </a:xfrm>
          <a:prstGeom prst="rect">
            <a:avLst/>
          </a:prstGeom>
          <a:noFill/>
        </p:spPr>
        <p:txBody>
          <a:bodyPr wrap="square" lIns="36576" tIns="0" rIns="36576" bIns="0" anchor="t">
            <a:spAutoFit/>
          </a:bodyPr>
          <a:lstStyle/>
          <a:p>
            <a:pPr algn="l">
              <a:defRPr sz="2000" b="1">
                <a:solidFill>
                  <a:srgbClr val="FFFFFF"/>
                </a:solidFill>
                <a:latin typeface="Noto Sans"/>
              </a:defRPr>
            </a:pPr>
            <a:r>
              <a:rPr/>
              <a:t>What numerical-uncertainty threshold is acceptable before a simulated field difference is interpreted biologically?</a:t>
            </a:r>
            <a:endParaRPr/>
          </a:p>
        </p:txBody>
      </p:sp>
      <p:cxnSp>
        <p:nvCxnSpPr>
          <p:cNvPr id="1539819797" name="Connector 13"/>
          <p:cNvCxnSpPr/>
          <p:nvPr/>
        </p:nvCxnSpPr>
        <p:spPr bwMode="auto">
          <a:xfrm>
            <a:off x="1572768" y="3803904"/>
            <a:ext cx="9564624" cy="0"/>
          </a:xfrm>
          <a:prstGeom prst="line">
            <a:avLst/>
          </a:prstGeom>
          <a:ln w="8890">
            <a:solidFill>
              <a:srgbClr val="3E586B"/>
            </a:solidFill>
          </a:ln>
        </p:spPr>
        <p:style>
          <a:lnRef idx="2">
            <a:schemeClr val="accent1"/>
          </a:lnRef>
          <a:fillRef idx="0">
            <a:schemeClr val="accent1"/>
          </a:fillRef>
          <a:effectRef idx="1">
            <a:schemeClr val="accent1"/>
          </a:effectRef>
          <a:fontRef idx="minor">
            <a:schemeClr val="tx1"/>
          </a:fontRef>
        </p:style>
      </p:cxnSp>
      <p:sp>
        <p:nvSpPr>
          <p:cNvPr id="398799719" name="Oval 14"/>
          <p:cNvSpPr/>
          <p:nvPr/>
        </p:nvSpPr>
        <p:spPr bwMode="auto">
          <a:xfrm>
            <a:off x="713232" y="4169664"/>
            <a:ext cx="566928" cy="566928"/>
          </a:xfrm>
          <a:prstGeom prst="ellipse">
            <a:avLst/>
          </a:prstGeom>
          <a:solidFill>
            <a:srgbClr val="DD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56051860" name="TextBox 15"/>
          <p:cNvSpPr txBox="1"/>
          <p:nvPr/>
        </p:nvSpPr>
        <p:spPr bwMode="auto">
          <a:xfrm>
            <a:off x="713232" y="4334256"/>
            <a:ext cx="566928" cy="182880"/>
          </a:xfrm>
          <a:prstGeom prst="rect">
            <a:avLst/>
          </a:prstGeom>
          <a:noFill/>
        </p:spPr>
        <p:txBody>
          <a:bodyPr wrap="square" lIns="36576" tIns="0" rIns="36576" bIns="0" anchor="t">
            <a:spAutoFit/>
          </a:bodyPr>
          <a:lstStyle/>
          <a:p>
            <a:pPr algn="ctr">
              <a:defRPr sz="1100" b="1">
                <a:solidFill>
                  <a:srgbClr val="FFFFFF"/>
                </a:solidFill>
                <a:latin typeface="Noto Sans"/>
              </a:defRPr>
            </a:pPr>
            <a:r>
              <a:rPr/>
              <a:t>3</a:t>
            </a:r>
            <a:endParaRPr/>
          </a:p>
        </p:txBody>
      </p:sp>
      <p:sp>
        <p:nvSpPr>
          <p:cNvPr id="1523170128" name="TextBox 16"/>
          <p:cNvSpPr txBox="1"/>
          <p:nvPr/>
        </p:nvSpPr>
        <p:spPr bwMode="auto">
          <a:xfrm>
            <a:off x="1572768" y="4151376"/>
            <a:ext cx="9528048" cy="841248"/>
          </a:xfrm>
          <a:prstGeom prst="rect">
            <a:avLst/>
          </a:prstGeom>
          <a:noFill/>
        </p:spPr>
        <p:txBody>
          <a:bodyPr wrap="square" lIns="36576" tIns="0" rIns="36576" bIns="0" anchor="t">
            <a:spAutoFit/>
          </a:bodyPr>
          <a:lstStyle/>
          <a:p>
            <a:pPr algn="l">
              <a:defRPr sz="2000" b="1">
                <a:solidFill>
                  <a:srgbClr val="FFFFFF"/>
                </a:solidFill>
                <a:latin typeface="Noto Sans"/>
              </a:defRPr>
            </a:pPr>
            <a:r>
              <a:rPr/>
              <a:t>Which extension adds the most value: more targets, another mesher, local boundary metrics, or convergence testing?</a:t>
            </a:r>
            <a:endParaRPr/>
          </a:p>
        </p:txBody>
      </p:sp>
      <p:sp>
        <p:nvSpPr>
          <p:cNvPr id="1006906213" name="Rounded Rectangle 17"/>
          <p:cNvSpPr/>
          <p:nvPr/>
        </p:nvSpPr>
        <p:spPr bwMode="auto">
          <a:xfrm>
            <a:off x="713232" y="5687568"/>
            <a:ext cx="10716768" cy="594360"/>
          </a:xfrm>
          <a:prstGeom prst="roundRect">
            <a:avLst>
              <a:gd name="adj" fmla="val 16667"/>
            </a:avLst>
          </a:prstGeom>
          <a:solidFill>
            <a:srgbClr val="163246"/>
          </a:solidFill>
          <a:ln w="10160">
            <a:solidFill>
              <a:srgbClr val="32526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70289171" name="TextBox 18"/>
          <p:cNvSpPr txBox="1"/>
          <p:nvPr/>
        </p:nvSpPr>
        <p:spPr bwMode="auto">
          <a:xfrm>
            <a:off x="941832" y="5747004"/>
            <a:ext cx="10259568" cy="246888"/>
          </a:xfrm>
          <a:prstGeom prst="rect">
            <a:avLst/>
          </a:prstGeom>
          <a:noFill/>
        </p:spPr>
        <p:txBody>
          <a:bodyPr wrap="square" lIns="36576" tIns="0" rIns="36576" bIns="0" anchor="t">
            <a:spAutoFit/>
          </a:bodyPr>
          <a:lstStyle/>
          <a:p>
            <a:pPr algn="ctr">
              <a:defRPr sz="1500" b="1">
                <a:solidFill>
                  <a:srgbClr val="DDA83F"/>
                </a:solidFill>
                <a:latin typeface="Noto Sans"/>
              </a:defRPr>
            </a:pPr>
            <a:r>
              <a:rPr/>
              <a:t>Take-home: a reproducible individualized field estimate requires specifying the mesh—not only the anatomy and montage.</a:t>
            </a:r>
            <a:endParaRPr/>
          </a:p>
        </p:txBody>
      </p:sp>
      <p:sp>
        <p:nvSpPr>
          <p:cNvPr id="2107566176" name="TextBox 19"/>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AEC2CF"/>
                </a:solidFill>
                <a:latin typeface="Noto Sans"/>
              </a:defRPr>
            </a:pPr>
            <a:r>
              <a:rPr/>
              <a:t>Questions / critique / next experiment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8FA"/>
        </a:solidFill>
      </p:bgPr>
    </p:bg>
    <p:spTree>
      <p:nvGrpSpPr>
        <p:cNvPr id="1" name=""/>
        <p:cNvGrpSpPr/>
        <p:nvPr/>
      </p:nvGrpSpPr>
      <p:grpSpPr bwMode="auto">
        <a:xfrm>
          <a:off x="0" y="0"/>
          <a:ext cx="0" cy="0"/>
          <a:chOff x="0" y="0"/>
          <a:chExt cx="0" cy="0"/>
        </a:xfrm>
      </p:grpSpPr>
      <p:sp>
        <p:nvSpPr>
          <p:cNvPr id="420112014"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BACKUP</a:t>
            </a:r>
            <a:endParaRPr/>
          </a:p>
        </p:txBody>
      </p:sp>
      <p:sp>
        <p:nvSpPr>
          <p:cNvPr id="1645868506"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Appendix • full ranking analysis: left hippocampus</a:t>
            </a:r>
            <a:endParaRPr/>
          </a:p>
        </p:txBody>
      </p:sp>
      <p:cxnSp>
        <p:nvCxnSpPr>
          <p:cNvPr id="886492413"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1271826476"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17</a:t>
            </a:r>
            <a:endParaRPr/>
          </a:p>
        </p:txBody>
      </p:sp>
      <p:sp>
        <p:nvSpPr>
          <p:cNvPr id="478119806" name="Rounded Rectangle 6"/>
          <p:cNvSpPr/>
          <p:nvPr/>
        </p:nvSpPr>
        <p:spPr bwMode="auto">
          <a:xfrm>
            <a:off x="457200" y="1188720"/>
            <a:ext cx="11274552" cy="5157216"/>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357251257" name="Picture 7" descr="02_single_repeat_subject_ranking_uncertainty.png"/>
          <p:cNvPicPr>
            <a:picLocks noChangeAspect="1"/>
          </p:cNvPicPr>
          <p:nvPr/>
        </p:nvPicPr>
        <p:blipFill rotWithShape="1">
          <a:blip r:embed="rId3"/>
          <a:stretch/>
        </p:blipFill>
        <p:spPr bwMode="auto">
          <a:xfrm>
            <a:off x="926748" y="1325880"/>
            <a:ext cx="10344596" cy="4882896"/>
          </a:xfrm>
          <a:prstGeom prst="rect">
            <a:avLst/>
          </a:prstGeom>
        </p:spPr>
      </p:pic>
      <p:sp>
        <p:nvSpPr>
          <p:cNvPr id="1911344625" name="TextBox 8"/>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566572"/>
                </a:solidFill>
                <a:latin typeface="Noto Sans"/>
              </a:defRPr>
            </a:pPr>
            <a:r>
              <a:rPr/>
              <a:t>Exact pairwise probabilities + 20,000 one-repeat-per-participant draws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8FA"/>
        </a:solidFill>
      </p:bgPr>
    </p:bg>
    <p:spTree>
      <p:nvGrpSpPr>
        <p:cNvPr id="1" name=""/>
        <p:cNvGrpSpPr/>
        <p:nvPr/>
      </p:nvGrpSpPr>
      <p:grpSpPr bwMode="auto">
        <a:xfrm>
          <a:off x="0" y="0"/>
          <a:ext cx="0" cy="0"/>
          <a:chOff x="0" y="0"/>
          <a:chExt cx="0" cy="0"/>
        </a:xfrm>
      </p:grpSpPr>
      <p:sp>
        <p:nvSpPr>
          <p:cNvPr id="1393112782"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BACKUP</a:t>
            </a:r>
            <a:endParaRPr/>
          </a:p>
        </p:txBody>
      </p:sp>
      <p:sp>
        <p:nvSpPr>
          <p:cNvPr id="117672893"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Appendix • full ranking analysis: right M1</a:t>
            </a:r>
            <a:endParaRPr/>
          </a:p>
        </p:txBody>
      </p:sp>
      <p:cxnSp>
        <p:nvCxnSpPr>
          <p:cNvPr id="1710722878"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2096581843"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18</a:t>
            </a:r>
            <a:endParaRPr/>
          </a:p>
        </p:txBody>
      </p:sp>
      <p:sp>
        <p:nvSpPr>
          <p:cNvPr id="1608908137" name="Rounded Rectangle 6"/>
          <p:cNvSpPr/>
          <p:nvPr/>
        </p:nvSpPr>
        <p:spPr bwMode="auto">
          <a:xfrm>
            <a:off x="457200" y="1188720"/>
            <a:ext cx="11274552" cy="5157216"/>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860594416" name="Picture 7" descr="02_single_repeat_subject_ranking_uncertainty.png"/>
          <p:cNvPicPr>
            <a:picLocks noChangeAspect="1"/>
          </p:cNvPicPr>
          <p:nvPr/>
        </p:nvPicPr>
        <p:blipFill rotWithShape="1">
          <a:blip r:embed="rId3"/>
          <a:stretch/>
        </p:blipFill>
        <p:spPr bwMode="auto">
          <a:xfrm>
            <a:off x="935985" y="1325880"/>
            <a:ext cx="10326124" cy="4882896"/>
          </a:xfrm>
          <a:prstGeom prst="rect">
            <a:avLst/>
          </a:prstGeom>
        </p:spPr>
      </p:pic>
      <p:sp>
        <p:nvSpPr>
          <p:cNvPr id="2103600546" name="TextBox 8"/>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566572"/>
                </a:solidFill>
                <a:latin typeface="Noto Sans"/>
              </a:defRPr>
            </a:pPr>
            <a:r>
              <a:rPr/>
              <a:t>Exact pairwise probabilities + 20,000 one-repeat-per-participant draws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8FA"/>
        </a:solidFill>
      </p:bgPr>
    </p:bg>
    <p:spTree>
      <p:nvGrpSpPr>
        <p:cNvPr id="1" name=""/>
        <p:cNvGrpSpPr/>
        <p:nvPr/>
      </p:nvGrpSpPr>
      <p:grpSpPr bwMode="auto">
        <a:xfrm>
          <a:off x="0" y="0"/>
          <a:ext cx="0" cy="0"/>
          <a:chOff x="0" y="0"/>
          <a:chExt cx="0" cy="0"/>
        </a:xfrm>
      </p:grpSpPr>
      <p:sp>
        <p:nvSpPr>
          <p:cNvPr id="623539030"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BACKUP</a:t>
            </a:r>
            <a:endParaRPr/>
          </a:p>
        </p:txBody>
      </p:sp>
      <p:sp>
        <p:nvSpPr>
          <p:cNvPr id="644361627"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Appendix • cohort and stimulation parameters</a:t>
            </a:r>
            <a:endParaRPr/>
          </a:p>
        </p:txBody>
      </p:sp>
      <p:cxnSp>
        <p:nvCxnSpPr>
          <p:cNvPr id="226741108"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757965567"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19</a:t>
            </a:r>
            <a:endParaRPr/>
          </a:p>
        </p:txBody>
      </p:sp>
      <p:sp>
        <p:nvSpPr>
          <p:cNvPr id="1400600722" name="Rounded Rectangle 6"/>
          <p:cNvSpPr/>
          <p:nvPr/>
        </p:nvSpPr>
        <p:spPr bwMode="auto">
          <a:xfrm>
            <a:off x="576072" y="1307592"/>
            <a:ext cx="5440680" cy="4892039"/>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04992930" name="TextBox 7"/>
          <p:cNvSpPr txBox="1"/>
          <p:nvPr/>
        </p:nvSpPr>
        <p:spPr bwMode="auto">
          <a:xfrm>
            <a:off x="859536" y="1600200"/>
            <a:ext cx="2194560" cy="292608"/>
          </a:xfrm>
          <a:prstGeom prst="rect">
            <a:avLst/>
          </a:prstGeom>
          <a:noFill/>
        </p:spPr>
        <p:txBody>
          <a:bodyPr wrap="square" lIns="36576" tIns="0" rIns="36576" bIns="0" anchor="t">
            <a:spAutoFit/>
          </a:bodyPr>
          <a:lstStyle/>
          <a:p>
            <a:pPr algn="l">
              <a:defRPr sz="1700" b="1">
                <a:solidFill>
                  <a:srgbClr val="0C1E30"/>
                </a:solidFill>
                <a:latin typeface="Noto Sans"/>
              </a:defRPr>
            </a:pPr>
            <a:r>
              <a:rPr/>
              <a:t>CamCAN cohort</a:t>
            </a:r>
            <a:endParaRPr/>
          </a:p>
        </p:txBody>
      </p:sp>
      <p:sp>
        <p:nvSpPr>
          <p:cNvPr id="991042597" name="TextBox 8"/>
          <p:cNvSpPr txBox="1"/>
          <p:nvPr/>
        </p:nvSpPr>
        <p:spPr bwMode="auto">
          <a:xfrm>
            <a:off x="886968" y="2066543"/>
            <a:ext cx="1691640" cy="201168"/>
          </a:xfrm>
          <a:prstGeom prst="rect">
            <a:avLst/>
          </a:prstGeom>
          <a:noFill/>
        </p:spPr>
        <p:txBody>
          <a:bodyPr wrap="square" lIns="36576" tIns="0" rIns="36576" bIns="0" anchor="t">
            <a:spAutoFit/>
          </a:bodyPr>
          <a:lstStyle/>
          <a:p>
            <a:pPr algn="l">
              <a:defRPr sz="950" b="1">
                <a:solidFill>
                  <a:srgbClr val="566572"/>
                </a:solidFill>
                <a:latin typeface="Noto Sans"/>
              </a:defRPr>
            </a:pPr>
            <a:r>
              <a:rPr/>
              <a:t>ID</a:t>
            </a:r>
            <a:endParaRPr/>
          </a:p>
        </p:txBody>
      </p:sp>
      <p:sp>
        <p:nvSpPr>
          <p:cNvPr id="1985517145" name="TextBox 9"/>
          <p:cNvSpPr txBox="1"/>
          <p:nvPr/>
        </p:nvSpPr>
        <p:spPr bwMode="auto">
          <a:xfrm>
            <a:off x="2788920" y="2066543"/>
            <a:ext cx="1645920" cy="201168"/>
          </a:xfrm>
          <a:prstGeom prst="rect">
            <a:avLst/>
          </a:prstGeom>
          <a:noFill/>
        </p:spPr>
        <p:txBody>
          <a:bodyPr wrap="square" lIns="36576" tIns="0" rIns="36576" bIns="0" anchor="t">
            <a:spAutoFit/>
          </a:bodyPr>
          <a:lstStyle/>
          <a:p>
            <a:pPr algn="l">
              <a:defRPr sz="950" b="1">
                <a:solidFill>
                  <a:srgbClr val="566572"/>
                </a:solidFill>
                <a:latin typeface="Noto Sans"/>
              </a:defRPr>
            </a:pPr>
            <a:r>
              <a:rPr/>
              <a:t>Recorded sex</a:t>
            </a:r>
            <a:endParaRPr/>
          </a:p>
        </p:txBody>
      </p:sp>
      <p:sp>
        <p:nvSpPr>
          <p:cNvPr id="1157877509" name="TextBox 10"/>
          <p:cNvSpPr txBox="1"/>
          <p:nvPr/>
        </p:nvSpPr>
        <p:spPr bwMode="auto">
          <a:xfrm>
            <a:off x="4709160" y="2066543"/>
            <a:ext cx="822960" cy="201168"/>
          </a:xfrm>
          <a:prstGeom prst="rect">
            <a:avLst/>
          </a:prstGeom>
          <a:noFill/>
        </p:spPr>
        <p:txBody>
          <a:bodyPr wrap="square" lIns="36576" tIns="0" rIns="36576" bIns="0" anchor="t">
            <a:spAutoFit/>
          </a:bodyPr>
          <a:lstStyle/>
          <a:p>
            <a:pPr algn="r">
              <a:defRPr sz="950" b="1">
                <a:solidFill>
                  <a:srgbClr val="566572"/>
                </a:solidFill>
                <a:latin typeface="Noto Sans"/>
              </a:defRPr>
            </a:pPr>
            <a:r>
              <a:rPr/>
              <a:t>Age</a:t>
            </a:r>
            <a:endParaRPr/>
          </a:p>
        </p:txBody>
      </p:sp>
      <p:cxnSp>
        <p:nvCxnSpPr>
          <p:cNvPr id="1982211454" name="Connector 11"/>
          <p:cNvCxnSpPr/>
          <p:nvPr/>
        </p:nvCxnSpPr>
        <p:spPr bwMode="auto">
          <a:xfrm>
            <a:off x="868680" y="2359152"/>
            <a:ext cx="4809744"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365870974" name="Rectangle 12"/>
          <p:cNvSpPr/>
          <p:nvPr/>
        </p:nvSpPr>
        <p:spPr bwMode="auto">
          <a:xfrm>
            <a:off x="850392" y="2450592"/>
            <a:ext cx="4846320" cy="28346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03929247" name="TextBox 13"/>
          <p:cNvSpPr txBox="1"/>
          <p:nvPr/>
        </p:nvSpPr>
        <p:spPr bwMode="auto">
          <a:xfrm>
            <a:off x="886968" y="2478024"/>
            <a:ext cx="169164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CC110174</a:t>
            </a:r>
            <a:endParaRPr/>
          </a:p>
        </p:txBody>
      </p:sp>
      <p:sp>
        <p:nvSpPr>
          <p:cNvPr id="1451086352" name="TextBox 14"/>
          <p:cNvSpPr txBox="1"/>
          <p:nvPr/>
        </p:nvSpPr>
        <p:spPr bwMode="auto">
          <a:xfrm>
            <a:off x="2788920" y="2478024"/>
            <a:ext cx="164592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Female</a:t>
            </a:r>
            <a:endParaRPr/>
          </a:p>
        </p:txBody>
      </p:sp>
      <p:sp>
        <p:nvSpPr>
          <p:cNvPr id="1921715707" name="TextBox 15"/>
          <p:cNvSpPr txBox="1"/>
          <p:nvPr/>
        </p:nvSpPr>
        <p:spPr bwMode="auto">
          <a:xfrm>
            <a:off x="4709160" y="2478024"/>
            <a:ext cx="822960" cy="182880"/>
          </a:xfrm>
          <a:prstGeom prst="rect">
            <a:avLst/>
          </a:prstGeom>
          <a:noFill/>
        </p:spPr>
        <p:txBody>
          <a:bodyPr wrap="square" lIns="36576" tIns="0" rIns="36576" bIns="0" anchor="t">
            <a:spAutoFit/>
          </a:bodyPr>
          <a:lstStyle/>
          <a:p>
            <a:pPr algn="r">
              <a:defRPr sz="900" b="0">
                <a:solidFill>
                  <a:srgbClr val="1D2730"/>
                </a:solidFill>
                <a:latin typeface="Noto Sans"/>
              </a:defRPr>
            </a:pPr>
            <a:r>
              <a:rPr/>
              <a:t>26.00</a:t>
            </a:r>
            <a:endParaRPr/>
          </a:p>
        </p:txBody>
      </p:sp>
      <p:sp>
        <p:nvSpPr>
          <p:cNvPr id="350007533" name="TextBox 16"/>
          <p:cNvSpPr txBox="1"/>
          <p:nvPr/>
        </p:nvSpPr>
        <p:spPr bwMode="auto">
          <a:xfrm>
            <a:off x="886968" y="2798064"/>
            <a:ext cx="169164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CC121144</a:t>
            </a:r>
            <a:endParaRPr/>
          </a:p>
        </p:txBody>
      </p:sp>
      <p:sp>
        <p:nvSpPr>
          <p:cNvPr id="1134459609" name="TextBox 17"/>
          <p:cNvSpPr txBox="1"/>
          <p:nvPr/>
        </p:nvSpPr>
        <p:spPr bwMode="auto">
          <a:xfrm>
            <a:off x="2788920" y="2798064"/>
            <a:ext cx="164592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Male</a:t>
            </a:r>
            <a:endParaRPr/>
          </a:p>
        </p:txBody>
      </p:sp>
      <p:sp>
        <p:nvSpPr>
          <p:cNvPr id="1430489666" name="TextBox 18"/>
          <p:cNvSpPr txBox="1"/>
          <p:nvPr/>
        </p:nvSpPr>
        <p:spPr bwMode="auto">
          <a:xfrm>
            <a:off x="4709160" y="2798064"/>
            <a:ext cx="822960" cy="182880"/>
          </a:xfrm>
          <a:prstGeom prst="rect">
            <a:avLst/>
          </a:prstGeom>
          <a:noFill/>
        </p:spPr>
        <p:txBody>
          <a:bodyPr wrap="square" lIns="36576" tIns="0" rIns="36576" bIns="0" anchor="t">
            <a:spAutoFit/>
          </a:bodyPr>
          <a:lstStyle/>
          <a:p>
            <a:pPr algn="r">
              <a:defRPr sz="900" b="0">
                <a:solidFill>
                  <a:srgbClr val="1D2730"/>
                </a:solidFill>
                <a:latin typeface="Noto Sans"/>
              </a:defRPr>
            </a:pPr>
            <a:r>
              <a:rPr/>
              <a:t>26.00</a:t>
            </a:r>
            <a:endParaRPr/>
          </a:p>
        </p:txBody>
      </p:sp>
      <p:sp>
        <p:nvSpPr>
          <p:cNvPr id="1387892173" name="Rectangle 19"/>
          <p:cNvSpPr/>
          <p:nvPr/>
        </p:nvSpPr>
        <p:spPr bwMode="auto">
          <a:xfrm>
            <a:off x="850392" y="3090672"/>
            <a:ext cx="4846320" cy="28346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77295601" name="TextBox 20"/>
          <p:cNvSpPr txBox="1"/>
          <p:nvPr/>
        </p:nvSpPr>
        <p:spPr bwMode="auto">
          <a:xfrm>
            <a:off x="886968" y="3118104"/>
            <a:ext cx="169164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CC310407</a:t>
            </a:r>
            <a:endParaRPr/>
          </a:p>
        </p:txBody>
      </p:sp>
      <p:sp>
        <p:nvSpPr>
          <p:cNvPr id="1129596614" name="TextBox 21"/>
          <p:cNvSpPr txBox="1"/>
          <p:nvPr/>
        </p:nvSpPr>
        <p:spPr bwMode="auto">
          <a:xfrm>
            <a:off x="2788920" y="3118104"/>
            <a:ext cx="164592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Female</a:t>
            </a:r>
            <a:endParaRPr/>
          </a:p>
        </p:txBody>
      </p:sp>
      <p:sp>
        <p:nvSpPr>
          <p:cNvPr id="1415216672" name="TextBox 22"/>
          <p:cNvSpPr txBox="1"/>
          <p:nvPr/>
        </p:nvSpPr>
        <p:spPr bwMode="auto">
          <a:xfrm>
            <a:off x="4709160" y="3118104"/>
            <a:ext cx="822960" cy="182880"/>
          </a:xfrm>
          <a:prstGeom prst="rect">
            <a:avLst/>
          </a:prstGeom>
          <a:noFill/>
        </p:spPr>
        <p:txBody>
          <a:bodyPr wrap="square" lIns="36576" tIns="0" rIns="36576" bIns="0" anchor="t">
            <a:spAutoFit/>
          </a:bodyPr>
          <a:lstStyle/>
          <a:p>
            <a:pPr algn="r">
              <a:defRPr sz="900" b="0">
                <a:solidFill>
                  <a:srgbClr val="1D2730"/>
                </a:solidFill>
                <a:latin typeface="Noto Sans"/>
              </a:defRPr>
            </a:pPr>
            <a:r>
              <a:rPr/>
              <a:t>39.00</a:t>
            </a:r>
            <a:endParaRPr/>
          </a:p>
        </p:txBody>
      </p:sp>
      <p:sp>
        <p:nvSpPr>
          <p:cNvPr id="1514692427" name="TextBox 23"/>
          <p:cNvSpPr txBox="1"/>
          <p:nvPr/>
        </p:nvSpPr>
        <p:spPr bwMode="auto">
          <a:xfrm>
            <a:off x="886968" y="3438144"/>
            <a:ext cx="169164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CC320616</a:t>
            </a:r>
            <a:endParaRPr/>
          </a:p>
        </p:txBody>
      </p:sp>
      <p:sp>
        <p:nvSpPr>
          <p:cNvPr id="1526856301" name="TextBox 24"/>
          <p:cNvSpPr txBox="1"/>
          <p:nvPr/>
        </p:nvSpPr>
        <p:spPr bwMode="auto">
          <a:xfrm>
            <a:off x="2788920" y="3438144"/>
            <a:ext cx="164592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Male</a:t>
            </a:r>
            <a:endParaRPr/>
          </a:p>
        </p:txBody>
      </p:sp>
      <p:sp>
        <p:nvSpPr>
          <p:cNvPr id="1020604581" name="TextBox 25"/>
          <p:cNvSpPr txBox="1"/>
          <p:nvPr/>
        </p:nvSpPr>
        <p:spPr bwMode="auto">
          <a:xfrm>
            <a:off x="4709160" y="3438144"/>
            <a:ext cx="822960" cy="182880"/>
          </a:xfrm>
          <a:prstGeom prst="rect">
            <a:avLst/>
          </a:prstGeom>
          <a:noFill/>
        </p:spPr>
        <p:txBody>
          <a:bodyPr wrap="square" lIns="36576" tIns="0" rIns="36576" bIns="0" anchor="t">
            <a:spAutoFit/>
          </a:bodyPr>
          <a:lstStyle/>
          <a:p>
            <a:pPr algn="r">
              <a:defRPr sz="900" b="0">
                <a:solidFill>
                  <a:srgbClr val="1D2730"/>
                </a:solidFill>
                <a:latin typeface="Noto Sans"/>
              </a:defRPr>
            </a:pPr>
            <a:r>
              <a:rPr/>
              <a:t>39.08</a:t>
            </a:r>
            <a:endParaRPr/>
          </a:p>
        </p:txBody>
      </p:sp>
      <p:sp>
        <p:nvSpPr>
          <p:cNvPr id="885366449" name="Rectangle 26"/>
          <p:cNvSpPr/>
          <p:nvPr/>
        </p:nvSpPr>
        <p:spPr bwMode="auto">
          <a:xfrm>
            <a:off x="850392" y="3730751"/>
            <a:ext cx="4846320" cy="28346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748308" name="TextBox 27"/>
          <p:cNvSpPr txBox="1"/>
          <p:nvPr/>
        </p:nvSpPr>
        <p:spPr bwMode="auto">
          <a:xfrm>
            <a:off x="886968" y="3758183"/>
            <a:ext cx="169164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CC420071</a:t>
            </a:r>
            <a:endParaRPr/>
          </a:p>
        </p:txBody>
      </p:sp>
      <p:sp>
        <p:nvSpPr>
          <p:cNvPr id="45743523" name="TextBox 28"/>
          <p:cNvSpPr txBox="1"/>
          <p:nvPr/>
        </p:nvSpPr>
        <p:spPr bwMode="auto">
          <a:xfrm>
            <a:off x="2788920" y="3758183"/>
            <a:ext cx="164592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Female</a:t>
            </a:r>
            <a:endParaRPr/>
          </a:p>
        </p:txBody>
      </p:sp>
      <p:sp>
        <p:nvSpPr>
          <p:cNvPr id="430597138" name="TextBox 29"/>
          <p:cNvSpPr txBox="1"/>
          <p:nvPr/>
        </p:nvSpPr>
        <p:spPr bwMode="auto">
          <a:xfrm>
            <a:off x="4709160" y="3758183"/>
            <a:ext cx="822960" cy="182880"/>
          </a:xfrm>
          <a:prstGeom prst="rect">
            <a:avLst/>
          </a:prstGeom>
          <a:noFill/>
        </p:spPr>
        <p:txBody>
          <a:bodyPr wrap="square" lIns="36576" tIns="0" rIns="36576" bIns="0" anchor="t">
            <a:spAutoFit/>
          </a:bodyPr>
          <a:lstStyle/>
          <a:p>
            <a:pPr algn="r">
              <a:defRPr sz="900" b="0">
                <a:solidFill>
                  <a:srgbClr val="1D2730"/>
                </a:solidFill>
                <a:latin typeface="Noto Sans"/>
              </a:defRPr>
            </a:pPr>
            <a:r>
              <a:rPr/>
              <a:t>52.58</a:t>
            </a:r>
            <a:endParaRPr/>
          </a:p>
        </p:txBody>
      </p:sp>
      <p:sp>
        <p:nvSpPr>
          <p:cNvPr id="453815468" name="TextBox 30"/>
          <p:cNvSpPr txBox="1"/>
          <p:nvPr/>
        </p:nvSpPr>
        <p:spPr bwMode="auto">
          <a:xfrm>
            <a:off x="886968" y="4078224"/>
            <a:ext cx="169164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CC410432</a:t>
            </a:r>
            <a:endParaRPr/>
          </a:p>
        </p:txBody>
      </p:sp>
      <p:sp>
        <p:nvSpPr>
          <p:cNvPr id="961015513" name="TextBox 31"/>
          <p:cNvSpPr txBox="1"/>
          <p:nvPr/>
        </p:nvSpPr>
        <p:spPr bwMode="auto">
          <a:xfrm>
            <a:off x="2788920" y="4078224"/>
            <a:ext cx="164592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Male</a:t>
            </a:r>
            <a:endParaRPr/>
          </a:p>
        </p:txBody>
      </p:sp>
      <p:sp>
        <p:nvSpPr>
          <p:cNvPr id="2006616251" name="TextBox 32"/>
          <p:cNvSpPr txBox="1"/>
          <p:nvPr/>
        </p:nvSpPr>
        <p:spPr bwMode="auto">
          <a:xfrm>
            <a:off x="4709160" y="4078224"/>
            <a:ext cx="822960" cy="182880"/>
          </a:xfrm>
          <a:prstGeom prst="rect">
            <a:avLst/>
          </a:prstGeom>
          <a:noFill/>
        </p:spPr>
        <p:txBody>
          <a:bodyPr wrap="square" lIns="36576" tIns="0" rIns="36576" bIns="0" anchor="t">
            <a:spAutoFit/>
          </a:bodyPr>
          <a:lstStyle/>
          <a:p>
            <a:pPr algn="r">
              <a:defRPr sz="900" b="0">
                <a:solidFill>
                  <a:srgbClr val="1D2730"/>
                </a:solidFill>
                <a:latin typeface="Noto Sans"/>
              </a:defRPr>
            </a:pPr>
            <a:r>
              <a:rPr/>
              <a:t>52.58</a:t>
            </a:r>
            <a:endParaRPr/>
          </a:p>
        </p:txBody>
      </p:sp>
      <p:sp>
        <p:nvSpPr>
          <p:cNvPr id="1007532595" name="Rectangle 33"/>
          <p:cNvSpPr/>
          <p:nvPr/>
        </p:nvSpPr>
        <p:spPr bwMode="auto">
          <a:xfrm>
            <a:off x="850392" y="4370831"/>
            <a:ext cx="4846320" cy="28346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58328513" name="TextBox 34"/>
          <p:cNvSpPr txBox="1"/>
          <p:nvPr/>
        </p:nvSpPr>
        <p:spPr bwMode="auto">
          <a:xfrm>
            <a:off x="886968" y="4398264"/>
            <a:ext cx="169164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CC520083</a:t>
            </a:r>
            <a:endParaRPr/>
          </a:p>
        </p:txBody>
      </p:sp>
      <p:sp>
        <p:nvSpPr>
          <p:cNvPr id="1026414236" name="TextBox 35"/>
          <p:cNvSpPr txBox="1"/>
          <p:nvPr/>
        </p:nvSpPr>
        <p:spPr bwMode="auto">
          <a:xfrm>
            <a:off x="2788920" y="4398264"/>
            <a:ext cx="164592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Female</a:t>
            </a:r>
            <a:endParaRPr/>
          </a:p>
        </p:txBody>
      </p:sp>
      <p:sp>
        <p:nvSpPr>
          <p:cNvPr id="1006627390" name="TextBox 36"/>
          <p:cNvSpPr txBox="1"/>
          <p:nvPr/>
        </p:nvSpPr>
        <p:spPr bwMode="auto">
          <a:xfrm>
            <a:off x="4709160" y="4398264"/>
            <a:ext cx="822960" cy="182880"/>
          </a:xfrm>
          <a:prstGeom prst="rect">
            <a:avLst/>
          </a:prstGeom>
          <a:noFill/>
        </p:spPr>
        <p:txBody>
          <a:bodyPr wrap="square" lIns="36576" tIns="0" rIns="36576" bIns="0" anchor="t">
            <a:spAutoFit/>
          </a:bodyPr>
          <a:lstStyle/>
          <a:p>
            <a:pPr algn="r">
              <a:defRPr sz="900" b="0">
                <a:solidFill>
                  <a:srgbClr val="1D2730"/>
                </a:solidFill>
                <a:latin typeface="Noto Sans"/>
              </a:defRPr>
            </a:pPr>
            <a:r>
              <a:rPr/>
              <a:t>65.08</a:t>
            </a:r>
            <a:endParaRPr/>
          </a:p>
        </p:txBody>
      </p:sp>
      <p:sp>
        <p:nvSpPr>
          <p:cNvPr id="553952519" name="TextBox 37"/>
          <p:cNvSpPr txBox="1"/>
          <p:nvPr/>
        </p:nvSpPr>
        <p:spPr bwMode="auto">
          <a:xfrm>
            <a:off x="886968" y="4718304"/>
            <a:ext cx="169164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CC520127</a:t>
            </a:r>
            <a:endParaRPr/>
          </a:p>
        </p:txBody>
      </p:sp>
      <p:sp>
        <p:nvSpPr>
          <p:cNvPr id="1195214065" name="TextBox 38"/>
          <p:cNvSpPr txBox="1"/>
          <p:nvPr/>
        </p:nvSpPr>
        <p:spPr bwMode="auto">
          <a:xfrm>
            <a:off x="2788920" y="4718304"/>
            <a:ext cx="164592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Male</a:t>
            </a:r>
            <a:endParaRPr/>
          </a:p>
        </p:txBody>
      </p:sp>
      <p:sp>
        <p:nvSpPr>
          <p:cNvPr id="1741555707" name="TextBox 39"/>
          <p:cNvSpPr txBox="1"/>
          <p:nvPr/>
        </p:nvSpPr>
        <p:spPr bwMode="auto">
          <a:xfrm>
            <a:off x="4709160" y="4718304"/>
            <a:ext cx="822960" cy="182880"/>
          </a:xfrm>
          <a:prstGeom prst="rect">
            <a:avLst/>
          </a:prstGeom>
          <a:noFill/>
        </p:spPr>
        <p:txBody>
          <a:bodyPr wrap="square" lIns="36576" tIns="0" rIns="36576" bIns="0" anchor="t">
            <a:spAutoFit/>
          </a:bodyPr>
          <a:lstStyle/>
          <a:p>
            <a:pPr algn="r">
              <a:defRPr sz="900" b="0">
                <a:solidFill>
                  <a:srgbClr val="1D2730"/>
                </a:solidFill>
                <a:latin typeface="Noto Sans"/>
              </a:defRPr>
            </a:pPr>
            <a:r>
              <a:rPr/>
              <a:t>66.00</a:t>
            </a:r>
            <a:endParaRPr/>
          </a:p>
        </p:txBody>
      </p:sp>
      <p:sp>
        <p:nvSpPr>
          <p:cNvPr id="1437585166" name="Rectangle 40"/>
          <p:cNvSpPr/>
          <p:nvPr/>
        </p:nvSpPr>
        <p:spPr bwMode="auto">
          <a:xfrm>
            <a:off x="850392" y="5010912"/>
            <a:ext cx="4846320" cy="28346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59608252" name="TextBox 41"/>
          <p:cNvSpPr txBox="1"/>
          <p:nvPr/>
        </p:nvSpPr>
        <p:spPr bwMode="auto">
          <a:xfrm>
            <a:off x="886968" y="5038344"/>
            <a:ext cx="169164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CC610631</a:t>
            </a:r>
            <a:endParaRPr/>
          </a:p>
        </p:txBody>
      </p:sp>
      <p:sp>
        <p:nvSpPr>
          <p:cNvPr id="1760535116" name="TextBox 42"/>
          <p:cNvSpPr txBox="1"/>
          <p:nvPr/>
        </p:nvSpPr>
        <p:spPr bwMode="auto">
          <a:xfrm>
            <a:off x="2788920" y="5038344"/>
            <a:ext cx="164592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Female</a:t>
            </a:r>
            <a:endParaRPr/>
          </a:p>
        </p:txBody>
      </p:sp>
      <p:sp>
        <p:nvSpPr>
          <p:cNvPr id="527174493" name="TextBox 43"/>
          <p:cNvSpPr txBox="1"/>
          <p:nvPr/>
        </p:nvSpPr>
        <p:spPr bwMode="auto">
          <a:xfrm>
            <a:off x="4709160" y="5038344"/>
            <a:ext cx="822960" cy="182880"/>
          </a:xfrm>
          <a:prstGeom prst="rect">
            <a:avLst/>
          </a:prstGeom>
          <a:noFill/>
        </p:spPr>
        <p:txBody>
          <a:bodyPr wrap="square" lIns="36576" tIns="0" rIns="36576" bIns="0" anchor="t">
            <a:spAutoFit/>
          </a:bodyPr>
          <a:lstStyle/>
          <a:p>
            <a:pPr algn="r">
              <a:defRPr sz="900" b="0">
                <a:solidFill>
                  <a:srgbClr val="1D2730"/>
                </a:solidFill>
                <a:latin typeface="Noto Sans"/>
              </a:defRPr>
            </a:pPr>
            <a:r>
              <a:rPr/>
              <a:t>77.58</a:t>
            </a:r>
            <a:endParaRPr/>
          </a:p>
        </p:txBody>
      </p:sp>
      <p:sp>
        <p:nvSpPr>
          <p:cNvPr id="1169281328" name="TextBox 44"/>
          <p:cNvSpPr txBox="1"/>
          <p:nvPr/>
        </p:nvSpPr>
        <p:spPr bwMode="auto">
          <a:xfrm>
            <a:off x="886968" y="5358383"/>
            <a:ext cx="169164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CC720941</a:t>
            </a:r>
            <a:endParaRPr/>
          </a:p>
        </p:txBody>
      </p:sp>
      <p:sp>
        <p:nvSpPr>
          <p:cNvPr id="56171746" name="TextBox 45"/>
          <p:cNvSpPr txBox="1"/>
          <p:nvPr/>
        </p:nvSpPr>
        <p:spPr bwMode="auto">
          <a:xfrm>
            <a:off x="2788920" y="5358383"/>
            <a:ext cx="1645920" cy="182880"/>
          </a:xfrm>
          <a:prstGeom prst="rect">
            <a:avLst/>
          </a:prstGeom>
          <a:noFill/>
        </p:spPr>
        <p:txBody>
          <a:bodyPr wrap="square" lIns="36576" tIns="0" rIns="36576" bIns="0" anchor="t">
            <a:spAutoFit/>
          </a:bodyPr>
          <a:lstStyle/>
          <a:p>
            <a:pPr algn="l">
              <a:defRPr sz="900" b="0">
                <a:solidFill>
                  <a:srgbClr val="1D2730"/>
                </a:solidFill>
                <a:latin typeface="Noto Sans"/>
              </a:defRPr>
            </a:pPr>
            <a:r>
              <a:rPr/>
              <a:t>Male</a:t>
            </a:r>
            <a:endParaRPr/>
          </a:p>
        </p:txBody>
      </p:sp>
      <p:sp>
        <p:nvSpPr>
          <p:cNvPr id="212700878" name="TextBox 46"/>
          <p:cNvSpPr txBox="1"/>
          <p:nvPr/>
        </p:nvSpPr>
        <p:spPr bwMode="auto">
          <a:xfrm>
            <a:off x="4709160" y="5358383"/>
            <a:ext cx="822960" cy="182880"/>
          </a:xfrm>
          <a:prstGeom prst="rect">
            <a:avLst/>
          </a:prstGeom>
          <a:noFill/>
        </p:spPr>
        <p:txBody>
          <a:bodyPr wrap="square" lIns="36576" tIns="0" rIns="36576" bIns="0" anchor="t">
            <a:spAutoFit/>
          </a:bodyPr>
          <a:lstStyle/>
          <a:p>
            <a:pPr algn="r">
              <a:defRPr sz="900" b="0">
                <a:solidFill>
                  <a:srgbClr val="1D2730"/>
                </a:solidFill>
                <a:latin typeface="Noto Sans"/>
              </a:defRPr>
            </a:pPr>
            <a:r>
              <a:rPr/>
              <a:t>79.17</a:t>
            </a:r>
            <a:endParaRPr/>
          </a:p>
        </p:txBody>
      </p:sp>
      <p:sp>
        <p:nvSpPr>
          <p:cNvPr id="952528439" name="Rounded Rectangle 47"/>
          <p:cNvSpPr/>
          <p:nvPr/>
        </p:nvSpPr>
        <p:spPr bwMode="auto">
          <a:xfrm>
            <a:off x="6236208" y="1307592"/>
            <a:ext cx="5376672" cy="4892039"/>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91351260" name="TextBox 48"/>
          <p:cNvSpPr txBox="1"/>
          <p:nvPr/>
        </p:nvSpPr>
        <p:spPr bwMode="auto">
          <a:xfrm>
            <a:off x="6528816" y="1600200"/>
            <a:ext cx="3108960" cy="292608"/>
          </a:xfrm>
          <a:prstGeom prst="rect">
            <a:avLst/>
          </a:prstGeom>
          <a:noFill/>
        </p:spPr>
        <p:txBody>
          <a:bodyPr wrap="square" lIns="36576" tIns="0" rIns="36576" bIns="0" anchor="t">
            <a:spAutoFit/>
          </a:bodyPr>
          <a:lstStyle/>
          <a:p>
            <a:pPr algn="l">
              <a:defRPr sz="1700" b="1">
                <a:solidFill>
                  <a:srgbClr val="0C1E30"/>
                </a:solidFill>
                <a:latin typeface="Noto Sans"/>
              </a:defRPr>
            </a:pPr>
            <a:r>
              <a:rPr/>
              <a:t>Target-specific TI montages</a:t>
            </a:r>
            <a:endParaRPr/>
          </a:p>
        </p:txBody>
      </p:sp>
      <p:sp>
        <p:nvSpPr>
          <p:cNvPr id="1989430617" name="TextBox 49"/>
          <p:cNvSpPr txBox="1"/>
          <p:nvPr/>
        </p:nvSpPr>
        <p:spPr bwMode="auto">
          <a:xfrm>
            <a:off x="6556248" y="2084831"/>
            <a:ext cx="1600200" cy="201168"/>
          </a:xfrm>
          <a:prstGeom prst="rect">
            <a:avLst/>
          </a:prstGeom>
          <a:noFill/>
        </p:spPr>
        <p:txBody>
          <a:bodyPr wrap="square" lIns="36576" tIns="0" rIns="36576" bIns="0" anchor="t">
            <a:spAutoFit/>
          </a:bodyPr>
          <a:lstStyle/>
          <a:p>
            <a:pPr algn="l">
              <a:defRPr sz="950" b="1">
                <a:solidFill>
                  <a:srgbClr val="566572"/>
                </a:solidFill>
                <a:latin typeface="Noto Sans"/>
              </a:defRPr>
            </a:pPr>
            <a:r>
              <a:rPr/>
              <a:t>Target</a:t>
            </a:r>
            <a:endParaRPr/>
          </a:p>
        </p:txBody>
      </p:sp>
      <p:sp>
        <p:nvSpPr>
          <p:cNvPr id="967216499" name="TextBox 50"/>
          <p:cNvSpPr txBox="1"/>
          <p:nvPr/>
        </p:nvSpPr>
        <p:spPr bwMode="auto">
          <a:xfrm>
            <a:off x="8321039" y="2084831"/>
            <a:ext cx="1508759" cy="201168"/>
          </a:xfrm>
          <a:prstGeom prst="rect">
            <a:avLst/>
          </a:prstGeom>
          <a:noFill/>
        </p:spPr>
        <p:txBody>
          <a:bodyPr wrap="square" lIns="36576" tIns="0" rIns="36576" bIns="0" anchor="t">
            <a:spAutoFit/>
          </a:bodyPr>
          <a:lstStyle/>
          <a:p>
            <a:pPr algn="l">
              <a:defRPr sz="950" b="1">
                <a:solidFill>
                  <a:srgbClr val="566572"/>
                </a:solidFill>
                <a:latin typeface="Noto Sans"/>
              </a:defRPr>
            </a:pPr>
            <a:r>
              <a:rPr/>
              <a:t>Electrode pair</a:t>
            </a:r>
            <a:endParaRPr/>
          </a:p>
        </p:txBody>
      </p:sp>
      <p:sp>
        <p:nvSpPr>
          <p:cNvPr id="1284030853" name="TextBox 51"/>
          <p:cNvSpPr txBox="1"/>
          <p:nvPr/>
        </p:nvSpPr>
        <p:spPr bwMode="auto">
          <a:xfrm>
            <a:off x="10149840" y="2084831"/>
            <a:ext cx="1097280" cy="201168"/>
          </a:xfrm>
          <a:prstGeom prst="rect">
            <a:avLst/>
          </a:prstGeom>
          <a:noFill/>
        </p:spPr>
        <p:txBody>
          <a:bodyPr wrap="square" lIns="36576" tIns="0" rIns="36576" bIns="0" anchor="t">
            <a:spAutoFit/>
          </a:bodyPr>
          <a:lstStyle/>
          <a:p>
            <a:pPr algn="r">
              <a:defRPr sz="950" b="1">
                <a:solidFill>
                  <a:srgbClr val="566572"/>
                </a:solidFill>
                <a:latin typeface="Noto Sans"/>
              </a:defRPr>
            </a:pPr>
            <a:r>
              <a:rPr/>
              <a:t>Current</a:t>
            </a:r>
            <a:endParaRPr/>
          </a:p>
        </p:txBody>
      </p:sp>
      <p:cxnSp>
        <p:nvCxnSpPr>
          <p:cNvPr id="1709338762" name="Connector 52"/>
          <p:cNvCxnSpPr/>
          <p:nvPr/>
        </p:nvCxnSpPr>
        <p:spPr bwMode="auto">
          <a:xfrm>
            <a:off x="6537960" y="2359152"/>
            <a:ext cx="473659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1826534563" name="Rectangle 53"/>
          <p:cNvSpPr/>
          <p:nvPr/>
        </p:nvSpPr>
        <p:spPr bwMode="auto">
          <a:xfrm>
            <a:off x="6519672" y="2560320"/>
            <a:ext cx="4773168" cy="429768"/>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94053425" name="TextBox 54"/>
          <p:cNvSpPr txBox="1"/>
          <p:nvPr/>
        </p:nvSpPr>
        <p:spPr bwMode="auto">
          <a:xfrm>
            <a:off x="6565392" y="2606040"/>
            <a:ext cx="1600200" cy="201168"/>
          </a:xfrm>
          <a:prstGeom prst="rect">
            <a:avLst/>
          </a:prstGeom>
          <a:noFill/>
        </p:spPr>
        <p:txBody>
          <a:bodyPr wrap="square" lIns="36576" tIns="0" rIns="36576" bIns="0" anchor="t">
            <a:spAutoFit/>
          </a:bodyPr>
          <a:lstStyle/>
          <a:p>
            <a:pPr algn="l">
              <a:defRPr sz="1000" b="1">
                <a:solidFill>
                  <a:srgbClr val="1D2730"/>
                </a:solidFill>
                <a:latin typeface="Noto Sans"/>
              </a:defRPr>
            </a:pPr>
            <a:r>
              <a:rPr/>
              <a:t>Left hippocampus</a:t>
            </a:r>
            <a:endParaRPr/>
          </a:p>
        </p:txBody>
      </p:sp>
      <p:sp>
        <p:nvSpPr>
          <p:cNvPr id="1990248416" name="TextBox 55"/>
          <p:cNvSpPr txBox="1"/>
          <p:nvPr/>
        </p:nvSpPr>
        <p:spPr bwMode="auto">
          <a:xfrm>
            <a:off x="8321039" y="2606040"/>
            <a:ext cx="1508759" cy="201168"/>
          </a:xfrm>
          <a:prstGeom prst="rect">
            <a:avLst/>
          </a:prstGeom>
          <a:noFill/>
        </p:spPr>
        <p:txBody>
          <a:bodyPr wrap="square" lIns="36576" tIns="0" rIns="36576" bIns="0" anchor="t">
            <a:spAutoFit/>
          </a:bodyPr>
          <a:lstStyle/>
          <a:p>
            <a:pPr algn="l">
              <a:defRPr sz="1000" b="0">
                <a:solidFill>
                  <a:srgbClr val="1D2730"/>
                </a:solidFill>
                <a:latin typeface="Noto Sans"/>
              </a:defRPr>
            </a:pPr>
            <a:r>
              <a:rPr/>
              <a:t>F8–P8</a:t>
            </a:r>
            <a:endParaRPr/>
          </a:p>
        </p:txBody>
      </p:sp>
      <p:sp>
        <p:nvSpPr>
          <p:cNvPr id="239719263" name="TextBox 56"/>
          <p:cNvSpPr txBox="1"/>
          <p:nvPr/>
        </p:nvSpPr>
        <p:spPr bwMode="auto">
          <a:xfrm>
            <a:off x="10085832" y="2606040"/>
            <a:ext cx="1170432" cy="201168"/>
          </a:xfrm>
          <a:prstGeom prst="rect">
            <a:avLst/>
          </a:prstGeom>
          <a:noFill/>
        </p:spPr>
        <p:txBody>
          <a:bodyPr wrap="square" lIns="36576" tIns="0" rIns="36576" bIns="0" anchor="t">
            <a:spAutoFit/>
          </a:bodyPr>
          <a:lstStyle/>
          <a:p>
            <a:pPr algn="r">
              <a:defRPr sz="1000" b="0">
                <a:solidFill>
                  <a:srgbClr val="1D2730"/>
                </a:solidFill>
                <a:latin typeface="Noto Sans"/>
              </a:defRPr>
            </a:pPr>
            <a:r>
              <a:rPr/>
              <a:t>2.000 mA</a:t>
            </a:r>
            <a:endParaRPr/>
          </a:p>
        </p:txBody>
      </p:sp>
      <p:sp>
        <p:nvSpPr>
          <p:cNvPr id="189614637" name="TextBox 57"/>
          <p:cNvSpPr txBox="1"/>
          <p:nvPr/>
        </p:nvSpPr>
        <p:spPr bwMode="auto">
          <a:xfrm>
            <a:off x="6565392" y="3108960"/>
            <a:ext cx="1600200" cy="201168"/>
          </a:xfrm>
          <a:prstGeom prst="rect">
            <a:avLst/>
          </a:prstGeom>
          <a:noFill/>
        </p:spPr>
        <p:txBody>
          <a:bodyPr wrap="square" lIns="36576" tIns="0" rIns="36576" bIns="0" anchor="t">
            <a:spAutoFit/>
          </a:bodyPr>
          <a:lstStyle/>
          <a:p>
            <a:pPr algn="l">
              <a:defRPr sz="1000" b="0">
                <a:solidFill>
                  <a:srgbClr val="1D2730"/>
                </a:solidFill>
                <a:latin typeface="Noto Sans"/>
              </a:defRPr>
            </a:pPr>
            <a:endParaRPr/>
          </a:p>
        </p:txBody>
      </p:sp>
      <p:sp>
        <p:nvSpPr>
          <p:cNvPr id="1508653344" name="TextBox 58"/>
          <p:cNvSpPr txBox="1"/>
          <p:nvPr/>
        </p:nvSpPr>
        <p:spPr bwMode="auto">
          <a:xfrm>
            <a:off x="8321039" y="3108960"/>
            <a:ext cx="1508759" cy="201168"/>
          </a:xfrm>
          <a:prstGeom prst="rect">
            <a:avLst/>
          </a:prstGeom>
          <a:noFill/>
        </p:spPr>
        <p:txBody>
          <a:bodyPr wrap="square" lIns="36576" tIns="0" rIns="36576" bIns="0" anchor="t">
            <a:spAutoFit/>
          </a:bodyPr>
          <a:lstStyle/>
          <a:p>
            <a:pPr algn="l">
              <a:defRPr sz="1000" b="0">
                <a:solidFill>
                  <a:srgbClr val="1D2730"/>
                </a:solidFill>
                <a:latin typeface="Noto Sans"/>
              </a:defRPr>
            </a:pPr>
            <a:r>
              <a:rPr/>
              <a:t>T7–P7</a:t>
            </a:r>
            <a:endParaRPr/>
          </a:p>
        </p:txBody>
      </p:sp>
      <p:sp>
        <p:nvSpPr>
          <p:cNvPr id="1164692653" name="TextBox 59"/>
          <p:cNvSpPr txBox="1"/>
          <p:nvPr/>
        </p:nvSpPr>
        <p:spPr bwMode="auto">
          <a:xfrm>
            <a:off x="10085832" y="3108960"/>
            <a:ext cx="1170432" cy="201168"/>
          </a:xfrm>
          <a:prstGeom prst="rect">
            <a:avLst/>
          </a:prstGeom>
          <a:noFill/>
        </p:spPr>
        <p:txBody>
          <a:bodyPr wrap="square" lIns="36576" tIns="0" rIns="36576" bIns="0" anchor="t">
            <a:spAutoFit/>
          </a:bodyPr>
          <a:lstStyle/>
          <a:p>
            <a:pPr algn="r">
              <a:defRPr sz="1000" b="0">
                <a:solidFill>
                  <a:srgbClr val="1D2730"/>
                </a:solidFill>
                <a:latin typeface="Noto Sans"/>
              </a:defRPr>
            </a:pPr>
            <a:r>
              <a:rPr/>
              <a:t>1.588656 mA</a:t>
            </a:r>
            <a:endParaRPr/>
          </a:p>
        </p:txBody>
      </p:sp>
      <p:sp>
        <p:nvSpPr>
          <p:cNvPr id="1680858732" name="Rectangle 60"/>
          <p:cNvSpPr/>
          <p:nvPr/>
        </p:nvSpPr>
        <p:spPr bwMode="auto">
          <a:xfrm>
            <a:off x="6519672" y="3566160"/>
            <a:ext cx="4773168" cy="429768"/>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06831230" name="TextBox 61"/>
          <p:cNvSpPr txBox="1"/>
          <p:nvPr/>
        </p:nvSpPr>
        <p:spPr bwMode="auto">
          <a:xfrm>
            <a:off x="6565392" y="3611880"/>
            <a:ext cx="1600200" cy="201168"/>
          </a:xfrm>
          <a:prstGeom prst="rect">
            <a:avLst/>
          </a:prstGeom>
          <a:noFill/>
        </p:spPr>
        <p:txBody>
          <a:bodyPr wrap="square" lIns="36576" tIns="0" rIns="36576" bIns="0" anchor="t">
            <a:spAutoFit/>
          </a:bodyPr>
          <a:lstStyle/>
          <a:p>
            <a:pPr algn="l">
              <a:defRPr sz="1000" b="1">
                <a:solidFill>
                  <a:srgbClr val="1D2730"/>
                </a:solidFill>
                <a:latin typeface="Noto Sans"/>
              </a:defRPr>
            </a:pPr>
            <a:r>
              <a:rPr/>
              <a:t>Right M1</a:t>
            </a:r>
            <a:endParaRPr/>
          </a:p>
        </p:txBody>
      </p:sp>
      <p:sp>
        <p:nvSpPr>
          <p:cNvPr id="557450731" name="TextBox 62"/>
          <p:cNvSpPr txBox="1"/>
          <p:nvPr/>
        </p:nvSpPr>
        <p:spPr bwMode="auto">
          <a:xfrm>
            <a:off x="8321039" y="3611880"/>
            <a:ext cx="1508759" cy="201168"/>
          </a:xfrm>
          <a:prstGeom prst="rect">
            <a:avLst/>
          </a:prstGeom>
          <a:noFill/>
        </p:spPr>
        <p:txBody>
          <a:bodyPr wrap="square" lIns="36576" tIns="0" rIns="36576" bIns="0" anchor="t">
            <a:spAutoFit/>
          </a:bodyPr>
          <a:lstStyle/>
          <a:p>
            <a:pPr algn="l">
              <a:defRPr sz="1000" b="0">
                <a:solidFill>
                  <a:srgbClr val="1D2730"/>
                </a:solidFill>
                <a:latin typeface="Noto Sans"/>
              </a:defRPr>
            </a:pPr>
            <a:r>
              <a:rPr/>
              <a:t>Fp2–F6</a:t>
            </a:r>
            <a:endParaRPr/>
          </a:p>
        </p:txBody>
      </p:sp>
      <p:sp>
        <p:nvSpPr>
          <p:cNvPr id="1481599709" name="TextBox 63"/>
          <p:cNvSpPr txBox="1"/>
          <p:nvPr/>
        </p:nvSpPr>
        <p:spPr bwMode="auto">
          <a:xfrm>
            <a:off x="10085832" y="3611880"/>
            <a:ext cx="1170432" cy="201168"/>
          </a:xfrm>
          <a:prstGeom prst="rect">
            <a:avLst/>
          </a:prstGeom>
          <a:noFill/>
        </p:spPr>
        <p:txBody>
          <a:bodyPr wrap="square" lIns="36576" tIns="0" rIns="36576" bIns="0" anchor="t">
            <a:spAutoFit/>
          </a:bodyPr>
          <a:lstStyle/>
          <a:p>
            <a:pPr algn="r">
              <a:defRPr sz="1000" b="0">
                <a:solidFill>
                  <a:srgbClr val="1D2730"/>
                </a:solidFill>
                <a:latin typeface="Noto Sans"/>
              </a:defRPr>
            </a:pPr>
            <a:r>
              <a:rPr/>
              <a:t>2.000 mA</a:t>
            </a:r>
            <a:endParaRPr/>
          </a:p>
        </p:txBody>
      </p:sp>
      <p:sp>
        <p:nvSpPr>
          <p:cNvPr id="1656803043" name="TextBox 64"/>
          <p:cNvSpPr txBox="1"/>
          <p:nvPr/>
        </p:nvSpPr>
        <p:spPr bwMode="auto">
          <a:xfrm>
            <a:off x="6565392" y="4114800"/>
            <a:ext cx="1600200" cy="201168"/>
          </a:xfrm>
          <a:prstGeom prst="rect">
            <a:avLst/>
          </a:prstGeom>
          <a:noFill/>
        </p:spPr>
        <p:txBody>
          <a:bodyPr wrap="square" lIns="36576" tIns="0" rIns="36576" bIns="0" anchor="t">
            <a:spAutoFit/>
          </a:bodyPr>
          <a:lstStyle/>
          <a:p>
            <a:pPr algn="l">
              <a:defRPr sz="1000" b="0">
                <a:solidFill>
                  <a:srgbClr val="1D2730"/>
                </a:solidFill>
                <a:latin typeface="Noto Sans"/>
              </a:defRPr>
            </a:pPr>
            <a:endParaRPr/>
          </a:p>
        </p:txBody>
      </p:sp>
      <p:sp>
        <p:nvSpPr>
          <p:cNvPr id="1502133250" name="TextBox 65"/>
          <p:cNvSpPr txBox="1"/>
          <p:nvPr/>
        </p:nvSpPr>
        <p:spPr bwMode="auto">
          <a:xfrm>
            <a:off x="8321039" y="4114800"/>
            <a:ext cx="1508759" cy="201168"/>
          </a:xfrm>
          <a:prstGeom prst="rect">
            <a:avLst/>
          </a:prstGeom>
          <a:noFill/>
        </p:spPr>
        <p:txBody>
          <a:bodyPr wrap="square" lIns="36576" tIns="0" rIns="36576" bIns="0" anchor="t">
            <a:spAutoFit/>
          </a:bodyPr>
          <a:lstStyle/>
          <a:p>
            <a:pPr algn="l">
              <a:defRPr sz="1000" b="0">
                <a:solidFill>
                  <a:srgbClr val="1D2730"/>
                </a:solidFill>
                <a:latin typeface="Noto Sans"/>
              </a:defRPr>
            </a:pPr>
            <a:r>
              <a:rPr/>
              <a:t>C4–CP2</a:t>
            </a:r>
            <a:endParaRPr/>
          </a:p>
        </p:txBody>
      </p:sp>
      <p:sp>
        <p:nvSpPr>
          <p:cNvPr id="1477921962" name="TextBox 66"/>
          <p:cNvSpPr txBox="1"/>
          <p:nvPr/>
        </p:nvSpPr>
        <p:spPr bwMode="auto">
          <a:xfrm>
            <a:off x="10085832" y="4114800"/>
            <a:ext cx="1170432" cy="201168"/>
          </a:xfrm>
          <a:prstGeom prst="rect">
            <a:avLst/>
          </a:prstGeom>
          <a:noFill/>
        </p:spPr>
        <p:txBody>
          <a:bodyPr wrap="square" lIns="36576" tIns="0" rIns="36576" bIns="0" anchor="t">
            <a:spAutoFit/>
          </a:bodyPr>
          <a:lstStyle/>
          <a:p>
            <a:pPr algn="r">
              <a:defRPr sz="1000" b="0">
                <a:solidFill>
                  <a:srgbClr val="1D2730"/>
                </a:solidFill>
                <a:latin typeface="Noto Sans"/>
              </a:defRPr>
            </a:pPr>
            <a:r>
              <a:rPr/>
              <a:t>0.632456 mA</a:t>
            </a:r>
            <a:endParaRPr/>
          </a:p>
        </p:txBody>
      </p:sp>
      <p:sp>
        <p:nvSpPr>
          <p:cNvPr id="1343575094" name="Rounded Rectangle 67"/>
          <p:cNvSpPr/>
          <p:nvPr/>
        </p:nvSpPr>
        <p:spPr bwMode="auto">
          <a:xfrm>
            <a:off x="6528816" y="4983480"/>
            <a:ext cx="4754880" cy="841248"/>
          </a:xfrm>
          <a:prstGeom prst="roundRect">
            <a:avLst>
              <a:gd name="adj" fmla="val 16667"/>
            </a:avLst>
          </a:prstGeom>
          <a:solidFill>
            <a:srgbClr val="E0EFF9"/>
          </a:solidFill>
          <a:ln w="10160">
            <a:solidFill>
              <a:srgbClr val="256F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56998766" name="TextBox 68"/>
          <p:cNvSpPr txBox="1"/>
          <p:nvPr/>
        </p:nvSpPr>
        <p:spPr bwMode="auto">
          <a:xfrm>
            <a:off x="6793992" y="5212080"/>
            <a:ext cx="1097280" cy="201168"/>
          </a:xfrm>
          <a:prstGeom prst="rect">
            <a:avLst/>
          </a:prstGeom>
          <a:noFill/>
        </p:spPr>
        <p:txBody>
          <a:bodyPr wrap="square" lIns="36576" tIns="0" rIns="36576" bIns="0" anchor="t">
            <a:spAutoFit/>
          </a:bodyPr>
          <a:lstStyle/>
          <a:p>
            <a:pPr algn="l">
              <a:defRPr sz="1000" b="1">
                <a:solidFill>
                  <a:srgbClr val="194874"/>
                </a:solidFill>
                <a:latin typeface="Noto Sans"/>
              </a:defRPr>
            </a:pPr>
            <a:r>
              <a:rPr/>
              <a:t>Electrodes</a:t>
            </a:r>
            <a:endParaRPr/>
          </a:p>
        </p:txBody>
      </p:sp>
      <p:sp>
        <p:nvSpPr>
          <p:cNvPr id="304093925" name="TextBox 69"/>
          <p:cNvSpPr txBox="1"/>
          <p:nvPr/>
        </p:nvSpPr>
        <p:spPr bwMode="auto">
          <a:xfrm>
            <a:off x="7818120" y="5157216"/>
            <a:ext cx="3163824" cy="393192"/>
          </a:xfrm>
          <a:prstGeom prst="rect">
            <a:avLst/>
          </a:prstGeom>
          <a:noFill/>
        </p:spPr>
        <p:txBody>
          <a:bodyPr wrap="square" lIns="36576" tIns="0" rIns="36576" bIns="0" anchor="t">
            <a:spAutoFit/>
          </a:bodyPr>
          <a:lstStyle/>
          <a:p>
            <a:pPr algn="l">
              <a:defRPr sz="1150" b="0">
                <a:solidFill>
                  <a:srgbClr val="1D2730"/>
                </a:solidFill>
                <a:latin typeface="Noto Sans"/>
              </a:defRPr>
            </a:pPr>
            <a:r>
              <a:rPr/>
              <a:t>20 × 20 × 2 mm circular in-plane • conductivity 1.4 S/m</a:t>
            </a:r>
            <a:endParaRPr/>
          </a:p>
        </p:txBody>
      </p:sp>
      <p:sp>
        <p:nvSpPr>
          <p:cNvPr id="1944971050" name="TextBox 70"/>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566572"/>
                </a:solidFill>
                <a:latin typeface="Noto Sans"/>
              </a:defRPr>
            </a:pPr>
            <a:r>
              <a:rPr/>
              <a:t>Same participants evaluated for both target ROIs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8FA"/>
        </a:solidFill>
      </p:bgPr>
    </p:bg>
    <p:spTree>
      <p:nvGrpSpPr>
        <p:cNvPr id="1" name=""/>
        <p:cNvGrpSpPr/>
        <p:nvPr/>
      </p:nvGrpSpPr>
      <p:grpSpPr bwMode="auto">
        <a:xfrm>
          <a:off x="0" y="0"/>
          <a:ext cx="0" cy="0"/>
          <a:chOff x="0" y="0"/>
          <a:chExt cx="0" cy="0"/>
        </a:xfrm>
      </p:grpSpPr>
      <p:sp>
        <p:nvSpPr>
          <p:cNvPr id="429545146"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PROVENANCE AND SENSITIVITY CHECKS</a:t>
            </a:r>
            <a:endParaRPr/>
          </a:p>
        </p:txBody>
      </p:sp>
      <p:sp>
        <p:nvSpPr>
          <p:cNvPr id="409083055"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Appendix • the current results use the corrected spherical-ROI workflow</a:t>
            </a:r>
            <a:endParaRPr/>
          </a:p>
        </p:txBody>
      </p:sp>
      <p:cxnSp>
        <p:nvCxnSpPr>
          <p:cNvPr id="304004096"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1150699488"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20</a:t>
            </a:r>
            <a:endParaRPr/>
          </a:p>
        </p:txBody>
      </p:sp>
      <p:sp>
        <p:nvSpPr>
          <p:cNvPr id="933246504" name="Rounded Rectangle 6"/>
          <p:cNvSpPr/>
          <p:nvPr/>
        </p:nvSpPr>
        <p:spPr bwMode="auto">
          <a:xfrm>
            <a:off x="594360" y="1344168"/>
            <a:ext cx="5376672" cy="4517136"/>
          </a:xfrm>
          <a:prstGeom prst="roundRect">
            <a:avLst>
              <a:gd name="adj" fmla="val 16667"/>
            </a:avLst>
          </a:prstGeom>
          <a:solidFill>
            <a:srgbClr val="FCECE2"/>
          </a:solidFill>
          <a:ln w="10160">
            <a:solidFill>
              <a:srgbClr val="C25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04661853" name="TextBox 7"/>
          <p:cNvSpPr txBox="1"/>
          <p:nvPr/>
        </p:nvSpPr>
        <p:spPr bwMode="auto">
          <a:xfrm>
            <a:off x="896112" y="1673352"/>
            <a:ext cx="4480560" cy="320040"/>
          </a:xfrm>
          <a:prstGeom prst="rect">
            <a:avLst/>
          </a:prstGeom>
          <a:noFill/>
        </p:spPr>
        <p:txBody>
          <a:bodyPr wrap="square" lIns="36576" tIns="0" rIns="36576" bIns="0" anchor="t">
            <a:spAutoFit/>
          </a:bodyPr>
          <a:lstStyle/>
          <a:p>
            <a:pPr algn="l">
              <a:defRPr sz="1800" b="1">
                <a:solidFill>
                  <a:srgbClr val="0C1E30"/>
                </a:solidFill>
                <a:latin typeface="Noto Sans"/>
              </a:defRPr>
            </a:pPr>
            <a:r>
              <a:rPr/>
              <a:t>Fixed-mesh selection correction</a:t>
            </a:r>
            <a:endParaRPr/>
          </a:p>
        </p:txBody>
      </p:sp>
      <p:sp>
        <p:nvSpPr>
          <p:cNvPr id="338551835" name="TextBox 8"/>
          <p:cNvSpPr txBox="1"/>
          <p:nvPr/>
        </p:nvSpPr>
        <p:spPr bwMode="auto">
          <a:xfrm>
            <a:off x="896112" y="2286000"/>
            <a:ext cx="1645920" cy="201168"/>
          </a:xfrm>
          <a:prstGeom prst="rect">
            <a:avLst/>
          </a:prstGeom>
          <a:noFill/>
        </p:spPr>
        <p:txBody>
          <a:bodyPr wrap="square" lIns="36576" tIns="0" rIns="36576" bIns="0" anchor="t">
            <a:spAutoFit/>
          </a:bodyPr>
          <a:lstStyle/>
          <a:p>
            <a:pPr algn="l">
              <a:defRPr sz="1000" b="1">
                <a:solidFill>
                  <a:srgbClr val="566572"/>
                </a:solidFill>
                <a:latin typeface="Noto Sans"/>
              </a:defRPr>
            </a:pPr>
            <a:r>
              <a:rPr/>
              <a:t>Historical selector</a:t>
            </a:r>
            <a:endParaRPr/>
          </a:p>
        </p:txBody>
      </p:sp>
      <p:sp>
        <p:nvSpPr>
          <p:cNvPr id="1760932538" name="TextBox 9"/>
          <p:cNvSpPr txBox="1"/>
          <p:nvPr/>
        </p:nvSpPr>
        <p:spPr bwMode="auto">
          <a:xfrm>
            <a:off x="2322576" y="2258568"/>
            <a:ext cx="3017519" cy="274320"/>
          </a:xfrm>
          <a:prstGeom prst="rect">
            <a:avLst/>
          </a:prstGeom>
          <a:noFill/>
        </p:spPr>
        <p:txBody>
          <a:bodyPr wrap="square" lIns="36576" tIns="0" rIns="36576" bIns="0" anchor="t">
            <a:spAutoFit/>
          </a:bodyPr>
          <a:lstStyle/>
          <a:p>
            <a:pPr algn="l">
              <a:defRPr sz="1400" b="0">
                <a:solidFill>
                  <a:srgbClr val="1D2730"/>
                </a:solidFill>
                <a:latin typeface="Noto Sans"/>
              </a:defRPr>
            </a:pPr>
            <a:r>
              <a:rPr/>
              <a:t>whole anatomical parcel median</a:t>
            </a:r>
            <a:endParaRPr/>
          </a:p>
        </p:txBody>
      </p:sp>
      <p:cxnSp>
        <p:nvCxnSpPr>
          <p:cNvPr id="1203895856" name="Connector 10"/>
          <p:cNvCxnSpPr/>
          <p:nvPr/>
        </p:nvCxnSpPr>
        <p:spPr bwMode="auto">
          <a:xfrm>
            <a:off x="1371600" y="2944368"/>
            <a:ext cx="3794760" cy="0"/>
          </a:xfrm>
          <a:prstGeom prst="line">
            <a:avLst/>
          </a:prstGeom>
          <a:ln w="20320">
            <a:solidFill>
              <a:srgbClr val="C25B23"/>
            </a:solidFill>
          </a:ln>
        </p:spPr>
        <p:style>
          <a:lnRef idx="2">
            <a:schemeClr val="accent1"/>
          </a:lnRef>
          <a:fillRef idx="0">
            <a:schemeClr val="accent1"/>
          </a:fillRef>
          <a:effectRef idx="1">
            <a:schemeClr val="accent1"/>
          </a:effectRef>
          <a:fontRef idx="minor">
            <a:schemeClr val="tx1"/>
          </a:fontRef>
        </p:style>
      </p:cxnSp>
      <p:sp>
        <p:nvSpPr>
          <p:cNvPr id="511870986" name="TextBox 11"/>
          <p:cNvSpPr txBox="1"/>
          <p:nvPr/>
        </p:nvSpPr>
        <p:spPr bwMode="auto">
          <a:xfrm>
            <a:off x="896112" y="3255264"/>
            <a:ext cx="1645920" cy="201168"/>
          </a:xfrm>
          <a:prstGeom prst="rect">
            <a:avLst/>
          </a:prstGeom>
          <a:noFill/>
        </p:spPr>
        <p:txBody>
          <a:bodyPr wrap="square" lIns="36576" tIns="0" rIns="36576" bIns="0" anchor="t">
            <a:spAutoFit/>
          </a:bodyPr>
          <a:lstStyle/>
          <a:p>
            <a:pPr algn="l">
              <a:defRPr sz="1000" b="1">
                <a:solidFill>
                  <a:srgbClr val="C25B23"/>
                </a:solidFill>
                <a:latin typeface="Noto Sans"/>
              </a:defRPr>
            </a:pPr>
            <a:r>
              <a:rPr/>
              <a:t>Corrected selector</a:t>
            </a:r>
            <a:endParaRPr/>
          </a:p>
        </p:txBody>
      </p:sp>
      <p:sp>
        <p:nvSpPr>
          <p:cNvPr id="1498396705" name="TextBox 12"/>
          <p:cNvSpPr txBox="1"/>
          <p:nvPr/>
        </p:nvSpPr>
        <p:spPr bwMode="auto">
          <a:xfrm>
            <a:off x="2322576" y="3218688"/>
            <a:ext cx="3063240" cy="310896"/>
          </a:xfrm>
          <a:prstGeom prst="rect">
            <a:avLst/>
          </a:prstGeom>
          <a:noFill/>
        </p:spPr>
        <p:txBody>
          <a:bodyPr wrap="square" lIns="36576" tIns="0" rIns="36576" bIns="0" anchor="t">
            <a:spAutoFit/>
          </a:bodyPr>
          <a:lstStyle/>
          <a:p>
            <a:pPr algn="l">
              <a:defRPr sz="1400" b="1">
                <a:solidFill>
                  <a:srgbClr val="1D2730"/>
                </a:solidFill>
                <a:latin typeface="Noto Sans"/>
              </a:defRPr>
            </a:pPr>
            <a:r>
              <a:rPr/>
              <a:t>optimizer-matched spherical ROI median</a:t>
            </a:r>
            <a:endParaRPr/>
          </a:p>
        </p:txBody>
      </p:sp>
      <p:sp>
        <p:nvSpPr>
          <p:cNvPr id="1874058141" name="TextBox 13"/>
          <p:cNvSpPr txBox="1"/>
          <p:nvPr/>
        </p:nvSpPr>
        <p:spPr bwMode="auto">
          <a:xfrm>
            <a:off x="896112" y="3986784"/>
            <a:ext cx="1664208" cy="502920"/>
          </a:xfrm>
          <a:prstGeom prst="rect">
            <a:avLst/>
          </a:prstGeom>
          <a:noFill/>
        </p:spPr>
        <p:txBody>
          <a:bodyPr wrap="square" lIns="36576" tIns="0" rIns="36576" bIns="0" anchor="t">
            <a:spAutoFit/>
          </a:bodyPr>
          <a:lstStyle/>
          <a:p>
            <a:pPr algn="l">
              <a:defRPr sz="3000" b="1">
                <a:solidFill>
                  <a:srgbClr val="C25B23"/>
                </a:solidFill>
                <a:latin typeface="Noto Sans"/>
              </a:defRPr>
            </a:pPr>
            <a:r>
              <a:rPr/>
              <a:t>18 / 20</a:t>
            </a:r>
            <a:endParaRPr/>
          </a:p>
        </p:txBody>
      </p:sp>
      <p:sp>
        <p:nvSpPr>
          <p:cNvPr id="1336458144" name="TextBox 14"/>
          <p:cNvSpPr txBox="1"/>
          <p:nvPr/>
        </p:nvSpPr>
        <p:spPr bwMode="auto">
          <a:xfrm>
            <a:off x="2350008" y="4041648"/>
            <a:ext cx="3017519" cy="475488"/>
          </a:xfrm>
          <a:prstGeom prst="rect">
            <a:avLst/>
          </a:prstGeom>
          <a:noFill/>
        </p:spPr>
        <p:txBody>
          <a:bodyPr wrap="square" lIns="36576" tIns="0" rIns="36576" bIns="0" anchor="t">
            <a:spAutoFit/>
          </a:bodyPr>
          <a:lstStyle/>
          <a:p>
            <a:pPr algn="l">
              <a:defRPr sz="1400" b="1">
                <a:solidFill>
                  <a:srgbClr val="1D2730"/>
                </a:solidFill>
                <a:latin typeface="Noto Sans"/>
              </a:defRPr>
            </a:pPr>
            <a:r>
              <a:rPr/>
              <a:t>participant–target representative meshes changed</a:t>
            </a:r>
            <a:endParaRPr/>
          </a:p>
        </p:txBody>
      </p:sp>
      <p:sp>
        <p:nvSpPr>
          <p:cNvPr id="1657742540" name="TextBox 15"/>
          <p:cNvSpPr txBox="1"/>
          <p:nvPr/>
        </p:nvSpPr>
        <p:spPr bwMode="auto">
          <a:xfrm>
            <a:off x="896112" y="4919471"/>
            <a:ext cx="4663440" cy="530352"/>
          </a:xfrm>
          <a:prstGeom prst="rect">
            <a:avLst/>
          </a:prstGeom>
          <a:noFill/>
        </p:spPr>
        <p:txBody>
          <a:bodyPr wrap="square" lIns="36576" tIns="0" rIns="36576" bIns="0" anchor="t">
            <a:spAutoFit/>
          </a:bodyPr>
          <a:lstStyle/>
          <a:p>
            <a:pPr algn="l">
              <a:defRPr sz="1300" b="1">
                <a:solidFill>
                  <a:srgbClr val="0C1E30"/>
                </a:solidFill>
                <a:latin typeface="Noto Sans"/>
              </a:defRPr>
            </a:pPr>
            <a:r>
              <a:rPr/>
              <a:t>Current deck uses the corrected fixed runs and unchanged historical remesh rows.</a:t>
            </a:r>
            <a:endParaRPr/>
          </a:p>
        </p:txBody>
      </p:sp>
      <p:sp>
        <p:nvSpPr>
          <p:cNvPr id="1623975203" name="Rounded Rectangle 16"/>
          <p:cNvSpPr/>
          <p:nvPr/>
        </p:nvSpPr>
        <p:spPr bwMode="auto">
          <a:xfrm>
            <a:off x="6217920" y="1344168"/>
            <a:ext cx="5376672" cy="4517136"/>
          </a:xfrm>
          <a:prstGeom prst="roundRect">
            <a:avLst>
              <a:gd name="adj" fmla="val 16667"/>
            </a:avLst>
          </a:prstGeom>
          <a:solidFill>
            <a:srgbClr val="E0F4F1"/>
          </a:solidFill>
          <a:ln w="10160">
            <a:solidFill>
              <a:srgbClr val="1B8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60432249" name="TextBox 17"/>
          <p:cNvSpPr txBox="1"/>
          <p:nvPr/>
        </p:nvSpPr>
        <p:spPr bwMode="auto">
          <a:xfrm>
            <a:off x="6519672" y="1673352"/>
            <a:ext cx="4480560" cy="320040"/>
          </a:xfrm>
          <a:prstGeom prst="rect">
            <a:avLst/>
          </a:prstGeom>
          <a:noFill/>
        </p:spPr>
        <p:txBody>
          <a:bodyPr wrap="square" lIns="36576" tIns="0" rIns="36576" bIns="0" anchor="t">
            <a:spAutoFit/>
          </a:bodyPr>
          <a:lstStyle/>
          <a:p>
            <a:pPr algn="l">
              <a:defRPr sz="1800" b="1">
                <a:solidFill>
                  <a:srgbClr val="0C1E30"/>
                </a:solidFill>
                <a:latin typeface="Noto Sans"/>
              </a:defRPr>
            </a:pPr>
            <a:r>
              <a:rPr/>
              <a:t>Finite-support sensitivity audit</a:t>
            </a:r>
            <a:endParaRPr/>
          </a:p>
        </p:txBody>
      </p:sp>
      <p:sp>
        <p:nvSpPr>
          <p:cNvPr id="1996652651" name="Rounded Rectangle 18"/>
          <p:cNvSpPr/>
          <p:nvPr/>
        </p:nvSpPr>
        <p:spPr bwMode="auto">
          <a:xfrm>
            <a:off x="6519672" y="2176272"/>
            <a:ext cx="2176272" cy="1280160"/>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87512431" name="Rectangle 19"/>
          <p:cNvSpPr/>
          <p:nvPr/>
        </p:nvSpPr>
        <p:spPr bwMode="auto">
          <a:xfrm>
            <a:off x="6519672" y="2176272"/>
            <a:ext cx="64008" cy="1280160"/>
          </a:xfrm>
          <a:prstGeom prst="rect">
            <a:avLst/>
          </a:prstGeom>
          <a:solidFill>
            <a:srgbClr val="194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42369406" name="TextBox 20"/>
          <p:cNvSpPr txBox="1"/>
          <p:nvPr/>
        </p:nvSpPr>
        <p:spPr bwMode="auto">
          <a:xfrm>
            <a:off x="6720840" y="2322576"/>
            <a:ext cx="1828800" cy="429768"/>
          </a:xfrm>
          <a:prstGeom prst="rect">
            <a:avLst/>
          </a:prstGeom>
          <a:noFill/>
        </p:spPr>
        <p:txBody>
          <a:bodyPr wrap="square" lIns="36576" tIns="0" rIns="36576" bIns="0" anchor="t">
            <a:spAutoFit/>
          </a:bodyPr>
          <a:lstStyle/>
          <a:p>
            <a:pPr algn="l">
              <a:defRPr sz="2500" b="1">
                <a:solidFill>
                  <a:srgbClr val="194874"/>
                </a:solidFill>
                <a:latin typeface="Noto Sans"/>
              </a:defRPr>
            </a:pPr>
            <a:r>
              <a:rPr/>
              <a:t>97%</a:t>
            </a:r>
            <a:endParaRPr/>
          </a:p>
        </p:txBody>
      </p:sp>
      <p:sp>
        <p:nvSpPr>
          <p:cNvPr id="2053776199" name="TextBox 21"/>
          <p:cNvSpPr txBox="1"/>
          <p:nvPr/>
        </p:nvSpPr>
        <p:spPr bwMode="auto">
          <a:xfrm>
            <a:off x="6720840" y="2834639"/>
            <a:ext cx="1828800" cy="530352"/>
          </a:xfrm>
          <a:prstGeom prst="rect">
            <a:avLst/>
          </a:prstGeom>
          <a:noFill/>
        </p:spPr>
        <p:txBody>
          <a:bodyPr wrap="square" lIns="36576" tIns="0" rIns="36576" bIns="0" anchor="t">
            <a:spAutoFit/>
          </a:bodyPr>
          <a:lstStyle/>
          <a:p>
            <a:pPr algn="l">
              <a:defRPr sz="1050" b="0">
                <a:solidFill>
                  <a:srgbClr val="566572"/>
                </a:solidFill>
                <a:latin typeface="Noto Sans"/>
              </a:defRPr>
            </a:pPr>
            <a:r>
              <a:rPr/>
              <a:t>minimum finite ROI fraction • hippocampus</a:t>
            </a:r>
            <a:endParaRPr/>
          </a:p>
        </p:txBody>
      </p:sp>
      <p:sp>
        <p:nvSpPr>
          <p:cNvPr id="57950177" name="Rounded Rectangle 22"/>
          <p:cNvSpPr/>
          <p:nvPr/>
        </p:nvSpPr>
        <p:spPr bwMode="auto">
          <a:xfrm>
            <a:off x="8979408" y="2176272"/>
            <a:ext cx="2176272" cy="1280160"/>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10931685" name="Rectangle 23"/>
          <p:cNvSpPr/>
          <p:nvPr/>
        </p:nvSpPr>
        <p:spPr bwMode="auto">
          <a:xfrm>
            <a:off x="8979408" y="2176272"/>
            <a:ext cx="64008" cy="1280160"/>
          </a:xfrm>
          <a:prstGeom prst="rect">
            <a:avLst/>
          </a:prstGeom>
          <a:solidFill>
            <a:srgbClr val="1B8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36274279" name="TextBox 24"/>
          <p:cNvSpPr txBox="1"/>
          <p:nvPr/>
        </p:nvSpPr>
        <p:spPr bwMode="auto">
          <a:xfrm>
            <a:off x="9180576" y="2322576"/>
            <a:ext cx="1828800" cy="429768"/>
          </a:xfrm>
          <a:prstGeom prst="rect">
            <a:avLst/>
          </a:prstGeom>
          <a:noFill/>
        </p:spPr>
        <p:txBody>
          <a:bodyPr wrap="square" lIns="36576" tIns="0" rIns="36576" bIns="0" anchor="t">
            <a:spAutoFit/>
          </a:bodyPr>
          <a:lstStyle/>
          <a:p>
            <a:pPr algn="l">
              <a:defRPr sz="2500" b="1">
                <a:solidFill>
                  <a:srgbClr val="1B8B7E"/>
                </a:solidFill>
                <a:latin typeface="Noto Sans"/>
              </a:defRPr>
            </a:pPr>
            <a:r>
              <a:rPr/>
              <a:t>99%</a:t>
            </a:r>
            <a:endParaRPr/>
          </a:p>
        </p:txBody>
      </p:sp>
      <p:sp>
        <p:nvSpPr>
          <p:cNvPr id="628031362" name="TextBox 25"/>
          <p:cNvSpPr txBox="1"/>
          <p:nvPr/>
        </p:nvSpPr>
        <p:spPr bwMode="auto">
          <a:xfrm>
            <a:off x="9180576" y="2834639"/>
            <a:ext cx="1828800" cy="530352"/>
          </a:xfrm>
          <a:prstGeom prst="rect">
            <a:avLst/>
          </a:prstGeom>
          <a:noFill/>
        </p:spPr>
        <p:txBody>
          <a:bodyPr wrap="square" lIns="36576" tIns="0" rIns="36576" bIns="0" anchor="t">
            <a:spAutoFit/>
          </a:bodyPr>
          <a:lstStyle/>
          <a:p>
            <a:pPr algn="l">
              <a:defRPr sz="1050" b="0">
                <a:solidFill>
                  <a:srgbClr val="566572"/>
                </a:solidFill>
                <a:latin typeface="Noto Sans"/>
              </a:defRPr>
            </a:pPr>
            <a:r>
              <a:rPr/>
              <a:t>minimum finite ROI fraction • M1</a:t>
            </a:r>
            <a:endParaRPr/>
          </a:p>
        </p:txBody>
      </p:sp>
      <p:sp>
        <p:nvSpPr>
          <p:cNvPr id="1153302930" name="TextBox 26"/>
          <p:cNvSpPr txBox="1"/>
          <p:nvPr/>
        </p:nvSpPr>
        <p:spPr bwMode="auto">
          <a:xfrm>
            <a:off x="6528816" y="3776472"/>
            <a:ext cx="4608576" cy="457200"/>
          </a:xfrm>
          <a:prstGeom prst="rect">
            <a:avLst/>
          </a:prstGeom>
          <a:noFill/>
        </p:spPr>
        <p:txBody>
          <a:bodyPr wrap="square" lIns="36576" tIns="0" rIns="36576" bIns="0" anchor="t">
            <a:spAutoFit/>
          </a:bodyPr>
          <a:lstStyle/>
          <a:p>
            <a:pPr algn="l">
              <a:defRPr sz="1300" b="1">
                <a:solidFill>
                  <a:srgbClr val="1D2730"/>
                </a:solidFill>
                <a:latin typeface="Noto Sans"/>
              </a:defRPr>
            </a:pPr>
            <a:r>
              <a:rPr/>
              <a:t>Within participant × condition correlations between finite support and field were weak:</a:t>
            </a:r>
            <a:endParaRPr/>
          </a:p>
        </p:txBody>
      </p:sp>
      <p:sp>
        <p:nvSpPr>
          <p:cNvPr id="1966072952" name="TextBox 27"/>
          <p:cNvSpPr txBox="1"/>
          <p:nvPr/>
        </p:nvSpPr>
        <p:spPr bwMode="auto">
          <a:xfrm>
            <a:off x="6528816" y="4407408"/>
            <a:ext cx="4608576" cy="256032"/>
          </a:xfrm>
          <a:prstGeom prst="rect">
            <a:avLst/>
          </a:prstGeom>
          <a:noFill/>
        </p:spPr>
        <p:txBody>
          <a:bodyPr wrap="square" lIns="36576" tIns="0" rIns="36576" bIns="0" anchor="t">
            <a:spAutoFit/>
          </a:bodyPr>
          <a:lstStyle/>
          <a:p>
            <a:pPr algn="l">
              <a:defRPr sz="1300" b="0">
                <a:solidFill>
                  <a:srgbClr val="194874"/>
                </a:solidFill>
                <a:latin typeface="Noto Sans"/>
              </a:defRPr>
            </a:pPr>
            <a:r>
              <a:rPr/>
              <a:t>hippocampus r = −0.074, ρ = −0.030</a:t>
            </a:r>
            <a:endParaRPr/>
          </a:p>
        </p:txBody>
      </p:sp>
      <p:sp>
        <p:nvSpPr>
          <p:cNvPr id="273316558" name="TextBox 28"/>
          <p:cNvSpPr txBox="1"/>
          <p:nvPr/>
        </p:nvSpPr>
        <p:spPr bwMode="auto">
          <a:xfrm>
            <a:off x="6528816" y="4818888"/>
            <a:ext cx="4608576" cy="256032"/>
          </a:xfrm>
          <a:prstGeom prst="rect">
            <a:avLst/>
          </a:prstGeom>
          <a:noFill/>
        </p:spPr>
        <p:txBody>
          <a:bodyPr wrap="square" lIns="36576" tIns="0" rIns="36576" bIns="0" anchor="t">
            <a:spAutoFit/>
          </a:bodyPr>
          <a:lstStyle/>
          <a:p>
            <a:pPr algn="l">
              <a:defRPr sz="1300" b="0">
                <a:solidFill>
                  <a:srgbClr val="1B8B7E"/>
                </a:solidFill>
                <a:latin typeface="Noto Sans"/>
              </a:defRPr>
            </a:pPr>
            <a:r>
              <a:rPr/>
              <a:t>M1 r = 0.097, ρ = 0.063</a:t>
            </a:r>
            <a:endParaRPr/>
          </a:p>
        </p:txBody>
      </p:sp>
      <p:sp>
        <p:nvSpPr>
          <p:cNvPr id="1034172272" name="TextBox 29"/>
          <p:cNvSpPr txBox="1"/>
          <p:nvPr/>
        </p:nvSpPr>
        <p:spPr bwMode="auto">
          <a:xfrm>
            <a:off x="6528816" y="5285232"/>
            <a:ext cx="4608576" cy="274320"/>
          </a:xfrm>
          <a:prstGeom prst="rect">
            <a:avLst/>
          </a:prstGeom>
          <a:noFill/>
        </p:spPr>
        <p:txBody>
          <a:bodyPr wrap="square" lIns="36576" tIns="0" rIns="36576" bIns="0" anchor="t">
            <a:spAutoFit/>
          </a:bodyPr>
          <a:lstStyle/>
          <a:p>
            <a:pPr algn="l">
              <a:defRPr sz="1100" b="1">
                <a:solidFill>
                  <a:srgbClr val="B13A3A"/>
                </a:solidFill>
                <a:latin typeface="Noto Sans"/>
              </a:defRPr>
            </a:pPr>
            <a:r>
              <a:rPr/>
              <a:t>Descriptive sensitivity check; not evidence of causality.</a:t>
            </a:r>
            <a:endParaRPr/>
          </a:p>
        </p:txBody>
      </p:sp>
      <p:sp>
        <p:nvSpPr>
          <p:cNvPr id="697872837" name="Rounded Rectangle 30"/>
          <p:cNvSpPr/>
          <p:nvPr/>
        </p:nvSpPr>
        <p:spPr bwMode="auto">
          <a:xfrm>
            <a:off x="841248" y="6099048"/>
            <a:ext cx="10533888" cy="283464"/>
          </a:xfrm>
          <a:prstGeom prst="roundRect">
            <a:avLst>
              <a:gd name="adj" fmla="val 16667"/>
            </a:avLst>
          </a:prstGeom>
          <a:solidFill>
            <a:srgbClr val="0C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70116149" name="TextBox 31"/>
          <p:cNvSpPr txBox="1"/>
          <p:nvPr/>
        </p:nvSpPr>
        <p:spPr bwMode="auto">
          <a:xfrm>
            <a:off x="1005840" y="6172200"/>
            <a:ext cx="10195560" cy="146304"/>
          </a:xfrm>
          <a:prstGeom prst="rect">
            <a:avLst/>
          </a:prstGeom>
          <a:noFill/>
        </p:spPr>
        <p:txBody>
          <a:bodyPr wrap="square" lIns="36576" tIns="0" rIns="36576" bIns="0" anchor="t">
            <a:spAutoFit/>
          </a:bodyPr>
          <a:lstStyle/>
          <a:p>
            <a:pPr algn="ctr">
              <a:defRPr sz="950" b="1">
                <a:solidFill>
                  <a:srgbClr val="FFFFFF"/>
                </a:solidFill>
                <a:latin typeface="Noto Sans"/>
              </a:defRPr>
            </a:pPr>
            <a:r>
              <a:rPr/>
              <a:t>Analysis status: complete • 1,600 corrected cohort rows + 1,600 nested rows • source outputs read only</a:t>
            </a:r>
            <a:endParaRPr/>
          </a:p>
        </p:txBody>
      </p:sp>
      <p:sp>
        <p:nvSpPr>
          <p:cNvPr id="1308963891" name="TextBox 32"/>
          <p:cNvSpPr txBox="1"/>
          <p:nvPr/>
        </p:nvSpPr>
        <p:spPr bwMode="auto">
          <a:xfrm>
            <a:off x="4572000" y="6556248"/>
            <a:ext cx="6263640" cy="155448"/>
          </a:xfrm>
          <a:prstGeom prst="rect">
            <a:avLst/>
          </a:prstGeom>
          <a:noFill/>
        </p:spPr>
        <p:txBody>
          <a:bodyPr wrap="square" lIns="36576" tIns="0" rIns="36576" bIns="0" anchor="t">
            <a:spAutoFit/>
          </a:bodyPr>
          <a:lstStyle/>
          <a:p>
            <a:pPr algn="r">
              <a:defRPr sz="650" b="0">
                <a:solidFill>
                  <a:srgbClr val="566572"/>
                </a:solidFill>
                <a:latin typeface="Noto Sans"/>
              </a:defRPr>
            </a:pPr>
            <a:r>
              <a:rPr/>
              <a:t>Analysis manifests dated 11 Sep 2026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6F8FA"/>
        </a:solidFill>
      </p:bgPr>
    </p:bg>
    <p:spTree>
      <p:nvGrpSpPr>
        <p:cNvPr id="1" name=""/>
        <p:cNvGrpSpPr/>
        <p:nvPr/>
      </p:nvGrpSpPr>
      <p:grpSpPr bwMode="auto">
        <a:xfrm>
          <a:off x="0" y="0"/>
          <a:ext cx="0" cy="0"/>
          <a:chOff x="0" y="0"/>
          <a:chExt cx="0" cy="0"/>
        </a:xfrm>
      </p:grpSpPr>
      <p:sp>
        <p:nvSpPr>
          <p:cNvPr id="1305066431" name="TextBox 1"/>
          <p:cNvSpPr txBox="1"/>
          <p:nvPr/>
        </p:nvSpPr>
        <p:spPr bwMode="auto">
          <a:xfrm>
            <a:off x="502920" y="201168"/>
            <a:ext cx="2148840" cy="182880"/>
          </a:xfrm>
          <a:prstGeom prst="rect">
            <a:avLst/>
          </a:prstGeom>
          <a:noFill/>
        </p:spPr>
        <p:txBody>
          <a:bodyPr wrap="square" lIns="36576" tIns="0" rIns="36576" bIns="0" anchor="t">
            <a:spAutoFit/>
          </a:bodyPr>
          <a:lstStyle/>
          <a:p>
            <a:pPr algn="l">
              <a:defRPr sz="850" b="1">
                <a:solidFill>
                  <a:srgbClr val="1B8B7E"/>
                </a:solidFill>
                <a:latin typeface="Noto Sans"/>
              </a:defRPr>
            </a:pPr>
            <a:r>
              <a:rPr/>
              <a:t>BACKUP</a:t>
            </a:r>
            <a:endParaRPr/>
          </a:p>
        </p:txBody>
      </p:sp>
      <p:sp>
        <p:nvSpPr>
          <p:cNvPr id="545342338" name="TextBox 2"/>
          <p:cNvSpPr txBox="1"/>
          <p:nvPr/>
        </p:nvSpPr>
        <p:spPr bwMode="auto">
          <a:xfrm>
            <a:off x="502920" y="438912"/>
            <a:ext cx="11064240" cy="658368"/>
          </a:xfrm>
          <a:prstGeom prst="rect">
            <a:avLst/>
          </a:prstGeom>
          <a:noFill/>
        </p:spPr>
        <p:txBody>
          <a:bodyPr wrap="square" lIns="36576" tIns="0" rIns="36576" bIns="0" anchor="t">
            <a:spAutoFit/>
          </a:bodyPr>
          <a:lstStyle/>
          <a:p>
            <a:pPr algn="l">
              <a:defRPr sz="2500" b="1">
                <a:solidFill>
                  <a:srgbClr val="0C1E30"/>
                </a:solidFill>
                <a:latin typeface="Noto Sans"/>
              </a:defRPr>
            </a:pPr>
            <a:r>
              <a:rPr/>
              <a:t>References and evidence sources</a:t>
            </a:r>
            <a:endParaRPr/>
          </a:p>
        </p:txBody>
      </p:sp>
      <p:cxnSp>
        <p:nvCxnSpPr>
          <p:cNvPr id="483603898" name="Connector 3"/>
          <p:cNvCxnSpPr/>
          <p:nvPr/>
        </p:nvCxnSpPr>
        <p:spPr bwMode="auto">
          <a:xfrm>
            <a:off x="502920" y="1143000"/>
            <a:ext cx="11183112" cy="0"/>
          </a:xfrm>
          <a:prstGeom prst="line">
            <a:avLst/>
          </a:prstGeom>
          <a:ln w="10160">
            <a:solidFill>
              <a:srgbClr val="CFD8E0"/>
            </a:solidFill>
          </a:ln>
        </p:spPr>
        <p:style>
          <a:lnRef idx="2">
            <a:schemeClr val="accent1"/>
          </a:lnRef>
          <a:fillRef idx="0">
            <a:schemeClr val="accent1"/>
          </a:fillRef>
          <a:effectRef idx="1">
            <a:schemeClr val="accent1"/>
          </a:effectRef>
          <a:fontRef idx="minor">
            <a:schemeClr val="tx1"/>
          </a:fontRef>
        </p:style>
      </p:cxnSp>
      <p:sp>
        <p:nvSpPr>
          <p:cNvPr id="1565088392" name="TextBox 5"/>
          <p:cNvSpPr txBox="1"/>
          <p:nvPr/>
        </p:nvSpPr>
        <p:spPr bwMode="auto">
          <a:xfrm>
            <a:off x="11137392" y="6537960"/>
            <a:ext cx="502920" cy="164592"/>
          </a:xfrm>
          <a:prstGeom prst="rect">
            <a:avLst/>
          </a:prstGeom>
          <a:noFill/>
        </p:spPr>
        <p:txBody>
          <a:bodyPr wrap="square" lIns="36576" tIns="0" rIns="36576" bIns="0" anchor="t">
            <a:spAutoFit/>
          </a:bodyPr>
          <a:lstStyle/>
          <a:p>
            <a:pPr algn="r">
              <a:defRPr sz="800" b="1">
                <a:solidFill>
                  <a:srgbClr val="566572"/>
                </a:solidFill>
                <a:latin typeface="Noto Sans"/>
              </a:defRPr>
            </a:pPr>
            <a:r>
              <a:rPr/>
              <a:t>21</a:t>
            </a:r>
            <a:endParaRPr/>
          </a:p>
        </p:txBody>
      </p:sp>
      <p:sp>
        <p:nvSpPr>
          <p:cNvPr id="1189511448" name="Rounded Rectangle 6"/>
          <p:cNvSpPr/>
          <p:nvPr/>
        </p:nvSpPr>
        <p:spPr bwMode="auto">
          <a:xfrm>
            <a:off x="585216" y="1325880"/>
            <a:ext cx="11027664" cy="4544568"/>
          </a:xfrm>
          <a:prstGeom prst="roundRect">
            <a:avLst>
              <a:gd name="adj" fmla="val 16667"/>
            </a:avLst>
          </a:prstGeom>
          <a:solidFill>
            <a:srgbClr val="FFFFFF"/>
          </a:solidFill>
          <a:ln w="10160">
            <a:solidFill>
              <a:srgbClr val="CF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52626275" name="TextBox 7"/>
          <p:cNvSpPr txBox="1"/>
          <p:nvPr/>
        </p:nvSpPr>
        <p:spPr bwMode="auto">
          <a:xfrm>
            <a:off x="877824" y="1627632"/>
            <a:ext cx="292608" cy="237744"/>
          </a:xfrm>
          <a:prstGeom prst="rect">
            <a:avLst/>
          </a:prstGeom>
          <a:noFill/>
        </p:spPr>
        <p:txBody>
          <a:bodyPr wrap="square" lIns="36576" tIns="0" rIns="36576" bIns="0" anchor="t">
            <a:spAutoFit/>
          </a:bodyPr>
          <a:lstStyle/>
          <a:p>
            <a:pPr algn="r">
              <a:defRPr sz="950" b="1">
                <a:solidFill>
                  <a:srgbClr val="1B8B7E"/>
                </a:solidFill>
                <a:latin typeface="Noto Sans"/>
              </a:defRPr>
            </a:pPr>
            <a:r>
              <a:rPr/>
              <a:t>1</a:t>
            </a:r>
            <a:endParaRPr/>
          </a:p>
        </p:txBody>
      </p:sp>
      <p:sp>
        <p:nvSpPr>
          <p:cNvPr id="1548777370" name="TextBox 8"/>
          <p:cNvSpPr txBox="1"/>
          <p:nvPr/>
        </p:nvSpPr>
        <p:spPr bwMode="auto">
          <a:xfrm>
            <a:off x="1344168" y="1609344"/>
            <a:ext cx="9829800" cy="475488"/>
          </a:xfrm>
          <a:prstGeom prst="rect">
            <a:avLst/>
          </a:prstGeom>
          <a:noFill/>
        </p:spPr>
        <p:txBody>
          <a:bodyPr wrap="square" lIns="36576" tIns="0" rIns="36576" bIns="0" anchor="t">
            <a:spAutoFit/>
          </a:bodyPr>
          <a:lstStyle/>
          <a:p>
            <a:pPr algn="l">
              <a:defRPr sz="1250" b="0">
                <a:solidFill>
                  <a:srgbClr val="1D2730"/>
                </a:solidFill>
                <a:latin typeface="Noto Sans"/>
              </a:defRPr>
            </a:pPr>
            <a:r>
              <a:rPr/>
              <a:t>Grossman N, et al. Noninvasive deep brain stimulation via temporally interfering electric fields. Cell. 2017;169:1029–1041.e16.</a:t>
            </a:r>
            <a:endParaRPr/>
          </a:p>
        </p:txBody>
      </p:sp>
      <p:sp>
        <p:nvSpPr>
          <p:cNvPr id="1369534133" name="TextBox 9"/>
          <p:cNvSpPr txBox="1"/>
          <p:nvPr/>
        </p:nvSpPr>
        <p:spPr bwMode="auto">
          <a:xfrm>
            <a:off x="877824" y="2203704"/>
            <a:ext cx="292608" cy="237744"/>
          </a:xfrm>
          <a:prstGeom prst="rect">
            <a:avLst/>
          </a:prstGeom>
          <a:noFill/>
        </p:spPr>
        <p:txBody>
          <a:bodyPr wrap="square" lIns="36576" tIns="0" rIns="36576" bIns="0" anchor="t">
            <a:spAutoFit/>
          </a:bodyPr>
          <a:lstStyle/>
          <a:p>
            <a:pPr algn="r">
              <a:defRPr sz="950" b="1">
                <a:solidFill>
                  <a:srgbClr val="1B8B7E"/>
                </a:solidFill>
                <a:latin typeface="Noto Sans"/>
              </a:defRPr>
            </a:pPr>
            <a:r>
              <a:rPr/>
              <a:t>2</a:t>
            </a:r>
            <a:endParaRPr/>
          </a:p>
        </p:txBody>
      </p:sp>
      <p:sp>
        <p:nvSpPr>
          <p:cNvPr id="1179372050" name="TextBox 10"/>
          <p:cNvSpPr txBox="1"/>
          <p:nvPr/>
        </p:nvSpPr>
        <p:spPr bwMode="auto">
          <a:xfrm>
            <a:off x="1344168" y="2185416"/>
            <a:ext cx="9829800" cy="475488"/>
          </a:xfrm>
          <a:prstGeom prst="rect">
            <a:avLst/>
          </a:prstGeom>
          <a:noFill/>
        </p:spPr>
        <p:txBody>
          <a:bodyPr wrap="square" lIns="36576" tIns="0" rIns="36576" bIns="0" anchor="t">
            <a:spAutoFit/>
          </a:bodyPr>
          <a:lstStyle/>
          <a:p>
            <a:pPr algn="l">
              <a:defRPr sz="1250" b="0">
                <a:solidFill>
                  <a:srgbClr val="1D2730"/>
                </a:solidFill>
                <a:latin typeface="Noto Sans"/>
              </a:defRPr>
            </a:pPr>
            <a:r>
              <a:rPr/>
              <a:t>Rampersad S, et al. Prospects for transcranial temporal interference stimulation in humans: A computational study. NeuroImage. 2019;202:116124.</a:t>
            </a:r>
            <a:endParaRPr/>
          </a:p>
        </p:txBody>
      </p:sp>
      <p:sp>
        <p:nvSpPr>
          <p:cNvPr id="1294231019" name="TextBox 11"/>
          <p:cNvSpPr txBox="1"/>
          <p:nvPr/>
        </p:nvSpPr>
        <p:spPr bwMode="auto">
          <a:xfrm>
            <a:off x="877824" y="2779776"/>
            <a:ext cx="292608" cy="237744"/>
          </a:xfrm>
          <a:prstGeom prst="rect">
            <a:avLst/>
          </a:prstGeom>
          <a:noFill/>
        </p:spPr>
        <p:txBody>
          <a:bodyPr wrap="square" lIns="36576" tIns="0" rIns="36576" bIns="0" anchor="t">
            <a:spAutoFit/>
          </a:bodyPr>
          <a:lstStyle/>
          <a:p>
            <a:pPr algn="r">
              <a:defRPr sz="950" b="1">
                <a:solidFill>
                  <a:srgbClr val="1B8B7E"/>
                </a:solidFill>
                <a:latin typeface="Noto Sans"/>
              </a:defRPr>
            </a:pPr>
            <a:r>
              <a:rPr/>
              <a:t>3</a:t>
            </a:r>
            <a:endParaRPr/>
          </a:p>
        </p:txBody>
      </p:sp>
      <p:sp>
        <p:nvSpPr>
          <p:cNvPr id="1492239475" name="TextBox 12"/>
          <p:cNvSpPr txBox="1"/>
          <p:nvPr/>
        </p:nvSpPr>
        <p:spPr bwMode="auto">
          <a:xfrm>
            <a:off x="1344168" y="2761488"/>
            <a:ext cx="9829800" cy="475488"/>
          </a:xfrm>
          <a:prstGeom prst="rect">
            <a:avLst/>
          </a:prstGeom>
          <a:noFill/>
        </p:spPr>
        <p:txBody>
          <a:bodyPr wrap="square" lIns="36576" tIns="0" rIns="36576" bIns="0" anchor="t">
            <a:spAutoFit/>
          </a:bodyPr>
          <a:lstStyle/>
          <a:p>
            <a:pPr algn="l">
              <a:defRPr sz="1250" b="0">
                <a:solidFill>
                  <a:srgbClr val="1D2730"/>
                </a:solidFill>
                <a:latin typeface="Noto Sans"/>
              </a:defRPr>
            </a:pPr>
            <a:r>
              <a:rPr/>
              <a:t>Windhoff M, Opitz A, Thielscher A. Electric field calculations in brain stimulation based on finite elements. Human Brain Mapping. 2013;34:923–935.</a:t>
            </a:r>
            <a:endParaRPr/>
          </a:p>
        </p:txBody>
      </p:sp>
      <p:sp>
        <p:nvSpPr>
          <p:cNvPr id="1356396598" name="TextBox 13"/>
          <p:cNvSpPr txBox="1"/>
          <p:nvPr/>
        </p:nvSpPr>
        <p:spPr bwMode="auto">
          <a:xfrm>
            <a:off x="877824" y="3355848"/>
            <a:ext cx="292608" cy="237744"/>
          </a:xfrm>
          <a:prstGeom prst="rect">
            <a:avLst/>
          </a:prstGeom>
          <a:noFill/>
        </p:spPr>
        <p:txBody>
          <a:bodyPr wrap="square" lIns="36576" tIns="0" rIns="36576" bIns="0" anchor="t">
            <a:spAutoFit/>
          </a:bodyPr>
          <a:lstStyle/>
          <a:p>
            <a:pPr algn="r">
              <a:defRPr sz="950" b="1">
                <a:solidFill>
                  <a:srgbClr val="1B8B7E"/>
                </a:solidFill>
                <a:latin typeface="Noto Sans"/>
              </a:defRPr>
            </a:pPr>
            <a:r>
              <a:rPr/>
              <a:t>4</a:t>
            </a:r>
            <a:endParaRPr/>
          </a:p>
        </p:txBody>
      </p:sp>
      <p:sp>
        <p:nvSpPr>
          <p:cNvPr id="1118523555" name="TextBox 14"/>
          <p:cNvSpPr txBox="1"/>
          <p:nvPr/>
        </p:nvSpPr>
        <p:spPr bwMode="auto">
          <a:xfrm>
            <a:off x="1344168" y="3337560"/>
            <a:ext cx="9829800" cy="475488"/>
          </a:xfrm>
          <a:prstGeom prst="rect">
            <a:avLst/>
          </a:prstGeom>
          <a:noFill/>
        </p:spPr>
        <p:txBody>
          <a:bodyPr wrap="square" lIns="36576" tIns="0" rIns="36576" bIns="0" anchor="t">
            <a:spAutoFit/>
          </a:bodyPr>
          <a:lstStyle/>
          <a:p>
            <a:pPr algn="l">
              <a:defRPr sz="1250" b="0">
                <a:solidFill>
                  <a:srgbClr val="1D2730"/>
                </a:solidFill>
                <a:latin typeface="Noto Sans"/>
              </a:defRPr>
            </a:pPr>
            <a:r>
              <a:rPr/>
              <a:t>Saturnino GB, et al. SimNIBS 2.1: A comprehensive pipeline for individualized electric-field modelling. In: Brain and Human Body Modeling. 2019.</a:t>
            </a:r>
            <a:endParaRPr/>
          </a:p>
        </p:txBody>
      </p:sp>
      <p:sp>
        <p:nvSpPr>
          <p:cNvPr id="193494233" name="TextBox 15"/>
          <p:cNvSpPr txBox="1"/>
          <p:nvPr/>
        </p:nvSpPr>
        <p:spPr bwMode="auto">
          <a:xfrm>
            <a:off x="877824" y="3931920"/>
            <a:ext cx="292608" cy="237744"/>
          </a:xfrm>
          <a:prstGeom prst="rect">
            <a:avLst/>
          </a:prstGeom>
          <a:noFill/>
        </p:spPr>
        <p:txBody>
          <a:bodyPr wrap="square" lIns="36576" tIns="0" rIns="36576" bIns="0" anchor="t">
            <a:spAutoFit/>
          </a:bodyPr>
          <a:lstStyle/>
          <a:p>
            <a:pPr algn="r">
              <a:defRPr sz="950" b="1">
                <a:solidFill>
                  <a:srgbClr val="1B8B7E"/>
                </a:solidFill>
                <a:latin typeface="Noto Sans"/>
              </a:defRPr>
            </a:pPr>
            <a:r>
              <a:rPr/>
              <a:t>5</a:t>
            </a:r>
            <a:endParaRPr/>
          </a:p>
        </p:txBody>
      </p:sp>
      <p:sp>
        <p:nvSpPr>
          <p:cNvPr id="693839004" name="TextBox 16"/>
          <p:cNvSpPr txBox="1"/>
          <p:nvPr/>
        </p:nvSpPr>
        <p:spPr bwMode="auto">
          <a:xfrm>
            <a:off x="1344168" y="3913632"/>
            <a:ext cx="9829800" cy="475488"/>
          </a:xfrm>
          <a:prstGeom prst="rect">
            <a:avLst/>
          </a:prstGeom>
          <a:noFill/>
        </p:spPr>
        <p:txBody>
          <a:bodyPr wrap="square" lIns="36576" tIns="0" rIns="36576" bIns="0" anchor="t">
            <a:spAutoFit/>
          </a:bodyPr>
          <a:lstStyle/>
          <a:p>
            <a:pPr algn="l">
              <a:defRPr sz="1250" b="0">
                <a:solidFill>
                  <a:srgbClr val="1D2730"/>
                </a:solidFill>
                <a:latin typeface="Noto Sans"/>
              </a:defRPr>
            </a:pPr>
            <a:r>
              <a:rPr/>
              <a:t>Puonti O, et al. Accurate and robust whole-head segmentation from MRI for individualized head modelling. NeuroImage. 2020;219:117044.</a:t>
            </a:r>
            <a:endParaRPr/>
          </a:p>
        </p:txBody>
      </p:sp>
      <p:sp>
        <p:nvSpPr>
          <p:cNvPr id="1093640653" name="TextBox 17"/>
          <p:cNvSpPr txBox="1"/>
          <p:nvPr/>
        </p:nvSpPr>
        <p:spPr bwMode="auto">
          <a:xfrm>
            <a:off x="877824" y="4507992"/>
            <a:ext cx="292608" cy="237744"/>
          </a:xfrm>
          <a:prstGeom prst="rect">
            <a:avLst/>
          </a:prstGeom>
          <a:noFill/>
        </p:spPr>
        <p:txBody>
          <a:bodyPr wrap="square" lIns="36576" tIns="0" rIns="36576" bIns="0" anchor="t">
            <a:spAutoFit/>
          </a:bodyPr>
          <a:lstStyle/>
          <a:p>
            <a:pPr algn="r">
              <a:defRPr sz="950" b="1">
                <a:solidFill>
                  <a:srgbClr val="1B8B7E"/>
                </a:solidFill>
                <a:latin typeface="Noto Sans"/>
              </a:defRPr>
            </a:pPr>
            <a:r>
              <a:rPr/>
              <a:t>6</a:t>
            </a:r>
            <a:endParaRPr/>
          </a:p>
        </p:txBody>
      </p:sp>
      <p:sp>
        <p:nvSpPr>
          <p:cNvPr id="1407315278" name="TextBox 18"/>
          <p:cNvSpPr txBox="1"/>
          <p:nvPr/>
        </p:nvSpPr>
        <p:spPr bwMode="auto">
          <a:xfrm>
            <a:off x="1344168" y="4489704"/>
            <a:ext cx="9829800" cy="475488"/>
          </a:xfrm>
          <a:prstGeom prst="rect">
            <a:avLst/>
          </a:prstGeom>
          <a:noFill/>
        </p:spPr>
        <p:txBody>
          <a:bodyPr wrap="square" lIns="36576" tIns="0" rIns="36576" bIns="0" anchor="t">
            <a:spAutoFit/>
          </a:bodyPr>
          <a:lstStyle/>
          <a:p>
            <a:pPr algn="l">
              <a:defRPr sz="1250" b="0">
                <a:solidFill>
                  <a:srgbClr val="1D2730"/>
                </a:solidFill>
                <a:latin typeface="Noto Sans"/>
              </a:defRPr>
            </a:pPr>
            <a:r>
              <a:rPr/>
              <a:t>Indahlastari A, Chauhan M, Sadleir RJ. Benchmarking transcranial electrical-stimulation finite-element models. J Neural Eng. 2019;16:026019.</a:t>
            </a:r>
            <a:endParaRPr/>
          </a:p>
        </p:txBody>
      </p:sp>
      <p:sp>
        <p:nvSpPr>
          <p:cNvPr id="2008747921" name="TextBox 19"/>
          <p:cNvSpPr txBox="1"/>
          <p:nvPr/>
        </p:nvSpPr>
        <p:spPr bwMode="auto">
          <a:xfrm>
            <a:off x="877824" y="5084064"/>
            <a:ext cx="292608" cy="237744"/>
          </a:xfrm>
          <a:prstGeom prst="rect">
            <a:avLst/>
          </a:prstGeom>
          <a:noFill/>
        </p:spPr>
        <p:txBody>
          <a:bodyPr wrap="square" lIns="36576" tIns="0" rIns="36576" bIns="0" anchor="t">
            <a:spAutoFit/>
          </a:bodyPr>
          <a:lstStyle/>
          <a:p>
            <a:pPr algn="r">
              <a:defRPr sz="950" b="1">
                <a:solidFill>
                  <a:srgbClr val="1B8B7E"/>
                </a:solidFill>
                <a:latin typeface="Noto Sans"/>
              </a:defRPr>
            </a:pPr>
            <a:r>
              <a:rPr/>
              <a:t>7</a:t>
            </a:r>
            <a:endParaRPr/>
          </a:p>
        </p:txBody>
      </p:sp>
      <p:sp>
        <p:nvSpPr>
          <p:cNvPr id="776928039" name="TextBox 20"/>
          <p:cNvSpPr txBox="1"/>
          <p:nvPr/>
        </p:nvSpPr>
        <p:spPr bwMode="auto">
          <a:xfrm>
            <a:off x="1344168" y="5065776"/>
            <a:ext cx="9829800" cy="475488"/>
          </a:xfrm>
          <a:prstGeom prst="rect">
            <a:avLst/>
          </a:prstGeom>
          <a:noFill/>
        </p:spPr>
        <p:txBody>
          <a:bodyPr wrap="square" lIns="36576" tIns="0" rIns="36576" bIns="0" anchor="t">
            <a:spAutoFit/>
          </a:bodyPr>
          <a:lstStyle/>
          <a:p>
            <a:pPr algn="l">
              <a:defRPr sz="1250" b="0">
                <a:solidFill>
                  <a:srgbClr val="1D2730"/>
                </a:solidFill>
                <a:latin typeface="Noto Sans"/>
              </a:defRPr>
            </a:pPr>
            <a:r>
              <a:rPr/>
              <a:t>Shafto MA, et al. The Cambridge Centre for Ageing and Neuroscience study protocol. BMC Neurology. 2014;14:204.</a:t>
            </a:r>
            <a:endParaRPr/>
          </a:p>
        </p:txBody>
      </p:sp>
      <p:sp>
        <p:nvSpPr>
          <p:cNvPr id="203351034" name="Rounded Rectangle 21"/>
          <p:cNvSpPr/>
          <p:nvPr/>
        </p:nvSpPr>
        <p:spPr bwMode="auto">
          <a:xfrm>
            <a:off x="585216" y="6053328"/>
            <a:ext cx="11027664" cy="365760"/>
          </a:xfrm>
          <a:prstGeom prst="roundRect">
            <a:avLst>
              <a:gd name="adj" fmla="val 16667"/>
            </a:avLst>
          </a:prstGeom>
          <a:solidFill>
            <a:srgbClr val="E0EFF9"/>
          </a:solidFill>
          <a:ln w="10160">
            <a:solidFill>
              <a:srgbClr val="256F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76081987" name="TextBox 22"/>
          <p:cNvSpPr txBox="1"/>
          <p:nvPr/>
        </p:nvSpPr>
        <p:spPr bwMode="auto">
          <a:xfrm>
            <a:off x="804672" y="6144768"/>
            <a:ext cx="10570464" cy="182880"/>
          </a:xfrm>
          <a:prstGeom prst="rect">
            <a:avLst/>
          </a:prstGeom>
          <a:noFill/>
        </p:spPr>
        <p:txBody>
          <a:bodyPr wrap="square" lIns="36576" tIns="0" rIns="36576" bIns="0" anchor="t">
            <a:spAutoFit/>
          </a:bodyPr>
          <a:lstStyle/>
          <a:p>
            <a:pPr algn="ctr">
              <a:defRPr sz="1000" b="1">
                <a:solidFill>
                  <a:srgbClr val="0C1E30"/>
                </a:solidFill>
                <a:latin typeface="Noto Sans"/>
              </a:defRPr>
            </a:pPr>
            <a:r>
              <a:rPr/>
              <a:t>Primary presentation evidence: corrected spherical-fixed and nested analysis manifests generated 11 September 2026.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25</Slides>
  <Notes>25</Notes>
  <HiddenSlides>0</HiddenSlides>
  <MMClips>2</MMClips>
  <ScaleCrop>0</ScaleCrop>
  <HeadingPairs>
    <vt:vector size="4" baseType="variant">
      <vt:variant>
        <vt:lpstr>Theme</vt:lpstr>
      </vt:variant>
      <vt:variant>
        <vt:i4>1</vt:i4>
      </vt:variant>
      <vt:variant>
        <vt:lpstr>Slide Titles</vt:lpstr>
      </vt:variant>
      <vt:variant>
        <vt:i4>25</vt:i4>
      </vt:variant>
    </vt:vector>
  </HeadingPairs>
  <TitlesOfParts>
    <vt:vector size="26"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3</cp:revision>
  <dcterms:created xsi:type="dcterms:W3CDTF">2013-01-27T09:14:16Z</dcterms:created>
  <dcterms:modified xsi:type="dcterms:W3CDTF">2026-09-25T10:30:35Z</dcterms:modified>
  <cp:category/>
</cp:coreProperties>
</file>