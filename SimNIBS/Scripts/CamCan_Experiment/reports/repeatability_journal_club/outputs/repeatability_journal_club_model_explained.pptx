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77" r:id="rId29"/>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(about 40 seconds): Individualized TI simulations are usually spoken about as though one anatomy and one montage produce one field map. This experiment asks whether that output is actually unique when the tetrahedral mesh is regenerated. The answer is no: in this workflow, the mesh realization contributes percent-level uncertainty.</a:t>
            </a:r>
          </a:p>
          <a:p/>
          <a:p>
            <a:r>
              <a:t>        Preview the two experiments: a ten-participant remesh-versus-fixed comparison and one fully nested 40-by-40 case that separates between-mesh from within-mesh variation.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analysis shows remesh CVs of 1.81–3.65% in left hippocampus and 1.62–2.79% in right M1. A single remesh repeat often changes at least one pairwise subject ordering. In the fully nested subject, 99.9996% of observed variance is assigned to differences between meshes.</a:t>
            </a:r>
          </a:p>
          <a:p/>
          <a:p>
            <a:r>
              <a:t>        Emphasize the boundary: the nested percentage is conditional on one subject, one target, and this workflow. It is not a claim that all simulation uncertainty everywhere is mesh-driven.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anatomy, labels, montage, currents, conductivities, software, and ROI stay fixed. The experimental factor is whether CHARM creates a fresh tetrahedral mesh or the same mesh workspace is reused.</a:t>
            </a:r>
          </a:p>
          <a:p/>
          <a:p>
            <a:r>
              <a:t>        The study is not comparing two biological states. It is measuring numerical repeatability of the modelling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contrast asks whether remesh-versus-fixed behavior is consistent across ten participants and both a deep and superficial target. The fully nested experiment asks where variation enters by crossing 40 independently generated meshes with 40 repeated solutions per mesh.</a:t>
            </a:r>
          </a:p>
          <a:p/>
          <a:p>
            <a:r>
              <a:t>        Do not combine the two sample sizes as though 3,200 were independent biological observations. These are technical simulation records.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remesh arm includes everything that can vary after the fixed inputs, including tetrahedralization. The fixed arm measures only residual solution and post-processing variation conditional on one selected mesh.</a:t>
            </a:r>
          </a:p>
          <a:p/>
          <a:p>
            <a:r>
              <a:t>        The fixed mesh is the remesh geometry nearest the median spherical-ROI result for that participant and target. This deliberately makes it representative of the remesh distribution; it does not make it the most anatomically accurate mesh.</a:t>
            </a:r>
          </a:p>
          <a:p/>
          <a:p>
            <a:r>
              <a:t>        Mention the correction only if useful here: the current fixed arm was rebuilt after aligning mesh selection with the optimizer-matched spherical ROI.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plot as within-participant technical variability, not between-person uncertainty. Each pale blue cloud is 40 independently remeshed simulations. The orange fixed-mesh repeats are visually collapsed.</a:t>
            </a:r>
          </a:p>
          <a:p/>
          <a:p>
            <a:r>
              <a:t>        The corrected spherical-ROI remesh CV range is 1.81–3.65%, with a median of 2.40%. The smallest participant-level SD reduction after mesh reuse is 99.19%.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right-M1 result is qualitatively the same. Corrected spherical-ROI remesh CVs range from 1.62% to 2.79%, median 2.54%. The fixed-mesh SD reduction is at least 99.78%.</a:t>
            </a:r>
          </a:p>
          <a:p/>
          <a:p>
            <a:r>
              <a:t>        This replication supports robustness across the two evaluated targets, but not universal generalization to all montages, meshing tools, or ROIs.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ordering uses each participant's 40-repeat mean. In each of 20,000 draws, one repeat is selected independently per participant.</a:t>
            </a:r>
          </a:p>
          <a:p/>
          <a:p>
            <a:r>
              <a:t>        At least one pair reverses in 95.7% of hippocampal draws and 88.5% of M1 draws. Median agreement remains high, so the message is not that all rankings are random. It is that close pairs are sensitive to which valid mesh was selected.</a:t>
            </a:r>
          </a:p>
          <a:p/>
          <a:p>
            <a:r>
              <a:t>        These are uncertainty measures, not p-values.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heatmap shows small but structured shifts in the proportion of volume assigned to tissue classes across remesh realizations. Total tetrahedral element count also varies substantially within participant, while it is constant when the mesh is reused.</a:t>
            </a:r>
          </a:p>
          <a:p/>
          <a:p>
            <a:r>
              <a:t>        Do not claim that a particular tissue transition caused the field changes. Element count is coarse, and local boundaries, element quality, electrode–skin geometry, and interpolation can also matter.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hierarchy matters before the equation. The design is balanced because all 40 meshes have 40 solutions. It is nested because every solution belongs to exactly one mesh. Mesh is a random effect because the numbered meshes are sampled realizations of the pipeline, not scientific conditions of interest. The subject and target are fixed.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point is the CV across 40 repeated solutions on one mesh. Most are exactly or effectively zero. The dashed line is the pooled within-mesh CV.</a:t>
            </a:r>
          </a:p>
          <a:p/>
          <a:p>
            <a:r>
              <a:t>        The between-mesh CV is 2.018%; pooled within-mesh CV is 0.0040%. The component SD ratio is 501-fold, and 99.9996% of total observed variance is attributed to mesh generation.</a:t>
            </a:r>
          </a:p>
          <a:p/>
          <a:p>
            <a:r>
              <a:t>        Keep saying 'in this participant' and 'in this workflow.'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separate sensitivity analysis on one fixed MNI152 model. The mesh, reference image, ROI definitions, montages, conductivities, currents, and electrode geometry were held constant; only the SimNIBS runtime version changed.</a:t>
            </a:r>
          </a:p>
          <a:p/>
          <a:p>
            <a:r>
              <a:t>        SimNIBS 4.0.1 produced a lower mean ROI field than 4.5.0 in all 4 ROIs. The relative shift ranged from −1.13% to −2.97%. Whole-brain spatial agreement remained extremely high, with Pearson r at least 0.99983; relative L2 differences ranged from 0.82% to 3.54%.</a:t>
            </a:r>
          </a:p>
          <a:p/>
          <a:p>
            <a:r>
              <a:t>        The interpretation is a small, systematic amplitude shift with the spatial pattern largely preserved. Do not pool this fixed-model version comparison with the participant or remeshing distributions, and do not attach population inference to the four ROIs.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conclusion does not rest on a single plot. The main cohort shows the condition contrast, the nested experiment attributes the variance source, and structural metrics show that remeshing creates different numerical head models.</a:t>
            </a:r>
          </a:p>
          <a:p/>
          <a:p>
            <a:r>
              <a:t>        This is evidence that mesh realization is part of the computational specification. It is not evidence that any one realization is anatomically truer.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Mesh reuse is useful for controlled comparisons because it removes a nuisance source. It is not automatically the best strategy for absolute dosimetry or accuracy claims.</a:t>
            </a:r>
          </a:p>
          <a:p/>
          <a:p>
            <a:r>
              <a:t>        If the effect of interest is a few percent, either average or model multiple mesh realizations, or demonstrate empirically that mesh uncertainty is negligible relative to that contrast. Preserve and checksum the chosen mesh so the model can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 is designed to quantify numerical repeatability, not validation against measured fields. Ten anatomical datasets and two targets provide replication, but not broad coverage of every montage or software stack.</a:t>
            </a:r>
          </a:p>
          <a:p/>
          <a:p>
            <a:r>
              <a:t>        The representative fixed mesh was selected using the primary field outcome, so its central value is expected to sit near the remesh center. The meaningful fixed-arm result is the near-zero spread conditional on that mesh—not independent accuracy.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the take-home sentence, then invite discussion. These questions are intentionally methodological: whether to average or standardize, how to set a numerical tolerance, and what experiment would most efficiently test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the audience wants to inspect which pairs drive ranking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the audience wants to inspect which pairs drive ranking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is balanced by recorded sex and covers five age bands. Both target experiments use the same ten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historical fixed mesh was selected using the anatomical parcel median, while the paper endpoint was refreshed to the optimizer-matched spherical ROI. Recomputing selection changed 18 of 20 participant–target representatives. The current presentation uses the regenerated spherical-fixed runs.</a:t>
            </a:r>
          </a:p>
          <a:p/>
          <a:p>
            <a:r>
              <a:t>        Some spherical ROI voxels were non-finite in a subset of runs, but support remained at least 97% in hippocampus and 99% in M1. Within-group correlations with the field metric were weak and are descriptive only.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TI, SimNIBS, finite-element, and CamCAN context. The numerical results in the deck come from the corrected local analysis artifacts, not the older manuscript tables.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equation in plain language: an observed field is the overall mean plus the shift associated with that mesh plus residual repeat-to-repeat variation. The left component is estimated from the spread of mesh means. The right component is estimated from scatter around each mesh's own mean. Because there is one fixed participant and target, this is source attribution within this workflow, not population inference.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E3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792" y="493776"/>
            <a:ext cx="2331720" cy="310896"/>
          </a:xfrm>
          <a:prstGeom prst="roundRect">
            <a:avLst/>
          </a:prstGeom>
          <a:solidFill>
            <a:srgbClr val="1E3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6656" y="576072"/>
            <a:ext cx="2221991" cy="146304"/>
          </a:xfrm>
          <a:prstGeom prst="rect">
            <a:avLst/>
          </a:prstGeom>
          <a:noFill/>
        </p:spPr>
        <p:txBody>
          <a:bodyPr wrap="square" lIns="36576" rIns="36576" tIns="0" bIns="0" anchor="t">
            <a:spAutoFit/>
          </a:bodyPr>
          <a:lstStyle/>
          <a:p>
            <a:pPr algn="ctr">
              <a:defRPr sz="840" b="1">
                <a:solidFill>
                  <a:srgbClr val="BEE1DC"/>
                </a:solidFill>
                <a:latin typeface="Noto Sans"/>
              </a:defRPr>
            </a:pPr>
            <a:r>
              <a:t>INITIAL DRAFT • CONTENT REVIEW</a:t>
            </a:r>
          </a:p>
        </p:txBody>
      </p:sp>
      <p:sp>
        <p:nvSpPr>
          <p:cNvPr id="5" name="TextBox 4"/>
          <p:cNvSpPr txBox="1"/>
          <p:nvPr/>
        </p:nvSpPr>
        <p:spPr>
          <a:xfrm>
            <a:off x="621792" y="1143000"/>
            <a:ext cx="6675120" cy="1508760"/>
          </a:xfrm>
          <a:prstGeom prst="rect">
            <a:avLst/>
          </a:prstGeom>
          <a:noFill/>
        </p:spPr>
        <p:txBody>
          <a:bodyPr wrap="square" lIns="36576" rIns="36576" tIns="0" bIns="0" anchor="t">
            <a:spAutoFit/>
          </a:bodyPr>
          <a:lstStyle/>
          <a:p>
            <a:pPr algn="l">
              <a:defRPr sz="3800" b="1">
                <a:solidFill>
                  <a:srgbClr val="FFFFFF"/>
                </a:solidFill>
                <a:latin typeface="Noto Sans"/>
              </a:defRPr>
            </a:pPr>
            <a:r>
              <a:t>Mesh realization is</a:t>
            </a:r>
            <a:br/>
            <a:r>
              <a:t>part of the result</a:t>
            </a:r>
          </a:p>
        </p:txBody>
      </p:sp>
      <p:sp>
        <p:nvSpPr>
          <p:cNvPr id="6" name="TextBox 5"/>
          <p:cNvSpPr txBox="1"/>
          <p:nvPr/>
        </p:nvSpPr>
        <p:spPr>
          <a:xfrm>
            <a:off x="658368" y="2907792"/>
            <a:ext cx="6263640" cy="658368"/>
          </a:xfrm>
          <a:prstGeom prst="rect">
            <a:avLst/>
          </a:prstGeom>
          <a:noFill/>
        </p:spPr>
        <p:txBody>
          <a:bodyPr wrap="square" lIns="36576" rIns="36576" tIns="0" bIns="0" anchor="t">
            <a:spAutoFit/>
          </a:bodyPr>
          <a:lstStyle/>
          <a:p>
            <a:pPr algn="l">
              <a:defRPr sz="2000" b="0">
                <a:solidFill>
                  <a:srgbClr val="CBD9E4"/>
                </a:solidFill>
                <a:latin typeface="Noto Sans"/>
              </a:defRPr>
            </a:pPr>
            <a:r>
              <a:t>Repeatability of individualized temporal-interference E-field simulations</a:t>
            </a:r>
          </a:p>
        </p:txBody>
      </p:sp>
      <p:sp>
        <p:nvSpPr>
          <p:cNvPr id="7" name="TextBox 6"/>
          <p:cNvSpPr txBox="1"/>
          <p:nvPr/>
        </p:nvSpPr>
        <p:spPr>
          <a:xfrm>
            <a:off x="658368" y="5413248"/>
            <a:ext cx="6309360" cy="274320"/>
          </a:xfrm>
          <a:prstGeom prst="rect">
            <a:avLst/>
          </a:prstGeom>
          <a:noFill/>
        </p:spPr>
        <p:txBody>
          <a:bodyPr wrap="square" lIns="36576" rIns="36576" tIns="0" bIns="0" anchor="t">
            <a:spAutoFit/>
          </a:bodyPr>
          <a:lstStyle/>
          <a:p>
            <a:pPr algn="l">
              <a:defRPr sz="1100" b="0">
                <a:solidFill>
                  <a:srgbClr val="ADC0CF"/>
                </a:solidFill>
                <a:latin typeface="Noto Sans"/>
              </a:defRPr>
            </a:pPr>
            <a:r>
              <a:t>Boyan Ivanov  •  Lab Journal Club  •  25 September 2026</a:t>
            </a:r>
          </a:p>
        </p:txBody>
      </p:sp>
      <p:sp>
        <p:nvSpPr>
          <p:cNvPr id="8" name="TextBox 7"/>
          <p:cNvSpPr txBox="1"/>
          <p:nvPr/>
        </p:nvSpPr>
        <p:spPr>
          <a:xfrm>
            <a:off x="658368" y="5870448"/>
            <a:ext cx="6355080" cy="438912"/>
          </a:xfrm>
          <a:prstGeom prst="rect">
            <a:avLst/>
          </a:prstGeom>
          <a:noFill/>
        </p:spPr>
        <p:txBody>
          <a:bodyPr wrap="square" lIns="36576" rIns="36576" tIns="0" bIns="0" anchor="t">
            <a:spAutoFit/>
          </a:bodyPr>
          <a:lstStyle/>
          <a:p>
            <a:pPr algn="l">
              <a:defRPr sz="1150" b="1">
                <a:solidFill>
                  <a:srgbClr val="FFFFFF"/>
                </a:solidFill>
                <a:latin typeface="Noto Sans"/>
              </a:defRPr>
            </a:pPr>
            <a:r>
              <a:t>Fresh remeshing produces percent-level spread; repeated solving on one mesh is nearly deterministic.</a:t>
            </a:r>
          </a:p>
        </p:txBody>
      </p:sp>
      <p:sp>
        <p:nvSpPr>
          <p:cNvPr id="9" name="TextBox 8"/>
          <p:cNvSpPr txBox="1"/>
          <p:nvPr/>
        </p:nvSpPr>
        <p:spPr>
          <a:xfrm>
            <a:off x="7744968" y="758952"/>
            <a:ext cx="3383280" cy="228600"/>
          </a:xfrm>
          <a:prstGeom prst="rect">
            <a:avLst/>
          </a:prstGeom>
          <a:noFill/>
        </p:spPr>
        <p:txBody>
          <a:bodyPr wrap="square" lIns="36576" rIns="36576" tIns="0" bIns="0" anchor="t">
            <a:spAutoFit/>
          </a:bodyPr>
          <a:lstStyle/>
          <a:p>
            <a:pPr algn="ctr">
              <a:defRPr sz="900" b="1">
                <a:solidFill>
                  <a:srgbClr val="DDA83F"/>
                </a:solidFill>
                <a:latin typeface="Noto Sans"/>
              </a:defRPr>
            </a:pPr>
            <a:r>
              <a:t>FULLY NESTED CHECK</a:t>
            </a:r>
          </a:p>
        </p:txBody>
      </p:sp>
      <p:sp>
        <p:nvSpPr>
          <p:cNvPr id="10" name="Rounded Rectangle 9"/>
          <p:cNvSpPr/>
          <p:nvPr/>
        </p:nvSpPr>
        <p:spPr>
          <a:xfrm>
            <a:off x="7552944" y="1225296"/>
            <a:ext cx="3794760" cy="4206240"/>
          </a:xfrm>
          <a:prstGeom prst="roundRect">
            <a:avLst/>
          </a:prstGeom>
          <a:solidFill>
            <a:srgbClr val="112A3F"/>
          </a:solidFill>
          <a:ln w="10160">
            <a:solidFill>
              <a:srgbClr val="365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936992" y="162763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24544"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0" y="162763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912096"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05872"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936992"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7"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24544" y="2121408"/>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18320"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12096"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05872" y="2121408"/>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36992"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30767" y="2615184"/>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924544"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18320"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12096" y="2615184"/>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405872"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36992" y="3108960"/>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30767"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924544"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418320" y="3108960"/>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12096"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405872"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936992"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30767"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924544" y="3602736"/>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418320"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912096"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405872" y="3602736"/>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936992"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430767" y="409651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924544"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418320"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912096" y="409651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05872"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82712" y="4572000"/>
            <a:ext cx="1143000" cy="502920"/>
          </a:xfrm>
          <a:prstGeom prst="rect">
            <a:avLst/>
          </a:prstGeom>
          <a:noFill/>
        </p:spPr>
        <p:txBody>
          <a:bodyPr wrap="square" lIns="36576" rIns="36576" tIns="0" bIns="0" anchor="t">
            <a:spAutoFit/>
          </a:bodyPr>
          <a:lstStyle/>
          <a:p>
            <a:pPr algn="ctr">
              <a:defRPr sz="3000" b="1">
                <a:solidFill>
                  <a:srgbClr val="FFFFFF"/>
                </a:solidFill>
                <a:latin typeface="Noto Sans"/>
              </a:defRPr>
            </a:pPr>
            <a:r>
              <a:t>40</a:t>
            </a:r>
          </a:p>
        </p:txBody>
      </p:sp>
      <p:sp>
        <p:nvSpPr>
          <p:cNvPr id="48" name="TextBox 47"/>
          <p:cNvSpPr txBox="1"/>
          <p:nvPr/>
        </p:nvSpPr>
        <p:spPr>
          <a:xfrm>
            <a:off x="7827264" y="5084064"/>
            <a:ext cx="1508760" cy="310896"/>
          </a:xfrm>
          <a:prstGeom prst="rect">
            <a:avLst/>
          </a:prstGeom>
          <a:noFill/>
        </p:spPr>
        <p:txBody>
          <a:bodyPr wrap="square" lIns="36576" rIns="36576" tIns="0" bIns="0" anchor="t">
            <a:spAutoFit/>
          </a:bodyPr>
          <a:lstStyle/>
          <a:p>
            <a:pPr algn="ctr">
              <a:defRPr sz="900" b="0">
                <a:solidFill>
                  <a:srgbClr val="B7CAD7"/>
                </a:solidFill>
                <a:latin typeface="Noto Sans"/>
              </a:defRPr>
            </a:pPr>
            <a:r>
              <a:t>independent meshes</a:t>
            </a:r>
          </a:p>
        </p:txBody>
      </p:sp>
      <p:sp>
        <p:nvSpPr>
          <p:cNvPr id="49" name="TextBox 48"/>
          <p:cNvSpPr txBox="1"/>
          <p:nvPr/>
        </p:nvSpPr>
        <p:spPr>
          <a:xfrm>
            <a:off x="9308592" y="4617720"/>
            <a:ext cx="411480" cy="411480"/>
          </a:xfrm>
          <a:prstGeom prst="rect">
            <a:avLst/>
          </a:prstGeom>
          <a:noFill/>
        </p:spPr>
        <p:txBody>
          <a:bodyPr wrap="square" lIns="36576" rIns="36576" tIns="0" bIns="0" anchor="t">
            <a:spAutoFit/>
          </a:bodyPr>
          <a:lstStyle/>
          <a:p>
            <a:pPr algn="ctr">
              <a:defRPr sz="2400" b="1">
                <a:solidFill>
                  <a:srgbClr val="DDA83F"/>
                </a:solidFill>
                <a:latin typeface="Noto Sans"/>
              </a:defRPr>
            </a:pPr>
            <a:r>
              <a:t>×</a:t>
            </a:r>
          </a:p>
        </p:txBody>
      </p:sp>
      <p:sp>
        <p:nvSpPr>
          <p:cNvPr id="50" name="TextBox 49"/>
          <p:cNvSpPr txBox="1"/>
          <p:nvPr/>
        </p:nvSpPr>
        <p:spPr>
          <a:xfrm>
            <a:off x="9802368" y="4572000"/>
            <a:ext cx="1143000" cy="502920"/>
          </a:xfrm>
          <a:prstGeom prst="rect">
            <a:avLst/>
          </a:prstGeom>
          <a:noFill/>
        </p:spPr>
        <p:txBody>
          <a:bodyPr wrap="square" lIns="36576" rIns="36576" tIns="0" bIns="0" anchor="t">
            <a:spAutoFit/>
          </a:bodyPr>
          <a:lstStyle/>
          <a:p>
            <a:pPr algn="ctr">
              <a:defRPr sz="3000" b="1">
                <a:solidFill>
                  <a:srgbClr val="FFFFFF"/>
                </a:solidFill>
                <a:latin typeface="Noto Sans"/>
              </a:defRPr>
            </a:pPr>
            <a:r>
              <a:t>40</a:t>
            </a:r>
          </a:p>
        </p:txBody>
      </p:sp>
      <p:sp>
        <p:nvSpPr>
          <p:cNvPr id="51" name="TextBox 50"/>
          <p:cNvSpPr txBox="1"/>
          <p:nvPr/>
        </p:nvSpPr>
        <p:spPr>
          <a:xfrm>
            <a:off x="9710928" y="5084064"/>
            <a:ext cx="1325880" cy="310896"/>
          </a:xfrm>
          <a:prstGeom prst="rect">
            <a:avLst/>
          </a:prstGeom>
          <a:noFill/>
        </p:spPr>
        <p:txBody>
          <a:bodyPr wrap="square" lIns="36576" rIns="36576" tIns="0" bIns="0" anchor="t">
            <a:spAutoFit/>
          </a:bodyPr>
          <a:lstStyle/>
          <a:p>
            <a:pPr algn="ctr">
              <a:defRPr sz="900" b="0">
                <a:solidFill>
                  <a:srgbClr val="B7CAD7"/>
                </a:solidFill>
                <a:latin typeface="Noto Sans"/>
              </a:defRPr>
            </a:pPr>
            <a:r>
              <a:t>solves per mesh</a:t>
            </a:r>
          </a:p>
        </p:txBody>
      </p:sp>
      <p:sp>
        <p:nvSpPr>
          <p:cNvPr id="52" name="TextBox 51"/>
          <p:cNvSpPr txBox="1"/>
          <p:nvPr/>
        </p:nvSpPr>
        <p:spPr>
          <a:xfrm>
            <a:off x="7598664" y="5989320"/>
            <a:ext cx="3675887" cy="347472"/>
          </a:xfrm>
          <a:prstGeom prst="rect">
            <a:avLst/>
          </a:prstGeom>
          <a:noFill/>
        </p:spPr>
        <p:txBody>
          <a:bodyPr wrap="square" lIns="36576" rIns="36576" tIns="0" bIns="0" anchor="t">
            <a:spAutoFit/>
          </a:bodyPr>
          <a:lstStyle/>
          <a:p>
            <a:pPr algn="ctr">
              <a:defRPr sz="1000" b="1">
                <a:solidFill>
                  <a:srgbClr val="CBD9E4"/>
                </a:solidFill>
                <a:latin typeface="Noto Sans"/>
              </a:defRPr>
            </a:pPr>
            <a:r>
              <a:t>3,200 simulation records across cohort + nested experiments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TAKE-HOME FIRST</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field estimate is mesh-dependent</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02</a:t>
            </a:r>
          </a:p>
        </p:txBody>
      </p:sp>
      <p:sp>
        <p:nvSpPr>
          <p:cNvPr id="7" name="Rounded Rectangle 6"/>
          <p:cNvSpPr/>
          <p:nvPr/>
        </p:nvSpPr>
        <p:spPr>
          <a:xfrm>
            <a:off x="566928" y="1344168"/>
            <a:ext cx="2615184"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344168"/>
            <a:ext cx="64008" cy="157276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490472"/>
            <a:ext cx="2267712" cy="429768"/>
          </a:xfrm>
          <a:prstGeom prst="rect">
            <a:avLst/>
          </a:prstGeom>
          <a:noFill/>
        </p:spPr>
        <p:txBody>
          <a:bodyPr wrap="square" lIns="36576" rIns="36576" tIns="0" bIns="0" anchor="t">
            <a:spAutoFit/>
          </a:bodyPr>
          <a:lstStyle/>
          <a:p>
            <a:pPr algn="l">
              <a:defRPr sz="2700" b="1">
                <a:solidFill>
                  <a:srgbClr val="256FA6"/>
                </a:solidFill>
                <a:latin typeface="Noto Sans"/>
              </a:defRPr>
            </a:pPr>
            <a:r>
              <a:t>1.81–3.65%</a:t>
            </a:r>
          </a:p>
        </p:txBody>
      </p:sp>
      <p:sp>
        <p:nvSpPr>
          <p:cNvPr id="10" name="TextBox 9"/>
          <p:cNvSpPr txBox="1"/>
          <p:nvPr/>
        </p:nvSpPr>
        <p:spPr>
          <a:xfrm>
            <a:off x="768096" y="2002536"/>
            <a:ext cx="2267712" cy="822960"/>
          </a:xfrm>
          <a:prstGeom prst="rect">
            <a:avLst/>
          </a:prstGeom>
          <a:noFill/>
        </p:spPr>
        <p:txBody>
          <a:bodyPr wrap="square" lIns="36576" rIns="36576" tIns="0" bIns="0" anchor="t">
            <a:spAutoFit/>
          </a:bodyPr>
          <a:lstStyle/>
          <a:p>
            <a:pPr algn="l">
              <a:defRPr sz="1050" b="0">
                <a:solidFill>
                  <a:srgbClr val="566572"/>
                </a:solidFill>
                <a:latin typeface="Noto Sans"/>
              </a:defRPr>
            </a:pPr>
            <a:r>
              <a:t>Left-hippocampus CV across remesh repeats</a:t>
            </a:r>
          </a:p>
        </p:txBody>
      </p:sp>
      <p:sp>
        <p:nvSpPr>
          <p:cNvPr id="11" name="Rounded Rectangle 10"/>
          <p:cNvSpPr/>
          <p:nvPr/>
        </p:nvSpPr>
        <p:spPr>
          <a:xfrm>
            <a:off x="3310128" y="1344168"/>
            <a:ext cx="2615184"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10128" y="1344168"/>
            <a:ext cx="64008" cy="157276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6" y="1490472"/>
            <a:ext cx="2267712" cy="429768"/>
          </a:xfrm>
          <a:prstGeom prst="rect">
            <a:avLst/>
          </a:prstGeom>
          <a:noFill/>
        </p:spPr>
        <p:txBody>
          <a:bodyPr wrap="square" lIns="36576" rIns="36576" tIns="0" bIns="0" anchor="t">
            <a:spAutoFit/>
          </a:bodyPr>
          <a:lstStyle/>
          <a:p>
            <a:pPr algn="l">
              <a:defRPr sz="2700" b="1">
                <a:solidFill>
                  <a:srgbClr val="1B8B7E"/>
                </a:solidFill>
                <a:latin typeface="Noto Sans"/>
              </a:defRPr>
            </a:pPr>
            <a:r>
              <a:t>1.62–2.79%</a:t>
            </a:r>
          </a:p>
        </p:txBody>
      </p:sp>
      <p:sp>
        <p:nvSpPr>
          <p:cNvPr id="14" name="TextBox 13"/>
          <p:cNvSpPr txBox="1"/>
          <p:nvPr/>
        </p:nvSpPr>
        <p:spPr>
          <a:xfrm>
            <a:off x="3511296" y="2002536"/>
            <a:ext cx="2267712" cy="822960"/>
          </a:xfrm>
          <a:prstGeom prst="rect">
            <a:avLst/>
          </a:prstGeom>
          <a:noFill/>
        </p:spPr>
        <p:txBody>
          <a:bodyPr wrap="square" lIns="36576" rIns="36576" tIns="0" bIns="0" anchor="t">
            <a:spAutoFit/>
          </a:bodyPr>
          <a:lstStyle/>
          <a:p>
            <a:pPr algn="l">
              <a:defRPr sz="1050" b="0">
                <a:solidFill>
                  <a:srgbClr val="566572"/>
                </a:solidFill>
                <a:latin typeface="Noto Sans"/>
              </a:defRPr>
            </a:pPr>
            <a:r>
              <a:t>Right-M1 CV across remesh repeats</a:t>
            </a:r>
          </a:p>
        </p:txBody>
      </p:sp>
      <p:sp>
        <p:nvSpPr>
          <p:cNvPr id="15" name="Rounded Rectangle 14"/>
          <p:cNvSpPr/>
          <p:nvPr/>
        </p:nvSpPr>
        <p:spPr>
          <a:xfrm>
            <a:off x="6053328" y="1344168"/>
            <a:ext cx="2615184"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53328" y="1344168"/>
            <a:ext cx="64008" cy="157276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4496" y="1490472"/>
            <a:ext cx="2267712" cy="429768"/>
          </a:xfrm>
          <a:prstGeom prst="rect">
            <a:avLst/>
          </a:prstGeom>
          <a:noFill/>
        </p:spPr>
        <p:txBody>
          <a:bodyPr wrap="square" lIns="36576" rIns="36576" tIns="0" bIns="0" anchor="t">
            <a:spAutoFit/>
          </a:bodyPr>
          <a:lstStyle/>
          <a:p>
            <a:pPr algn="l">
              <a:defRPr sz="2700" b="1">
                <a:solidFill>
                  <a:srgbClr val="C25B23"/>
                </a:solidFill>
                <a:latin typeface="Noto Sans"/>
              </a:defRPr>
            </a:pPr>
            <a:r>
              <a:t>95.7%</a:t>
            </a:r>
          </a:p>
        </p:txBody>
      </p:sp>
      <p:sp>
        <p:nvSpPr>
          <p:cNvPr id="18" name="TextBox 17"/>
          <p:cNvSpPr txBox="1"/>
          <p:nvPr/>
        </p:nvSpPr>
        <p:spPr>
          <a:xfrm>
            <a:off x="6254496" y="2002536"/>
            <a:ext cx="2267712" cy="822960"/>
          </a:xfrm>
          <a:prstGeom prst="rect">
            <a:avLst/>
          </a:prstGeom>
          <a:noFill/>
        </p:spPr>
        <p:txBody>
          <a:bodyPr wrap="square" lIns="36576" rIns="36576" tIns="0" bIns="0" anchor="t">
            <a:spAutoFit/>
          </a:bodyPr>
          <a:lstStyle/>
          <a:p>
            <a:pPr algn="l">
              <a:defRPr sz="1050" b="0">
                <a:solidFill>
                  <a:srgbClr val="566572"/>
                </a:solidFill>
                <a:latin typeface="Noto Sans"/>
              </a:defRPr>
            </a:pPr>
            <a:r>
              <a:t>Hippocampal draws with ≥1 rank reversal</a:t>
            </a:r>
          </a:p>
        </p:txBody>
      </p:sp>
      <p:sp>
        <p:nvSpPr>
          <p:cNvPr id="19" name="Rounded Rectangle 18"/>
          <p:cNvSpPr/>
          <p:nvPr/>
        </p:nvSpPr>
        <p:spPr>
          <a:xfrm>
            <a:off x="8796528" y="1344168"/>
            <a:ext cx="2816352"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96528" y="1344168"/>
            <a:ext cx="64008" cy="15727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97696" y="1490472"/>
            <a:ext cx="2468880" cy="429768"/>
          </a:xfrm>
          <a:prstGeom prst="rect">
            <a:avLst/>
          </a:prstGeom>
          <a:noFill/>
        </p:spPr>
        <p:txBody>
          <a:bodyPr wrap="square" lIns="36576" rIns="36576" tIns="0" bIns="0" anchor="t">
            <a:spAutoFit/>
          </a:bodyPr>
          <a:lstStyle/>
          <a:p>
            <a:pPr algn="l">
              <a:defRPr sz="2500" b="1">
                <a:solidFill>
                  <a:srgbClr val="B13A3A"/>
                </a:solidFill>
                <a:latin typeface="Noto Sans"/>
              </a:defRPr>
            </a:pPr>
            <a:r>
              <a:t>99.9996%</a:t>
            </a:r>
          </a:p>
        </p:txBody>
      </p:sp>
      <p:sp>
        <p:nvSpPr>
          <p:cNvPr id="22" name="TextBox 21"/>
          <p:cNvSpPr txBox="1"/>
          <p:nvPr/>
        </p:nvSpPr>
        <p:spPr>
          <a:xfrm>
            <a:off x="8997696" y="2002536"/>
            <a:ext cx="2468880" cy="822960"/>
          </a:xfrm>
          <a:prstGeom prst="rect">
            <a:avLst/>
          </a:prstGeom>
          <a:noFill/>
        </p:spPr>
        <p:txBody>
          <a:bodyPr wrap="square" lIns="36576" rIns="36576" tIns="0" bIns="0" anchor="t">
            <a:spAutoFit/>
          </a:bodyPr>
          <a:lstStyle/>
          <a:p>
            <a:pPr algn="l">
              <a:defRPr sz="1050" b="0">
                <a:solidFill>
                  <a:srgbClr val="566572"/>
                </a:solidFill>
                <a:latin typeface="Noto Sans"/>
              </a:defRPr>
            </a:pPr>
            <a:r>
              <a:t>Variance share attributed to mesh in one nested subject</a:t>
            </a:r>
          </a:p>
        </p:txBody>
      </p:sp>
      <p:sp>
        <p:nvSpPr>
          <p:cNvPr id="23" name="Rounded Rectangle 22"/>
          <p:cNvSpPr/>
          <p:nvPr/>
        </p:nvSpPr>
        <p:spPr>
          <a:xfrm>
            <a:off x="566928" y="3236976"/>
            <a:ext cx="11045952" cy="1261872"/>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3493008"/>
            <a:ext cx="1828800" cy="256032"/>
          </a:xfrm>
          <a:prstGeom prst="rect">
            <a:avLst/>
          </a:prstGeom>
          <a:noFill/>
        </p:spPr>
        <p:txBody>
          <a:bodyPr wrap="square" lIns="36576" rIns="36576" tIns="0" bIns="0" anchor="t">
            <a:spAutoFit/>
          </a:bodyPr>
          <a:lstStyle/>
          <a:p>
            <a:pPr algn="l">
              <a:defRPr sz="1000" b="1">
                <a:solidFill>
                  <a:srgbClr val="AECADC"/>
                </a:solidFill>
                <a:latin typeface="Noto Sans"/>
              </a:defRPr>
            </a:pPr>
            <a:r>
              <a:t>Central conclusion</a:t>
            </a:r>
          </a:p>
        </p:txBody>
      </p:sp>
      <p:sp>
        <p:nvSpPr>
          <p:cNvPr id="25" name="TextBox 24"/>
          <p:cNvSpPr txBox="1"/>
          <p:nvPr/>
        </p:nvSpPr>
        <p:spPr>
          <a:xfrm>
            <a:off x="850392" y="3822191"/>
            <a:ext cx="10424160" cy="438912"/>
          </a:xfrm>
          <a:prstGeom prst="rect">
            <a:avLst/>
          </a:prstGeom>
          <a:noFill/>
        </p:spPr>
        <p:txBody>
          <a:bodyPr wrap="square" lIns="36576" rIns="36576" tIns="0" bIns="0" anchor="ctr">
            <a:spAutoFit/>
          </a:bodyPr>
          <a:lstStyle/>
          <a:p>
            <a:pPr algn="l">
              <a:defRPr sz="2100" b="1">
                <a:solidFill>
                  <a:srgbClr val="FFFFFF"/>
                </a:solidFill>
                <a:latin typeface="Noto Sans"/>
              </a:defRPr>
            </a:pPr>
            <a:r>
              <a:t>Within the evaluated CHARM–SimNIBS workflow, mesh generation—not repeated solution on a fixed mesh—dominates repeated-run variability.</a:t>
            </a:r>
          </a:p>
        </p:txBody>
      </p:sp>
      <p:sp>
        <p:nvSpPr>
          <p:cNvPr id="26" name="Rounded Rectangle 25"/>
          <p:cNvSpPr/>
          <p:nvPr/>
        </p:nvSpPr>
        <p:spPr>
          <a:xfrm>
            <a:off x="566928" y="4818888"/>
            <a:ext cx="11045952" cy="1042415"/>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5056632"/>
            <a:ext cx="1874519" cy="219456"/>
          </a:xfrm>
          <a:prstGeom prst="rect">
            <a:avLst/>
          </a:prstGeom>
          <a:noFill/>
        </p:spPr>
        <p:txBody>
          <a:bodyPr wrap="square" lIns="36576" rIns="36576" tIns="0" bIns="0" anchor="t">
            <a:spAutoFit/>
          </a:bodyPr>
          <a:lstStyle/>
          <a:p>
            <a:pPr algn="l">
              <a:defRPr sz="950" b="1">
                <a:solidFill>
                  <a:srgbClr val="C25B23"/>
                </a:solidFill>
                <a:latin typeface="Noto Sans"/>
              </a:defRPr>
            </a:pPr>
            <a:r>
              <a:t>Interpretation boundary</a:t>
            </a:r>
          </a:p>
        </p:txBody>
      </p:sp>
      <p:sp>
        <p:nvSpPr>
          <p:cNvPr id="28" name="TextBox 27"/>
          <p:cNvSpPr txBox="1"/>
          <p:nvPr/>
        </p:nvSpPr>
        <p:spPr>
          <a:xfrm>
            <a:off x="2395728" y="5001768"/>
            <a:ext cx="8842248" cy="512064"/>
          </a:xfrm>
          <a:prstGeom prst="rect">
            <a:avLst/>
          </a:prstGeom>
          <a:noFill/>
        </p:spPr>
        <p:txBody>
          <a:bodyPr wrap="square" lIns="36576" rIns="36576" tIns="0" bIns="0" anchor="t">
            <a:spAutoFit/>
          </a:bodyPr>
          <a:lstStyle/>
          <a:p>
            <a:pPr algn="l">
              <a:defRPr sz="1400" b="1">
                <a:solidFill>
                  <a:srgbClr val="1D2730"/>
                </a:solidFill>
                <a:latin typeface="Noto Sans"/>
              </a:defRPr>
            </a:pPr>
            <a:r>
              <a:t>The 40×40 variance decomposition is a single-participant sensitivity analysis. It strengthens source attribution, but it is not a population variance estimate.</a:t>
            </a:r>
          </a:p>
        </p:txBody>
      </p:sp>
      <p:sp>
        <p:nvSpPr>
          <p:cNvPr id="29" name="TextBox 28"/>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Corrected spherical-ROI analysis freeze: 11 Sep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WHY THIS MATTERS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Identical inputs still pass through a variable numerical representation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03</a:t>
            </a:r>
          </a:p>
        </p:txBody>
      </p:sp>
      <p:sp>
        <p:nvSpPr>
          <p:cNvPr id="7" name="Rounded Rectangle 6"/>
          <p:cNvSpPr/>
          <p:nvPr/>
        </p:nvSpPr>
        <p:spPr>
          <a:xfrm>
            <a:off x="530352" y="1993392"/>
            <a:ext cx="1938528" cy="1417320"/>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98448" y="1581912"/>
            <a:ext cx="384048" cy="384048"/>
          </a:xfrm>
          <a:prstGeom prst="ellipse">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1</a:t>
            </a:r>
          </a:p>
        </p:txBody>
      </p:sp>
      <p:sp>
        <p:nvSpPr>
          <p:cNvPr id="10" name="TextBox 9"/>
          <p:cNvSpPr txBox="1"/>
          <p:nvPr/>
        </p:nvSpPr>
        <p:spPr>
          <a:xfrm>
            <a:off x="658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MRI + labels</a:t>
            </a:r>
          </a:p>
        </p:txBody>
      </p:sp>
      <p:sp>
        <p:nvSpPr>
          <p:cNvPr id="11" name="TextBox 10"/>
          <p:cNvSpPr txBox="1"/>
          <p:nvPr/>
        </p:nvSpPr>
        <p:spPr>
          <a:xfrm>
            <a:off x="649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fixed anatomy</a:t>
            </a:r>
          </a:p>
        </p:txBody>
      </p:sp>
      <p:cxnSp>
        <p:nvCxnSpPr>
          <p:cNvPr id="12" name="Connector 11"/>
          <p:cNvCxnSpPr/>
          <p:nvPr/>
        </p:nvCxnSpPr>
        <p:spPr>
          <a:xfrm>
            <a:off x="2505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16352" y="1993392"/>
            <a:ext cx="1938528" cy="1417320"/>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4448" y="1581912"/>
            <a:ext cx="384048" cy="384048"/>
          </a:xfrm>
          <a:prstGeom prst="ellipse">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2</a:t>
            </a:r>
          </a:p>
        </p:txBody>
      </p:sp>
      <p:sp>
        <p:nvSpPr>
          <p:cNvPr id="16" name="TextBox 15"/>
          <p:cNvSpPr txBox="1"/>
          <p:nvPr/>
        </p:nvSpPr>
        <p:spPr>
          <a:xfrm>
            <a:off x="2944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CHARM mesh</a:t>
            </a:r>
          </a:p>
        </p:txBody>
      </p:sp>
      <p:sp>
        <p:nvSpPr>
          <p:cNvPr id="17" name="TextBox 16"/>
          <p:cNvSpPr txBox="1"/>
          <p:nvPr/>
        </p:nvSpPr>
        <p:spPr>
          <a:xfrm>
            <a:off x="2935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regenerate or reuse</a:t>
            </a:r>
          </a:p>
        </p:txBody>
      </p:sp>
      <p:cxnSp>
        <p:nvCxnSpPr>
          <p:cNvPr id="18" name="Connector 17"/>
          <p:cNvCxnSpPr/>
          <p:nvPr/>
        </p:nvCxnSpPr>
        <p:spPr>
          <a:xfrm>
            <a:off x="4791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02352" y="1993392"/>
            <a:ext cx="1938528" cy="1417320"/>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870448" y="1581912"/>
            <a:ext cx="384048" cy="38404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70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3</a:t>
            </a:r>
          </a:p>
        </p:txBody>
      </p:sp>
      <p:sp>
        <p:nvSpPr>
          <p:cNvPr id="22" name="TextBox 21"/>
          <p:cNvSpPr txBox="1"/>
          <p:nvPr/>
        </p:nvSpPr>
        <p:spPr>
          <a:xfrm>
            <a:off x="5230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FEM fields</a:t>
            </a:r>
          </a:p>
        </p:txBody>
      </p:sp>
      <p:sp>
        <p:nvSpPr>
          <p:cNvPr id="23" name="TextBox 22"/>
          <p:cNvSpPr txBox="1"/>
          <p:nvPr/>
        </p:nvSpPr>
        <p:spPr>
          <a:xfrm>
            <a:off x="5221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two carrier fields</a:t>
            </a:r>
          </a:p>
        </p:txBody>
      </p:sp>
      <p:cxnSp>
        <p:nvCxnSpPr>
          <p:cNvPr id="24" name="Connector 23"/>
          <p:cNvCxnSpPr/>
          <p:nvPr/>
        </p:nvCxnSpPr>
        <p:spPr>
          <a:xfrm>
            <a:off x="7077456" y="2697480"/>
            <a:ext cx="274319"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1993392"/>
            <a:ext cx="1938528" cy="1417320"/>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156448" y="1581912"/>
            <a:ext cx="384048" cy="384048"/>
          </a:xfrm>
          <a:prstGeom prst="ellipse">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6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4</a:t>
            </a:r>
          </a:p>
        </p:txBody>
      </p:sp>
      <p:sp>
        <p:nvSpPr>
          <p:cNvPr id="28" name="TextBox 27"/>
          <p:cNvSpPr txBox="1"/>
          <p:nvPr/>
        </p:nvSpPr>
        <p:spPr>
          <a:xfrm>
            <a:off x="7516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TI envelope</a:t>
            </a:r>
          </a:p>
        </p:txBody>
      </p:sp>
      <p:sp>
        <p:nvSpPr>
          <p:cNvPr id="29" name="TextBox 28"/>
          <p:cNvSpPr txBox="1"/>
          <p:nvPr/>
        </p:nvSpPr>
        <p:spPr>
          <a:xfrm>
            <a:off x="7507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max-TI combination</a:t>
            </a:r>
          </a:p>
        </p:txBody>
      </p:sp>
      <p:cxnSp>
        <p:nvCxnSpPr>
          <p:cNvPr id="30" name="Connector 29"/>
          <p:cNvCxnSpPr/>
          <p:nvPr/>
        </p:nvCxnSpPr>
        <p:spPr>
          <a:xfrm>
            <a:off x="9363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4352" y="1993392"/>
            <a:ext cx="1938528" cy="1417320"/>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442448" y="1581912"/>
            <a:ext cx="384048" cy="384048"/>
          </a:xfrm>
          <a:prstGeom prst="ellipse">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42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5</a:t>
            </a:r>
          </a:p>
        </p:txBody>
      </p:sp>
      <p:sp>
        <p:nvSpPr>
          <p:cNvPr id="34" name="TextBox 33"/>
          <p:cNvSpPr txBox="1"/>
          <p:nvPr/>
        </p:nvSpPr>
        <p:spPr>
          <a:xfrm>
            <a:off x="9802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Spherical ROI</a:t>
            </a:r>
          </a:p>
        </p:txBody>
      </p:sp>
      <p:sp>
        <p:nvSpPr>
          <p:cNvPr id="35" name="TextBox 34"/>
          <p:cNvSpPr txBox="1"/>
          <p:nvPr/>
        </p:nvSpPr>
        <p:spPr>
          <a:xfrm>
            <a:off x="9793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median field</a:t>
            </a:r>
          </a:p>
        </p:txBody>
      </p:sp>
      <p:sp>
        <p:nvSpPr>
          <p:cNvPr id="36" name="Rectangle 35"/>
          <p:cNvSpPr/>
          <p:nvPr/>
        </p:nvSpPr>
        <p:spPr>
          <a:xfrm>
            <a:off x="2816352" y="3886200"/>
            <a:ext cx="1938528" cy="73152"/>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16352" y="4078224"/>
            <a:ext cx="1938528" cy="219456"/>
          </a:xfrm>
          <a:prstGeom prst="rect">
            <a:avLst/>
          </a:prstGeom>
          <a:noFill/>
        </p:spPr>
        <p:txBody>
          <a:bodyPr wrap="square" lIns="36576" rIns="36576" tIns="0" bIns="0" anchor="t">
            <a:spAutoFit/>
          </a:bodyPr>
          <a:lstStyle/>
          <a:p>
            <a:pPr algn="ctr">
              <a:defRPr sz="900" b="1">
                <a:solidFill>
                  <a:srgbClr val="C25B23"/>
                </a:solidFill>
                <a:latin typeface="Noto Sans"/>
              </a:defRPr>
            </a:pPr>
            <a:r>
              <a:t>experimental factor</a:t>
            </a:r>
          </a:p>
        </p:txBody>
      </p:sp>
      <p:sp>
        <p:nvSpPr>
          <p:cNvPr id="38" name="Rounded Rectangle 37"/>
          <p:cNvSpPr/>
          <p:nvPr/>
        </p:nvSpPr>
        <p:spPr>
          <a:xfrm>
            <a:off x="658368" y="4617720"/>
            <a:ext cx="10899648" cy="96012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892040"/>
            <a:ext cx="1417320" cy="210312"/>
          </a:xfrm>
          <a:prstGeom prst="rect">
            <a:avLst/>
          </a:prstGeom>
          <a:noFill/>
        </p:spPr>
        <p:txBody>
          <a:bodyPr wrap="square" lIns="36576" rIns="36576" tIns="0" bIns="0" anchor="t">
            <a:spAutoFit/>
          </a:bodyPr>
          <a:lstStyle/>
          <a:p>
            <a:pPr algn="l">
              <a:defRPr sz="1000" b="1">
                <a:solidFill>
                  <a:srgbClr val="194874"/>
                </a:solidFill>
                <a:latin typeface="Noto Sans"/>
              </a:defRPr>
            </a:pPr>
            <a:r>
              <a:t>Held constant</a:t>
            </a:r>
          </a:p>
        </p:txBody>
      </p:sp>
      <p:sp>
        <p:nvSpPr>
          <p:cNvPr id="40" name="TextBox 39"/>
          <p:cNvSpPr txBox="1"/>
          <p:nvPr/>
        </p:nvSpPr>
        <p:spPr>
          <a:xfrm>
            <a:off x="2176272" y="4837176"/>
            <a:ext cx="9006840" cy="329184"/>
          </a:xfrm>
          <a:prstGeom prst="rect">
            <a:avLst/>
          </a:prstGeom>
          <a:noFill/>
        </p:spPr>
        <p:txBody>
          <a:bodyPr wrap="square" lIns="36576" rIns="36576" tIns="0" bIns="0" anchor="t">
            <a:spAutoFit/>
          </a:bodyPr>
          <a:lstStyle/>
          <a:p>
            <a:pPr algn="l">
              <a:defRPr sz="1500" b="0">
                <a:solidFill>
                  <a:srgbClr val="1D2730"/>
                </a:solidFill>
                <a:latin typeface="Noto Sans"/>
              </a:defRPr>
            </a:pPr>
            <a:r>
              <a:t>anatomy • tissue labels • electrodes • currents • conductivities • software settings • ROI definition</a:t>
            </a:r>
          </a:p>
        </p:txBody>
      </p:sp>
      <p:sp>
        <p:nvSpPr>
          <p:cNvPr id="41" name="TextBox 40"/>
          <p:cNvSpPr txBox="1"/>
          <p:nvPr/>
        </p:nvSpPr>
        <p:spPr>
          <a:xfrm>
            <a:off x="749808" y="5833872"/>
            <a:ext cx="10698480" cy="384048"/>
          </a:xfrm>
          <a:prstGeom prst="rect">
            <a:avLst/>
          </a:prstGeom>
          <a:noFill/>
        </p:spPr>
        <p:txBody>
          <a:bodyPr wrap="square" lIns="36576" rIns="36576" tIns="0" bIns="0" anchor="t">
            <a:spAutoFit/>
          </a:bodyPr>
          <a:lstStyle/>
          <a:p>
            <a:pPr algn="ctr">
              <a:defRPr sz="1700" b="1">
                <a:solidFill>
                  <a:srgbClr val="0C1E30"/>
                </a:solidFill>
                <a:latin typeface="Noto Sans"/>
              </a:defRPr>
            </a:pPr>
            <a:r>
              <a:t>Question: can a new valid tetrahedralization change a conclusion even when every scientific input is unchanged?</a:t>
            </a:r>
          </a:p>
        </p:txBody>
      </p:sp>
      <p:sp>
        <p:nvSpPr>
          <p:cNvPr id="42" name="TextBox 41"/>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Context: Windhoff et al., 2013; Saturnino et al., 2019; Puonti et al., 2020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STUDY DESIGN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Two complementary experiments separate pattern from source</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04</a:t>
            </a:r>
          </a:p>
        </p:txBody>
      </p:sp>
      <p:sp>
        <p:nvSpPr>
          <p:cNvPr id="7" name="Rounded Rectangle 6"/>
          <p:cNvSpPr/>
          <p:nvPr/>
        </p:nvSpPr>
        <p:spPr>
          <a:xfrm>
            <a:off x="576072" y="1316736"/>
            <a:ext cx="5486400" cy="452628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581912"/>
            <a:ext cx="1508760" cy="310896"/>
          </a:xfrm>
          <a:prstGeom prst="roundRect">
            <a:avLst/>
          </a:prstGeom>
          <a:solidFill>
            <a:srgbClr val="E0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664208"/>
            <a:ext cx="1399031" cy="146304"/>
          </a:xfrm>
          <a:prstGeom prst="rect">
            <a:avLst/>
          </a:prstGeom>
          <a:noFill/>
        </p:spPr>
        <p:txBody>
          <a:bodyPr wrap="square" lIns="36576" rIns="36576" tIns="0" bIns="0" anchor="t">
            <a:spAutoFit/>
          </a:bodyPr>
          <a:lstStyle/>
          <a:p>
            <a:pPr algn="ctr">
              <a:defRPr sz="840" b="1">
                <a:solidFill>
                  <a:srgbClr val="194874"/>
                </a:solidFill>
                <a:latin typeface="Noto Sans"/>
              </a:defRPr>
            </a:pPr>
            <a:r>
              <a:t>COHORT CONTRAST</a:t>
            </a:r>
          </a:p>
        </p:txBody>
      </p:sp>
      <p:sp>
        <p:nvSpPr>
          <p:cNvPr id="10" name="TextBox 9"/>
          <p:cNvSpPr txBox="1"/>
          <p:nvPr/>
        </p:nvSpPr>
        <p:spPr>
          <a:xfrm>
            <a:off x="841248" y="2057400"/>
            <a:ext cx="4892040" cy="512064"/>
          </a:xfrm>
          <a:prstGeom prst="rect">
            <a:avLst/>
          </a:prstGeom>
          <a:noFill/>
        </p:spPr>
        <p:txBody>
          <a:bodyPr wrap="square" lIns="36576" rIns="36576" tIns="0" bIns="0" anchor="t">
            <a:spAutoFit/>
          </a:bodyPr>
          <a:lstStyle/>
          <a:p>
            <a:pPr algn="l">
              <a:defRPr sz="2000" b="1">
                <a:solidFill>
                  <a:srgbClr val="0C1E30"/>
                </a:solidFill>
                <a:latin typeface="Noto Sans"/>
              </a:defRPr>
            </a:pPr>
            <a:r>
              <a:t>Does the effect recur across people and targets?</a:t>
            </a:r>
          </a:p>
        </p:txBody>
      </p:sp>
      <p:sp>
        <p:nvSpPr>
          <p:cNvPr id="11" name="Rounded Rectangle 10"/>
          <p:cNvSpPr/>
          <p:nvPr/>
        </p:nvSpPr>
        <p:spPr>
          <a:xfrm>
            <a:off x="859536" y="2743200"/>
            <a:ext cx="1444752" cy="1152144"/>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9536"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889504"/>
            <a:ext cx="1097280" cy="429768"/>
          </a:xfrm>
          <a:prstGeom prst="rect">
            <a:avLst/>
          </a:prstGeom>
          <a:noFill/>
        </p:spPr>
        <p:txBody>
          <a:bodyPr wrap="square" lIns="36576" rIns="36576" tIns="0" bIns="0" anchor="t">
            <a:spAutoFit/>
          </a:bodyPr>
          <a:lstStyle/>
          <a:p>
            <a:pPr algn="l">
              <a:defRPr sz="2500" b="1">
                <a:solidFill>
                  <a:srgbClr val="194874"/>
                </a:solidFill>
                <a:latin typeface="Noto Sans"/>
              </a:defRPr>
            </a:pPr>
            <a:r>
              <a:t>10</a:t>
            </a:r>
          </a:p>
        </p:txBody>
      </p:sp>
      <p:sp>
        <p:nvSpPr>
          <p:cNvPr id="14" name="TextBox 13"/>
          <p:cNvSpPr txBox="1"/>
          <p:nvPr/>
        </p:nvSpPr>
        <p:spPr>
          <a:xfrm>
            <a:off x="1060704" y="3401568"/>
            <a:ext cx="1097280" cy="402336"/>
          </a:xfrm>
          <a:prstGeom prst="rect">
            <a:avLst/>
          </a:prstGeom>
          <a:noFill/>
        </p:spPr>
        <p:txBody>
          <a:bodyPr wrap="square" lIns="36576" rIns="36576" tIns="0" bIns="0" anchor="t">
            <a:spAutoFit/>
          </a:bodyPr>
          <a:lstStyle/>
          <a:p>
            <a:pPr algn="l">
              <a:defRPr sz="1050" b="0">
                <a:solidFill>
                  <a:srgbClr val="566572"/>
                </a:solidFill>
                <a:latin typeface="Noto Sans"/>
              </a:defRPr>
            </a:pPr>
            <a:r>
              <a:t>participants</a:t>
            </a:r>
          </a:p>
        </p:txBody>
      </p:sp>
      <p:sp>
        <p:nvSpPr>
          <p:cNvPr id="15" name="Rounded Rectangle 14"/>
          <p:cNvSpPr/>
          <p:nvPr/>
        </p:nvSpPr>
        <p:spPr>
          <a:xfrm>
            <a:off x="2450592" y="2743200"/>
            <a:ext cx="1444752" cy="1152144"/>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50592"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51760" y="2889504"/>
            <a:ext cx="1097280" cy="429768"/>
          </a:xfrm>
          <a:prstGeom prst="rect">
            <a:avLst/>
          </a:prstGeom>
          <a:noFill/>
        </p:spPr>
        <p:txBody>
          <a:bodyPr wrap="square" lIns="36576" rIns="36576" tIns="0" bIns="0" anchor="t">
            <a:spAutoFit/>
          </a:bodyPr>
          <a:lstStyle/>
          <a:p>
            <a:pPr algn="l">
              <a:defRPr sz="2500" b="1">
                <a:solidFill>
                  <a:srgbClr val="194874"/>
                </a:solidFill>
                <a:latin typeface="Noto Sans"/>
              </a:defRPr>
            </a:pPr>
            <a:r>
              <a:t>2</a:t>
            </a:r>
          </a:p>
        </p:txBody>
      </p:sp>
      <p:sp>
        <p:nvSpPr>
          <p:cNvPr id="18" name="TextBox 17"/>
          <p:cNvSpPr txBox="1"/>
          <p:nvPr/>
        </p:nvSpPr>
        <p:spPr>
          <a:xfrm>
            <a:off x="2651760" y="3401568"/>
            <a:ext cx="1097280" cy="402336"/>
          </a:xfrm>
          <a:prstGeom prst="rect">
            <a:avLst/>
          </a:prstGeom>
          <a:noFill/>
        </p:spPr>
        <p:txBody>
          <a:bodyPr wrap="square" lIns="36576" rIns="36576" tIns="0" bIns="0" anchor="t">
            <a:spAutoFit/>
          </a:bodyPr>
          <a:lstStyle/>
          <a:p>
            <a:pPr algn="l">
              <a:defRPr sz="1050" b="0">
                <a:solidFill>
                  <a:srgbClr val="566572"/>
                </a:solidFill>
                <a:latin typeface="Noto Sans"/>
              </a:defRPr>
            </a:pPr>
            <a:r>
              <a:t>targets</a:t>
            </a:r>
          </a:p>
        </p:txBody>
      </p:sp>
      <p:sp>
        <p:nvSpPr>
          <p:cNvPr id="19" name="Rounded Rectangle 18"/>
          <p:cNvSpPr/>
          <p:nvPr/>
        </p:nvSpPr>
        <p:spPr>
          <a:xfrm>
            <a:off x="4041648" y="2743200"/>
            <a:ext cx="1444752" cy="1152144"/>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41648"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42816" y="2889504"/>
            <a:ext cx="1097280" cy="429768"/>
          </a:xfrm>
          <a:prstGeom prst="rect">
            <a:avLst/>
          </a:prstGeom>
          <a:noFill/>
        </p:spPr>
        <p:txBody>
          <a:bodyPr wrap="square" lIns="36576" rIns="36576" tIns="0" bIns="0" anchor="t">
            <a:spAutoFit/>
          </a:bodyPr>
          <a:lstStyle/>
          <a:p>
            <a:pPr algn="l">
              <a:defRPr sz="2200" b="1">
                <a:solidFill>
                  <a:srgbClr val="194874"/>
                </a:solidFill>
                <a:latin typeface="Noto Sans"/>
              </a:defRPr>
            </a:pPr>
            <a:r>
              <a:t>40+40</a:t>
            </a:r>
          </a:p>
        </p:txBody>
      </p:sp>
      <p:sp>
        <p:nvSpPr>
          <p:cNvPr id="22" name="TextBox 21"/>
          <p:cNvSpPr txBox="1"/>
          <p:nvPr/>
        </p:nvSpPr>
        <p:spPr>
          <a:xfrm>
            <a:off x="4242816" y="3401568"/>
            <a:ext cx="1097280" cy="402336"/>
          </a:xfrm>
          <a:prstGeom prst="rect">
            <a:avLst/>
          </a:prstGeom>
          <a:noFill/>
        </p:spPr>
        <p:txBody>
          <a:bodyPr wrap="square" lIns="36576" rIns="36576" tIns="0" bIns="0" anchor="t">
            <a:spAutoFit/>
          </a:bodyPr>
          <a:lstStyle/>
          <a:p>
            <a:pPr algn="l">
              <a:defRPr sz="1050" b="0">
                <a:solidFill>
                  <a:srgbClr val="566572"/>
                </a:solidFill>
                <a:latin typeface="Noto Sans"/>
              </a:defRPr>
            </a:pPr>
            <a:r>
              <a:t>runs / subject–target</a:t>
            </a:r>
          </a:p>
        </p:txBody>
      </p:sp>
      <p:sp>
        <p:nvSpPr>
          <p:cNvPr id="23" name="TextBox 22"/>
          <p:cNvSpPr txBox="1"/>
          <p:nvPr/>
        </p:nvSpPr>
        <p:spPr>
          <a:xfrm>
            <a:off x="896112" y="4279392"/>
            <a:ext cx="4709160" cy="274320"/>
          </a:xfrm>
          <a:prstGeom prst="rect">
            <a:avLst/>
          </a:prstGeom>
          <a:noFill/>
        </p:spPr>
        <p:txBody>
          <a:bodyPr wrap="square" lIns="36576" rIns="36576" tIns="0" bIns="0" anchor="t">
            <a:spAutoFit/>
          </a:bodyPr>
          <a:lstStyle/>
          <a:p>
            <a:pPr algn="l">
              <a:defRPr sz="1400" b="1">
                <a:solidFill>
                  <a:srgbClr val="1D2730"/>
                </a:solidFill>
                <a:latin typeface="Noto Sans"/>
              </a:defRPr>
            </a:pPr>
            <a:r>
              <a:t>Left hippocampus + right M1</a:t>
            </a:r>
          </a:p>
        </p:txBody>
      </p:sp>
      <p:sp>
        <p:nvSpPr>
          <p:cNvPr id="24" name="TextBox 23"/>
          <p:cNvSpPr txBox="1"/>
          <p:nvPr/>
        </p:nvSpPr>
        <p:spPr>
          <a:xfrm>
            <a:off x="896112" y="4736592"/>
            <a:ext cx="4709160" cy="274320"/>
          </a:xfrm>
          <a:prstGeom prst="rect">
            <a:avLst/>
          </a:prstGeom>
          <a:noFill/>
        </p:spPr>
        <p:txBody>
          <a:bodyPr wrap="square" lIns="36576" rIns="36576" tIns="0" bIns="0" anchor="t">
            <a:spAutoFit/>
          </a:bodyPr>
          <a:lstStyle/>
          <a:p>
            <a:pPr algn="l">
              <a:defRPr sz="1300" b="0">
                <a:solidFill>
                  <a:srgbClr val="566572"/>
                </a:solidFill>
                <a:latin typeface="Noto Sans"/>
              </a:defRPr>
            </a:pPr>
            <a:r>
              <a:t>5 female / 5 male • ages 26.00–79.17 years</a:t>
            </a:r>
          </a:p>
        </p:txBody>
      </p:sp>
      <p:sp>
        <p:nvSpPr>
          <p:cNvPr id="25" name="TextBox 24"/>
          <p:cNvSpPr txBox="1"/>
          <p:nvPr/>
        </p:nvSpPr>
        <p:spPr>
          <a:xfrm>
            <a:off x="896112" y="5230368"/>
            <a:ext cx="4709160" cy="347472"/>
          </a:xfrm>
          <a:prstGeom prst="rect">
            <a:avLst/>
          </a:prstGeom>
          <a:noFill/>
        </p:spPr>
        <p:txBody>
          <a:bodyPr wrap="square" lIns="36576" rIns="36576" tIns="0" bIns="0" anchor="t">
            <a:spAutoFit/>
          </a:bodyPr>
          <a:lstStyle/>
          <a:p>
            <a:pPr algn="l">
              <a:defRPr sz="2100" b="1">
                <a:solidFill>
                  <a:srgbClr val="194874"/>
                </a:solidFill>
                <a:latin typeface="Noto Sans"/>
              </a:defRPr>
            </a:pPr>
            <a:r>
              <a:t>1,600 simulations</a:t>
            </a:r>
          </a:p>
        </p:txBody>
      </p:sp>
      <p:sp>
        <p:nvSpPr>
          <p:cNvPr id="26" name="Rounded Rectangle 25"/>
          <p:cNvSpPr/>
          <p:nvPr/>
        </p:nvSpPr>
        <p:spPr>
          <a:xfrm>
            <a:off x="6245352" y="1316736"/>
            <a:ext cx="5367528" cy="4526280"/>
          </a:xfrm>
          <a:prstGeom prst="roundRect">
            <a:avLst/>
          </a:prstGeom>
          <a:solidFill>
            <a:srgbClr val="0C1E30"/>
          </a:solidFill>
          <a:ln w="10160">
            <a:solidFill>
              <a:srgbClr val="324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510528" y="1581912"/>
            <a:ext cx="1417320" cy="310896"/>
          </a:xfrm>
          <a:prstGeom prst="roundRect">
            <a:avLst/>
          </a:prstGeom>
          <a:solidFill>
            <a:srgbClr val="243F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1664208"/>
            <a:ext cx="1307592" cy="146304"/>
          </a:xfrm>
          <a:prstGeom prst="rect">
            <a:avLst/>
          </a:prstGeom>
          <a:noFill/>
        </p:spPr>
        <p:txBody>
          <a:bodyPr wrap="square" lIns="36576" rIns="36576" tIns="0" bIns="0" anchor="t">
            <a:spAutoFit/>
          </a:bodyPr>
          <a:lstStyle/>
          <a:p>
            <a:pPr algn="ctr">
              <a:defRPr sz="840" b="1">
                <a:solidFill>
                  <a:srgbClr val="DDA83F"/>
                </a:solidFill>
                <a:latin typeface="Noto Sans"/>
              </a:defRPr>
            </a:pPr>
            <a:r>
              <a:t>FULLY NESTED</a:t>
            </a:r>
          </a:p>
        </p:txBody>
      </p:sp>
      <p:sp>
        <p:nvSpPr>
          <p:cNvPr id="29" name="TextBox 28"/>
          <p:cNvSpPr txBox="1"/>
          <p:nvPr/>
        </p:nvSpPr>
        <p:spPr>
          <a:xfrm>
            <a:off x="6510528" y="2057400"/>
            <a:ext cx="4617720" cy="512064"/>
          </a:xfrm>
          <a:prstGeom prst="rect">
            <a:avLst/>
          </a:prstGeom>
          <a:noFill/>
        </p:spPr>
        <p:txBody>
          <a:bodyPr wrap="square" lIns="36576" rIns="36576" tIns="0" bIns="0" anchor="t">
            <a:spAutoFit/>
          </a:bodyPr>
          <a:lstStyle/>
          <a:p>
            <a:pPr algn="l">
              <a:defRPr sz="2000" b="1">
                <a:solidFill>
                  <a:srgbClr val="FFFFFF"/>
                </a:solidFill>
                <a:latin typeface="Noto Sans"/>
              </a:defRPr>
            </a:pPr>
            <a:r>
              <a:t>Which stage contributes the variance?</a:t>
            </a:r>
          </a:p>
        </p:txBody>
      </p:sp>
      <p:sp>
        <p:nvSpPr>
          <p:cNvPr id="30" name="Rounded Rectangle 29"/>
          <p:cNvSpPr/>
          <p:nvPr/>
        </p:nvSpPr>
        <p:spPr>
          <a:xfrm>
            <a:off x="6537960" y="2743200"/>
            <a:ext cx="1417320" cy="1152144"/>
          </a:xfrm>
          <a:prstGeom prst="roundRect">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37960"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39128" y="2889504"/>
            <a:ext cx="1069848" cy="429768"/>
          </a:xfrm>
          <a:prstGeom prst="rect">
            <a:avLst/>
          </a:prstGeom>
          <a:noFill/>
        </p:spPr>
        <p:txBody>
          <a:bodyPr wrap="square" lIns="36576" rIns="36576" tIns="0" bIns="0" anchor="t">
            <a:spAutoFit/>
          </a:bodyPr>
          <a:lstStyle/>
          <a:p>
            <a:pPr algn="l">
              <a:defRPr sz="2500" b="1">
                <a:solidFill>
                  <a:srgbClr val="DDA83F"/>
                </a:solidFill>
                <a:latin typeface="Noto Sans"/>
              </a:defRPr>
            </a:pPr>
            <a:r>
              <a:t>1</a:t>
            </a:r>
          </a:p>
        </p:txBody>
      </p:sp>
      <p:sp>
        <p:nvSpPr>
          <p:cNvPr id="33" name="TextBox 32"/>
          <p:cNvSpPr txBox="1"/>
          <p:nvPr/>
        </p:nvSpPr>
        <p:spPr>
          <a:xfrm>
            <a:off x="6739128" y="3401568"/>
            <a:ext cx="1069848" cy="402336"/>
          </a:xfrm>
          <a:prstGeom prst="rect">
            <a:avLst/>
          </a:prstGeom>
          <a:noFill/>
        </p:spPr>
        <p:txBody>
          <a:bodyPr wrap="square" lIns="36576" rIns="36576" tIns="0" bIns="0" anchor="t">
            <a:spAutoFit/>
          </a:bodyPr>
          <a:lstStyle/>
          <a:p>
            <a:pPr algn="l">
              <a:defRPr sz="1050" b="0">
                <a:solidFill>
                  <a:srgbClr val="566572"/>
                </a:solidFill>
                <a:latin typeface="Noto Sans"/>
              </a:defRPr>
            </a:pPr>
            <a:r>
              <a:t>participant</a:t>
            </a:r>
          </a:p>
        </p:txBody>
      </p:sp>
      <p:sp>
        <p:nvSpPr>
          <p:cNvPr id="34" name="Rounded Rectangle 33"/>
          <p:cNvSpPr/>
          <p:nvPr/>
        </p:nvSpPr>
        <p:spPr>
          <a:xfrm>
            <a:off x="8110727" y="2743200"/>
            <a:ext cx="1417320" cy="1152144"/>
          </a:xfrm>
          <a:prstGeom prst="roundRect">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10727"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11896" y="2889504"/>
            <a:ext cx="1069848" cy="429768"/>
          </a:xfrm>
          <a:prstGeom prst="rect">
            <a:avLst/>
          </a:prstGeom>
          <a:noFill/>
        </p:spPr>
        <p:txBody>
          <a:bodyPr wrap="square" lIns="36576" rIns="36576" tIns="0" bIns="0" anchor="t">
            <a:spAutoFit/>
          </a:bodyPr>
          <a:lstStyle/>
          <a:p>
            <a:pPr algn="l">
              <a:defRPr sz="2500" b="1">
                <a:solidFill>
                  <a:srgbClr val="DDA83F"/>
                </a:solidFill>
                <a:latin typeface="Noto Sans"/>
              </a:defRPr>
            </a:pPr>
            <a:r>
              <a:t>40</a:t>
            </a:r>
          </a:p>
        </p:txBody>
      </p:sp>
      <p:sp>
        <p:nvSpPr>
          <p:cNvPr id="37" name="TextBox 36"/>
          <p:cNvSpPr txBox="1"/>
          <p:nvPr/>
        </p:nvSpPr>
        <p:spPr>
          <a:xfrm>
            <a:off x="8311896" y="3401568"/>
            <a:ext cx="1069848" cy="402336"/>
          </a:xfrm>
          <a:prstGeom prst="rect">
            <a:avLst/>
          </a:prstGeom>
          <a:noFill/>
        </p:spPr>
        <p:txBody>
          <a:bodyPr wrap="square" lIns="36576" rIns="36576" tIns="0" bIns="0" anchor="t">
            <a:spAutoFit/>
          </a:bodyPr>
          <a:lstStyle/>
          <a:p>
            <a:pPr algn="l">
              <a:defRPr sz="1050" b="0">
                <a:solidFill>
                  <a:srgbClr val="566572"/>
                </a:solidFill>
                <a:latin typeface="Noto Sans"/>
              </a:defRPr>
            </a:pPr>
            <a:r>
              <a:t>independent meshes</a:t>
            </a:r>
          </a:p>
        </p:txBody>
      </p:sp>
      <p:sp>
        <p:nvSpPr>
          <p:cNvPr id="38" name="Rounded Rectangle 37"/>
          <p:cNvSpPr/>
          <p:nvPr/>
        </p:nvSpPr>
        <p:spPr>
          <a:xfrm>
            <a:off x="9683496" y="2743200"/>
            <a:ext cx="1417320" cy="1152144"/>
          </a:xfrm>
          <a:prstGeom prst="roundRect">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83496"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84664" y="2889504"/>
            <a:ext cx="1069848" cy="429768"/>
          </a:xfrm>
          <a:prstGeom prst="rect">
            <a:avLst/>
          </a:prstGeom>
          <a:noFill/>
        </p:spPr>
        <p:txBody>
          <a:bodyPr wrap="square" lIns="36576" rIns="36576" tIns="0" bIns="0" anchor="t">
            <a:spAutoFit/>
          </a:bodyPr>
          <a:lstStyle/>
          <a:p>
            <a:pPr algn="l">
              <a:defRPr sz="2500" b="1">
                <a:solidFill>
                  <a:srgbClr val="DDA83F"/>
                </a:solidFill>
                <a:latin typeface="Noto Sans"/>
              </a:defRPr>
            </a:pPr>
            <a:r>
              <a:t>40</a:t>
            </a:r>
          </a:p>
        </p:txBody>
      </p:sp>
      <p:sp>
        <p:nvSpPr>
          <p:cNvPr id="41" name="TextBox 40"/>
          <p:cNvSpPr txBox="1"/>
          <p:nvPr/>
        </p:nvSpPr>
        <p:spPr>
          <a:xfrm>
            <a:off x="9884664" y="3401568"/>
            <a:ext cx="1069848" cy="402336"/>
          </a:xfrm>
          <a:prstGeom prst="rect">
            <a:avLst/>
          </a:prstGeom>
          <a:noFill/>
        </p:spPr>
        <p:txBody>
          <a:bodyPr wrap="square" lIns="36576" rIns="36576" tIns="0" bIns="0" anchor="t">
            <a:spAutoFit/>
          </a:bodyPr>
          <a:lstStyle/>
          <a:p>
            <a:pPr algn="l">
              <a:defRPr sz="1050" b="0">
                <a:solidFill>
                  <a:srgbClr val="566572"/>
                </a:solidFill>
                <a:latin typeface="Noto Sans"/>
              </a:defRPr>
            </a:pPr>
            <a:r>
              <a:t>solves / mesh</a:t>
            </a:r>
          </a:p>
        </p:txBody>
      </p:sp>
      <p:sp>
        <p:nvSpPr>
          <p:cNvPr id="42" name="TextBox 41"/>
          <p:cNvSpPr txBox="1"/>
          <p:nvPr/>
        </p:nvSpPr>
        <p:spPr>
          <a:xfrm>
            <a:off x="6547104" y="4279392"/>
            <a:ext cx="4526280" cy="274320"/>
          </a:xfrm>
          <a:prstGeom prst="rect">
            <a:avLst/>
          </a:prstGeom>
          <a:noFill/>
        </p:spPr>
        <p:txBody>
          <a:bodyPr wrap="square" lIns="36576" rIns="36576" tIns="0" bIns="0" anchor="t">
            <a:spAutoFit/>
          </a:bodyPr>
          <a:lstStyle/>
          <a:p>
            <a:pPr algn="l">
              <a:defRPr sz="1400" b="1">
                <a:solidFill>
                  <a:srgbClr val="FFFFFF"/>
                </a:solidFill>
                <a:latin typeface="Noto Sans"/>
              </a:defRPr>
            </a:pPr>
            <a:r>
              <a:t>CC320616 • left hippocampus</a:t>
            </a:r>
          </a:p>
        </p:txBody>
      </p:sp>
      <p:sp>
        <p:nvSpPr>
          <p:cNvPr id="43" name="TextBox 42"/>
          <p:cNvSpPr txBox="1"/>
          <p:nvPr/>
        </p:nvSpPr>
        <p:spPr>
          <a:xfrm>
            <a:off x="6547104" y="4736592"/>
            <a:ext cx="4526280" cy="274320"/>
          </a:xfrm>
          <a:prstGeom prst="rect">
            <a:avLst/>
          </a:prstGeom>
          <a:noFill/>
        </p:spPr>
        <p:txBody>
          <a:bodyPr wrap="square" lIns="36576" rIns="36576" tIns="0" bIns="0" anchor="t">
            <a:spAutoFit/>
          </a:bodyPr>
          <a:lstStyle/>
          <a:p>
            <a:pPr algn="l">
              <a:defRPr sz="1300" b="0">
                <a:solidFill>
                  <a:srgbClr val="B6CAD8"/>
                </a:solidFill>
                <a:latin typeface="Noto Sans"/>
              </a:defRPr>
            </a:pPr>
            <a:r>
              <a:t>Participant selected once with a fixed seed</a:t>
            </a:r>
          </a:p>
        </p:txBody>
      </p:sp>
      <p:sp>
        <p:nvSpPr>
          <p:cNvPr id="44" name="TextBox 43"/>
          <p:cNvSpPr txBox="1"/>
          <p:nvPr/>
        </p:nvSpPr>
        <p:spPr>
          <a:xfrm>
            <a:off x="6547104" y="5230368"/>
            <a:ext cx="4526280" cy="347472"/>
          </a:xfrm>
          <a:prstGeom prst="rect">
            <a:avLst/>
          </a:prstGeom>
          <a:noFill/>
        </p:spPr>
        <p:txBody>
          <a:bodyPr wrap="square" lIns="36576" rIns="36576" tIns="0" bIns="0" anchor="t">
            <a:spAutoFit/>
          </a:bodyPr>
          <a:lstStyle/>
          <a:p>
            <a:pPr algn="l">
              <a:defRPr sz="2100" b="1">
                <a:solidFill>
                  <a:srgbClr val="DDA83F"/>
                </a:solidFill>
                <a:latin typeface="Noto Sans"/>
              </a:defRPr>
            </a:pPr>
            <a:r>
              <a:t>1,600 simulations</a:t>
            </a:r>
          </a:p>
        </p:txBody>
      </p:sp>
      <p:sp>
        <p:nvSpPr>
          <p:cNvPr id="45" name="TextBox 44"/>
          <p:cNvSpPr txBox="1"/>
          <p:nvPr/>
        </p:nvSpPr>
        <p:spPr>
          <a:xfrm>
            <a:off x="731520" y="6117336"/>
            <a:ext cx="10716768" cy="274320"/>
          </a:xfrm>
          <a:prstGeom prst="rect">
            <a:avLst/>
          </a:prstGeom>
          <a:noFill/>
        </p:spPr>
        <p:txBody>
          <a:bodyPr wrap="square" lIns="36576" rIns="36576" tIns="0" bIns="0" anchor="t">
            <a:spAutoFit/>
          </a:bodyPr>
          <a:lstStyle/>
          <a:p>
            <a:pPr algn="ctr">
              <a:defRPr sz="1500" b="1">
                <a:solidFill>
                  <a:srgbClr val="0C1E30"/>
                </a:solidFill>
                <a:latin typeface="Noto Sans"/>
              </a:defRPr>
            </a:pPr>
            <a:r>
              <a:t>3,200 completed simulation records in the presentation evidence base</a:t>
            </a:r>
          </a:p>
        </p:txBody>
      </p:sp>
      <p:sp>
        <p:nvSpPr>
          <p:cNvPr id="46" name="TextBox 45"/>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CamCAN cohort; corrected spherical-fixed + nested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METHODS THAT AFFECT INTERPRETATION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contrast changes one thing: the mesh realization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05</a:t>
            </a:r>
          </a:p>
        </p:txBody>
      </p:sp>
      <p:sp>
        <p:nvSpPr>
          <p:cNvPr id="7" name="Rounded Rectangle 6"/>
          <p:cNvSpPr/>
          <p:nvPr/>
        </p:nvSpPr>
        <p:spPr>
          <a:xfrm>
            <a:off x="566928" y="1353312"/>
            <a:ext cx="3337560" cy="3108960"/>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45920"/>
            <a:ext cx="1234440" cy="256032"/>
          </a:xfrm>
          <a:prstGeom prst="rect">
            <a:avLst/>
          </a:prstGeom>
          <a:noFill/>
        </p:spPr>
        <p:txBody>
          <a:bodyPr wrap="square" lIns="36576" rIns="36576" tIns="0" bIns="0" anchor="t">
            <a:spAutoFit/>
          </a:bodyPr>
          <a:lstStyle/>
          <a:p>
            <a:pPr algn="l">
              <a:defRPr sz="1100" b="1">
                <a:solidFill>
                  <a:srgbClr val="256FA6"/>
                </a:solidFill>
                <a:latin typeface="Noto Sans"/>
              </a:defRPr>
            </a:pPr>
            <a:r>
              <a:t>REMESH</a:t>
            </a:r>
          </a:p>
        </p:txBody>
      </p:sp>
      <p:sp>
        <p:nvSpPr>
          <p:cNvPr id="9" name="TextBox 8"/>
          <p:cNvSpPr txBox="1"/>
          <p:nvPr/>
        </p:nvSpPr>
        <p:spPr>
          <a:xfrm>
            <a:off x="859536" y="2084831"/>
            <a:ext cx="2670048" cy="987552"/>
          </a:xfrm>
          <a:prstGeom prst="rect">
            <a:avLst/>
          </a:prstGeom>
          <a:noFill/>
        </p:spPr>
        <p:txBody>
          <a:bodyPr wrap="square" lIns="36576" rIns="36576" tIns="0" bIns="0" anchor="t">
            <a:spAutoFit/>
          </a:bodyPr>
          <a:lstStyle/>
          <a:p>
            <a:pPr algn="l">
              <a:defRPr sz="2200" b="1">
                <a:solidFill>
                  <a:srgbClr val="0C1E30"/>
                </a:solidFill>
                <a:latin typeface="Noto Sans"/>
              </a:defRPr>
            </a:pPr>
            <a:r>
              <a:t>Fresh mesh generated</a:t>
            </a:r>
            <a:br/>
            <a:r>
              <a:t>for every repeat</a:t>
            </a:r>
          </a:p>
        </p:txBody>
      </p:sp>
      <p:sp>
        <p:nvSpPr>
          <p:cNvPr id="10" name="TextBox 9"/>
          <p:cNvSpPr txBox="1"/>
          <p:nvPr/>
        </p:nvSpPr>
        <p:spPr>
          <a:xfrm>
            <a:off x="859536" y="3319272"/>
            <a:ext cx="2286000" cy="219456"/>
          </a:xfrm>
          <a:prstGeom prst="rect">
            <a:avLst/>
          </a:prstGeom>
          <a:noFill/>
        </p:spPr>
        <p:txBody>
          <a:bodyPr wrap="square" lIns="36576" rIns="36576" tIns="0" bIns="0" anchor="t">
            <a:spAutoFit/>
          </a:bodyPr>
          <a:lstStyle/>
          <a:p>
            <a:pPr algn="l">
              <a:defRPr sz="950" b="1">
                <a:solidFill>
                  <a:srgbClr val="566572"/>
                </a:solidFill>
                <a:latin typeface="Noto Sans"/>
              </a:defRPr>
            </a:pPr>
            <a:r>
              <a:t>Variation represented</a:t>
            </a:r>
          </a:p>
        </p:txBody>
      </p:sp>
      <p:sp>
        <p:nvSpPr>
          <p:cNvPr id="11" name="TextBox 10"/>
          <p:cNvSpPr txBox="1"/>
          <p:nvPr/>
        </p:nvSpPr>
        <p:spPr>
          <a:xfrm>
            <a:off x="859536" y="3639312"/>
            <a:ext cx="2697480" cy="566928"/>
          </a:xfrm>
          <a:prstGeom prst="rect">
            <a:avLst/>
          </a:prstGeom>
          <a:noFill/>
        </p:spPr>
        <p:txBody>
          <a:bodyPr wrap="square" lIns="36576" rIns="36576" tIns="0" bIns="0" anchor="t">
            <a:spAutoFit/>
          </a:bodyPr>
          <a:lstStyle/>
          <a:p>
            <a:pPr algn="l">
              <a:defRPr sz="1350" b="0">
                <a:solidFill>
                  <a:srgbClr val="1D2730"/>
                </a:solidFill>
                <a:latin typeface="Noto Sans"/>
              </a:defRPr>
            </a:pPr>
            <a:r>
              <a:t>mesh generation + FEM solution + export / ROI extraction</a:t>
            </a:r>
          </a:p>
        </p:txBody>
      </p:sp>
      <p:sp>
        <p:nvSpPr>
          <p:cNvPr id="12" name="Rounded Rectangle 11"/>
          <p:cNvSpPr/>
          <p:nvPr/>
        </p:nvSpPr>
        <p:spPr>
          <a:xfrm>
            <a:off x="4105656" y="1353312"/>
            <a:ext cx="3337560" cy="3108960"/>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8264" y="1645920"/>
            <a:ext cx="1325880" cy="256032"/>
          </a:xfrm>
          <a:prstGeom prst="rect">
            <a:avLst/>
          </a:prstGeom>
          <a:noFill/>
        </p:spPr>
        <p:txBody>
          <a:bodyPr wrap="square" lIns="36576" rIns="36576" tIns="0" bIns="0" anchor="t">
            <a:spAutoFit/>
          </a:bodyPr>
          <a:lstStyle/>
          <a:p>
            <a:pPr algn="l">
              <a:defRPr sz="1100" b="1">
                <a:solidFill>
                  <a:srgbClr val="C25B23"/>
                </a:solidFill>
                <a:latin typeface="Noto Sans"/>
              </a:defRPr>
            </a:pPr>
            <a:r>
              <a:t>FIXED MESH</a:t>
            </a:r>
          </a:p>
        </p:txBody>
      </p:sp>
      <p:sp>
        <p:nvSpPr>
          <p:cNvPr id="14" name="TextBox 13"/>
          <p:cNvSpPr txBox="1"/>
          <p:nvPr/>
        </p:nvSpPr>
        <p:spPr>
          <a:xfrm>
            <a:off x="4398264" y="2084831"/>
            <a:ext cx="2697480" cy="987552"/>
          </a:xfrm>
          <a:prstGeom prst="rect">
            <a:avLst/>
          </a:prstGeom>
          <a:noFill/>
        </p:spPr>
        <p:txBody>
          <a:bodyPr wrap="square" lIns="36576" rIns="36576" tIns="0" bIns="0" anchor="t">
            <a:spAutoFit/>
          </a:bodyPr>
          <a:lstStyle/>
          <a:p>
            <a:pPr algn="l">
              <a:defRPr sz="2200" b="1">
                <a:solidFill>
                  <a:srgbClr val="0C1E30"/>
                </a:solidFill>
                <a:latin typeface="Noto Sans"/>
              </a:defRPr>
            </a:pPr>
            <a:r>
              <a:t>One mesh reused</a:t>
            </a:r>
            <a:br/>
            <a:r>
              <a:t>for every repeat</a:t>
            </a:r>
          </a:p>
        </p:txBody>
      </p:sp>
      <p:sp>
        <p:nvSpPr>
          <p:cNvPr id="15" name="TextBox 14"/>
          <p:cNvSpPr txBox="1"/>
          <p:nvPr/>
        </p:nvSpPr>
        <p:spPr>
          <a:xfrm>
            <a:off x="4398264" y="3319272"/>
            <a:ext cx="2286000" cy="219456"/>
          </a:xfrm>
          <a:prstGeom prst="rect">
            <a:avLst/>
          </a:prstGeom>
          <a:noFill/>
        </p:spPr>
        <p:txBody>
          <a:bodyPr wrap="square" lIns="36576" rIns="36576" tIns="0" bIns="0" anchor="t">
            <a:spAutoFit/>
          </a:bodyPr>
          <a:lstStyle/>
          <a:p>
            <a:pPr algn="l">
              <a:defRPr sz="950" b="1">
                <a:solidFill>
                  <a:srgbClr val="566572"/>
                </a:solidFill>
                <a:latin typeface="Noto Sans"/>
              </a:defRPr>
            </a:pPr>
            <a:r>
              <a:t>Variation represented</a:t>
            </a:r>
          </a:p>
        </p:txBody>
      </p:sp>
      <p:sp>
        <p:nvSpPr>
          <p:cNvPr id="16" name="TextBox 15"/>
          <p:cNvSpPr txBox="1"/>
          <p:nvPr/>
        </p:nvSpPr>
        <p:spPr>
          <a:xfrm>
            <a:off x="4398264" y="3639312"/>
            <a:ext cx="2697480" cy="566928"/>
          </a:xfrm>
          <a:prstGeom prst="rect">
            <a:avLst/>
          </a:prstGeom>
          <a:noFill/>
        </p:spPr>
        <p:txBody>
          <a:bodyPr wrap="square" lIns="36576" rIns="36576" tIns="0" bIns="0" anchor="t">
            <a:spAutoFit/>
          </a:bodyPr>
          <a:lstStyle/>
          <a:p>
            <a:pPr algn="l">
              <a:defRPr sz="1350" b="0">
                <a:solidFill>
                  <a:srgbClr val="1D2730"/>
                </a:solidFill>
                <a:latin typeface="Noto Sans"/>
              </a:defRPr>
            </a:pPr>
            <a:r>
              <a:t>residual FEM solution + export / ROI extraction conditional on one mesh</a:t>
            </a:r>
          </a:p>
        </p:txBody>
      </p:sp>
      <p:sp>
        <p:nvSpPr>
          <p:cNvPr id="17" name="Rounded Rectangle 16"/>
          <p:cNvSpPr/>
          <p:nvPr/>
        </p:nvSpPr>
        <p:spPr>
          <a:xfrm>
            <a:off x="7644383" y="1353312"/>
            <a:ext cx="3968496" cy="310896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6992" y="1645920"/>
            <a:ext cx="1691640" cy="256032"/>
          </a:xfrm>
          <a:prstGeom prst="rect">
            <a:avLst/>
          </a:prstGeom>
          <a:noFill/>
        </p:spPr>
        <p:txBody>
          <a:bodyPr wrap="square" lIns="36576" rIns="36576" tIns="0" bIns="0" anchor="t">
            <a:spAutoFit/>
          </a:bodyPr>
          <a:lstStyle/>
          <a:p>
            <a:pPr algn="l">
              <a:defRPr sz="1100" b="1">
                <a:solidFill>
                  <a:srgbClr val="1B8B7E"/>
                </a:solidFill>
                <a:latin typeface="Noto Sans"/>
              </a:defRPr>
            </a:pPr>
            <a:r>
              <a:t>PRIMARY OUTCOME</a:t>
            </a:r>
          </a:p>
        </p:txBody>
      </p:sp>
      <p:sp>
        <p:nvSpPr>
          <p:cNvPr id="19" name="TextBox 18"/>
          <p:cNvSpPr txBox="1"/>
          <p:nvPr/>
        </p:nvSpPr>
        <p:spPr>
          <a:xfrm>
            <a:off x="7936992" y="2130552"/>
            <a:ext cx="3273552" cy="713232"/>
          </a:xfrm>
          <a:prstGeom prst="rect">
            <a:avLst/>
          </a:prstGeom>
          <a:noFill/>
        </p:spPr>
        <p:txBody>
          <a:bodyPr wrap="square" lIns="36576" rIns="36576" tIns="0" bIns="0" anchor="t">
            <a:spAutoFit/>
          </a:bodyPr>
          <a:lstStyle/>
          <a:p>
            <a:pPr algn="l">
              <a:defRPr sz="2300" b="1">
                <a:solidFill>
                  <a:srgbClr val="0C1E30"/>
                </a:solidFill>
                <a:latin typeface="Noto Sans"/>
              </a:defRPr>
            </a:pPr>
            <a:r>
              <a:t>Median maximum-TI envelope</a:t>
            </a:r>
          </a:p>
        </p:txBody>
      </p:sp>
      <p:sp>
        <p:nvSpPr>
          <p:cNvPr id="20" name="TextBox 19"/>
          <p:cNvSpPr txBox="1"/>
          <p:nvPr/>
        </p:nvSpPr>
        <p:spPr>
          <a:xfrm>
            <a:off x="7936992" y="2962656"/>
            <a:ext cx="3246120" cy="621792"/>
          </a:xfrm>
          <a:prstGeom prst="rect">
            <a:avLst/>
          </a:prstGeom>
          <a:noFill/>
        </p:spPr>
        <p:txBody>
          <a:bodyPr wrap="square" lIns="36576" rIns="36576" tIns="0" bIns="0" anchor="t">
            <a:spAutoFit/>
          </a:bodyPr>
          <a:lstStyle/>
          <a:p>
            <a:pPr algn="l">
              <a:defRPr sz="1500" b="0">
                <a:solidFill>
                  <a:srgbClr val="1D2730"/>
                </a:solidFill>
                <a:latin typeface="Noto Sans"/>
              </a:defRPr>
            </a:pPr>
            <a:r>
              <a:t>within the optimizer-matched, parcel-clipped spherical ROI</a:t>
            </a:r>
          </a:p>
        </p:txBody>
      </p:sp>
      <p:sp>
        <p:nvSpPr>
          <p:cNvPr id="21" name="Rounded Rectangle 20"/>
          <p:cNvSpPr/>
          <p:nvPr/>
        </p:nvSpPr>
        <p:spPr>
          <a:xfrm>
            <a:off x="7955279" y="3895344"/>
            <a:ext cx="1481328" cy="310896"/>
          </a:xfrm>
          <a:prstGeom prst="roundRect">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0144" y="3977639"/>
            <a:ext cx="1371600" cy="146304"/>
          </a:xfrm>
          <a:prstGeom prst="rect">
            <a:avLst/>
          </a:prstGeom>
          <a:noFill/>
        </p:spPr>
        <p:txBody>
          <a:bodyPr wrap="square" lIns="36576" rIns="36576" tIns="0" bIns="0" anchor="t">
            <a:spAutoFit/>
          </a:bodyPr>
          <a:lstStyle/>
          <a:p>
            <a:pPr algn="ctr">
              <a:defRPr sz="840" b="1">
                <a:solidFill>
                  <a:srgbClr val="1B8B7E"/>
                </a:solidFill>
                <a:latin typeface="Noto Sans"/>
              </a:defRPr>
            </a:pPr>
            <a:r>
              <a:t>200 mm³ hippocampus</a:t>
            </a:r>
          </a:p>
        </p:txBody>
      </p:sp>
      <p:sp>
        <p:nvSpPr>
          <p:cNvPr id="23" name="Rounded Rectangle 22"/>
          <p:cNvSpPr/>
          <p:nvPr/>
        </p:nvSpPr>
        <p:spPr>
          <a:xfrm>
            <a:off x="9573768" y="3895344"/>
            <a:ext cx="1225296" cy="310896"/>
          </a:xfrm>
          <a:prstGeom prst="roundRect">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8632" y="3977639"/>
            <a:ext cx="1115568" cy="146304"/>
          </a:xfrm>
          <a:prstGeom prst="rect">
            <a:avLst/>
          </a:prstGeom>
          <a:noFill/>
        </p:spPr>
        <p:txBody>
          <a:bodyPr wrap="square" lIns="36576" rIns="36576" tIns="0" bIns="0" anchor="t">
            <a:spAutoFit/>
          </a:bodyPr>
          <a:lstStyle/>
          <a:p>
            <a:pPr algn="ctr">
              <a:defRPr sz="840" b="1">
                <a:solidFill>
                  <a:srgbClr val="1B8B7E"/>
                </a:solidFill>
                <a:latin typeface="Noto Sans"/>
              </a:defRPr>
            </a:pPr>
            <a:r>
              <a:t>100 mm³ M1</a:t>
            </a:r>
          </a:p>
        </p:txBody>
      </p:sp>
      <p:sp>
        <p:nvSpPr>
          <p:cNvPr id="25" name="Rounded Rectangle 24"/>
          <p:cNvSpPr/>
          <p:nvPr/>
        </p:nvSpPr>
        <p:spPr>
          <a:xfrm>
            <a:off x="566928" y="4754880"/>
            <a:ext cx="11045952" cy="1225296"/>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5074920"/>
            <a:ext cx="822960" cy="219456"/>
          </a:xfrm>
          <a:prstGeom prst="rect">
            <a:avLst/>
          </a:prstGeom>
          <a:noFill/>
        </p:spPr>
        <p:txBody>
          <a:bodyPr wrap="square" lIns="36576" rIns="36576" tIns="0" bIns="0" anchor="t">
            <a:spAutoFit/>
          </a:bodyPr>
          <a:lstStyle/>
          <a:p>
            <a:pPr algn="l">
              <a:defRPr sz="1000" b="1">
                <a:solidFill>
                  <a:srgbClr val="194874"/>
                </a:solidFill>
                <a:latin typeface="Noto Sans"/>
              </a:defRPr>
            </a:pPr>
            <a:r>
              <a:t>Analysis</a:t>
            </a:r>
          </a:p>
        </p:txBody>
      </p:sp>
      <p:sp>
        <p:nvSpPr>
          <p:cNvPr id="27" name="TextBox 26"/>
          <p:cNvSpPr txBox="1"/>
          <p:nvPr/>
        </p:nvSpPr>
        <p:spPr>
          <a:xfrm>
            <a:off x="1664208" y="5047488"/>
            <a:ext cx="1993392" cy="292608"/>
          </a:xfrm>
          <a:prstGeom prst="rect">
            <a:avLst/>
          </a:prstGeom>
          <a:noFill/>
        </p:spPr>
        <p:txBody>
          <a:bodyPr wrap="square" lIns="36576" rIns="36576" tIns="0" bIns="0" anchor="t">
            <a:spAutoFit/>
          </a:bodyPr>
          <a:lstStyle/>
          <a:p>
            <a:pPr algn="l">
              <a:defRPr sz="1400" b="1">
                <a:solidFill>
                  <a:srgbClr val="1D2730"/>
                </a:solidFill>
                <a:latin typeface="Noto Sans"/>
              </a:defRPr>
            </a:pPr>
            <a:r>
              <a:t>Per-participant SD/CV</a:t>
            </a:r>
          </a:p>
        </p:txBody>
      </p:sp>
      <p:sp>
        <p:nvSpPr>
          <p:cNvPr id="28" name="TextBox 27"/>
          <p:cNvSpPr txBox="1"/>
          <p:nvPr/>
        </p:nvSpPr>
        <p:spPr>
          <a:xfrm>
            <a:off x="3685032" y="5010912"/>
            <a:ext cx="274320" cy="274320"/>
          </a:xfrm>
          <a:prstGeom prst="rect">
            <a:avLst/>
          </a:prstGeom>
          <a:noFill/>
        </p:spPr>
        <p:txBody>
          <a:bodyPr wrap="square" lIns="36576" rIns="36576" tIns="0" bIns="0" anchor="t">
            <a:spAutoFit/>
          </a:bodyPr>
          <a:lstStyle/>
          <a:p>
            <a:pPr algn="ctr">
              <a:defRPr sz="1700" b="0">
                <a:solidFill>
                  <a:srgbClr val="CFD8E0"/>
                </a:solidFill>
                <a:latin typeface="Noto Sans"/>
              </a:defRPr>
            </a:pPr>
            <a:r>
              <a:t>•</a:t>
            </a:r>
          </a:p>
        </p:txBody>
      </p:sp>
      <p:sp>
        <p:nvSpPr>
          <p:cNvPr id="29" name="TextBox 28"/>
          <p:cNvSpPr txBox="1"/>
          <p:nvPr/>
        </p:nvSpPr>
        <p:spPr>
          <a:xfrm>
            <a:off x="3986784" y="5047488"/>
            <a:ext cx="2670048" cy="292608"/>
          </a:xfrm>
          <a:prstGeom prst="rect">
            <a:avLst/>
          </a:prstGeom>
          <a:noFill/>
        </p:spPr>
        <p:txBody>
          <a:bodyPr wrap="square" lIns="36576" rIns="36576" tIns="0" bIns="0" anchor="t">
            <a:spAutoFit/>
          </a:bodyPr>
          <a:lstStyle/>
          <a:p>
            <a:pPr algn="l">
              <a:defRPr sz="1400" b="1">
                <a:solidFill>
                  <a:srgbClr val="1D2730"/>
                </a:solidFill>
                <a:latin typeface="Noto Sans"/>
              </a:defRPr>
            </a:pPr>
            <a:r>
              <a:t>20,000 single-repeat rank draws</a:t>
            </a:r>
          </a:p>
        </p:txBody>
      </p:sp>
      <p:sp>
        <p:nvSpPr>
          <p:cNvPr id="30" name="TextBox 29"/>
          <p:cNvSpPr txBox="1"/>
          <p:nvPr/>
        </p:nvSpPr>
        <p:spPr>
          <a:xfrm>
            <a:off x="6684264" y="5010912"/>
            <a:ext cx="274320" cy="274320"/>
          </a:xfrm>
          <a:prstGeom prst="rect">
            <a:avLst/>
          </a:prstGeom>
          <a:noFill/>
        </p:spPr>
        <p:txBody>
          <a:bodyPr wrap="square" lIns="36576" rIns="36576" tIns="0" bIns="0" anchor="t">
            <a:spAutoFit/>
          </a:bodyPr>
          <a:lstStyle/>
          <a:p>
            <a:pPr algn="ctr">
              <a:defRPr sz="1700" b="0">
                <a:solidFill>
                  <a:srgbClr val="CFD8E0"/>
                </a:solidFill>
                <a:latin typeface="Noto Sans"/>
              </a:defRPr>
            </a:pPr>
            <a:r>
              <a:t>•</a:t>
            </a:r>
          </a:p>
        </p:txBody>
      </p:sp>
      <p:sp>
        <p:nvSpPr>
          <p:cNvPr id="31" name="TextBox 30"/>
          <p:cNvSpPr txBox="1"/>
          <p:nvPr/>
        </p:nvSpPr>
        <p:spPr>
          <a:xfrm>
            <a:off x="6986016" y="5047488"/>
            <a:ext cx="4206240" cy="292608"/>
          </a:xfrm>
          <a:prstGeom prst="rect">
            <a:avLst/>
          </a:prstGeom>
          <a:noFill/>
        </p:spPr>
        <p:txBody>
          <a:bodyPr wrap="square" lIns="36576" rIns="36576" tIns="0" bIns="0" anchor="t">
            <a:spAutoFit/>
          </a:bodyPr>
          <a:lstStyle/>
          <a:p>
            <a:pPr algn="l">
              <a:defRPr sz="1400" b="1">
                <a:solidFill>
                  <a:srgbClr val="1D2730"/>
                </a:solidFill>
                <a:latin typeface="Noto Sans"/>
              </a:defRPr>
            </a:pPr>
            <a:r>
              <a:t>balanced one-way random-effects decomposition</a:t>
            </a:r>
          </a:p>
        </p:txBody>
      </p:sp>
      <p:sp>
        <p:nvSpPr>
          <p:cNvPr id="32" name="TextBox 31"/>
          <p:cNvSpPr txBox="1"/>
          <p:nvPr/>
        </p:nvSpPr>
        <p:spPr>
          <a:xfrm>
            <a:off x="877824" y="5513832"/>
            <a:ext cx="10058400" cy="256032"/>
          </a:xfrm>
          <a:prstGeom prst="rect">
            <a:avLst/>
          </a:prstGeom>
          <a:noFill/>
        </p:spPr>
        <p:txBody>
          <a:bodyPr wrap="square" lIns="36576" rIns="36576" tIns="0" bIns="0" anchor="t">
            <a:spAutoFit/>
          </a:bodyPr>
          <a:lstStyle/>
          <a:p>
            <a:pPr algn="l">
              <a:defRPr sz="1250" b="1">
                <a:solidFill>
                  <a:srgbClr val="B13A3A"/>
                </a:solidFill>
                <a:latin typeface="Noto Sans"/>
              </a:defRPr>
            </a:pPr>
            <a:r>
              <a:t>Participant is the population unit; repeats quantify computational variation.</a:t>
            </a:r>
          </a:p>
        </p:txBody>
      </p:sp>
      <p:sp>
        <p:nvSpPr>
          <p:cNvPr id="33" name="TextBox 32"/>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Corrected selector aligned with the spherical analysis ROI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1 • LEFT HIPPOCAMPUS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Hippocampal fields vary by 1.81–3.65% under remeshing</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06</a:t>
            </a:r>
          </a:p>
        </p:txBody>
      </p:sp>
      <p:sp>
        <p:nvSpPr>
          <p:cNvPr id="7" name="Rounded Rectangle 6"/>
          <p:cNvSpPr/>
          <p:nvPr/>
        </p:nvSpPr>
        <p:spPr>
          <a:xfrm>
            <a:off x="457200" y="1188720"/>
            <a:ext cx="8979408" cy="507492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primary_median_roi_repeat_distributions.png"/>
          <p:cNvPicPr>
            <a:picLocks noChangeAspect="1"/>
          </p:cNvPicPr>
          <p:nvPr/>
        </p:nvPicPr>
        <p:blipFill>
          <a:blip r:embed="rId2"/>
          <a:stretch>
            <a:fillRect/>
          </a:stretch>
        </p:blipFill>
        <p:spPr>
          <a:xfrm>
            <a:off x="566928" y="1618018"/>
            <a:ext cx="8759952" cy="4188890"/>
          </a:xfrm>
          <a:prstGeom prst="rect">
            <a:avLst/>
          </a:prstGeom>
        </p:spPr>
      </p:pic>
      <p:sp>
        <p:nvSpPr>
          <p:cNvPr id="9" name="Rounded Rectangle 8"/>
          <p:cNvSpPr/>
          <p:nvPr/>
        </p:nvSpPr>
        <p:spPr>
          <a:xfrm>
            <a:off x="9637776" y="1371600"/>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37776" y="1371600"/>
            <a:ext cx="64008" cy="129844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38944" y="1517904"/>
            <a:ext cx="1655064" cy="429768"/>
          </a:xfrm>
          <a:prstGeom prst="rect">
            <a:avLst/>
          </a:prstGeom>
          <a:noFill/>
        </p:spPr>
        <p:txBody>
          <a:bodyPr wrap="square" lIns="36576" rIns="36576" tIns="0" bIns="0" anchor="t">
            <a:spAutoFit/>
          </a:bodyPr>
          <a:lstStyle/>
          <a:p>
            <a:pPr algn="l">
              <a:defRPr sz="2500" b="1">
                <a:solidFill>
                  <a:srgbClr val="256FA6"/>
                </a:solidFill>
                <a:latin typeface="Noto Sans"/>
              </a:defRPr>
            </a:pPr>
            <a:r>
              <a:t>2.40%</a:t>
            </a:r>
          </a:p>
        </p:txBody>
      </p:sp>
      <p:sp>
        <p:nvSpPr>
          <p:cNvPr id="12" name="TextBox 11"/>
          <p:cNvSpPr txBox="1"/>
          <p:nvPr/>
        </p:nvSpPr>
        <p:spPr>
          <a:xfrm>
            <a:off x="9838944" y="2029967"/>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median remesh CV</a:t>
            </a:r>
          </a:p>
        </p:txBody>
      </p:sp>
      <p:sp>
        <p:nvSpPr>
          <p:cNvPr id="13" name="Rounded Rectangle 12"/>
          <p:cNvSpPr/>
          <p:nvPr/>
        </p:nvSpPr>
        <p:spPr>
          <a:xfrm>
            <a:off x="9637776" y="2862072"/>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37776" y="2862072"/>
            <a:ext cx="64008" cy="129844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38944" y="3008376"/>
            <a:ext cx="1655064" cy="429768"/>
          </a:xfrm>
          <a:prstGeom prst="rect">
            <a:avLst/>
          </a:prstGeom>
          <a:noFill/>
        </p:spPr>
        <p:txBody>
          <a:bodyPr wrap="square" lIns="36576" rIns="36576" tIns="0" bIns="0" anchor="t">
            <a:spAutoFit/>
          </a:bodyPr>
          <a:lstStyle/>
          <a:p>
            <a:pPr algn="l">
              <a:defRPr sz="2100" b="1">
                <a:solidFill>
                  <a:srgbClr val="C25B23"/>
                </a:solidFill>
                <a:latin typeface="Noto Sans"/>
              </a:defRPr>
            </a:pPr>
            <a:r>
              <a:t>≥99.19%</a:t>
            </a:r>
          </a:p>
        </p:txBody>
      </p:sp>
      <p:sp>
        <p:nvSpPr>
          <p:cNvPr id="16" name="TextBox 15"/>
          <p:cNvSpPr txBox="1"/>
          <p:nvPr/>
        </p:nvSpPr>
        <p:spPr>
          <a:xfrm>
            <a:off x="9838944" y="3520439"/>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minimum reduction in SD with fixed mesh</a:t>
            </a:r>
          </a:p>
        </p:txBody>
      </p:sp>
      <p:sp>
        <p:nvSpPr>
          <p:cNvPr id="17" name="Rounded Rectangle 16"/>
          <p:cNvSpPr/>
          <p:nvPr/>
        </p:nvSpPr>
        <p:spPr>
          <a:xfrm>
            <a:off x="9637776" y="4352544"/>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37776" y="4352544"/>
            <a:ext cx="64008" cy="129844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38944" y="4498848"/>
            <a:ext cx="1655064" cy="429768"/>
          </a:xfrm>
          <a:prstGeom prst="rect">
            <a:avLst/>
          </a:prstGeom>
          <a:noFill/>
        </p:spPr>
        <p:txBody>
          <a:bodyPr wrap="square" lIns="36576" rIns="36576" tIns="0" bIns="0" anchor="t">
            <a:spAutoFit/>
          </a:bodyPr>
          <a:lstStyle/>
          <a:p>
            <a:pPr algn="l">
              <a:defRPr sz="2200" b="1">
                <a:solidFill>
                  <a:srgbClr val="1B8B7E"/>
                </a:solidFill>
                <a:latin typeface="Noto Sans"/>
              </a:defRPr>
            </a:pPr>
            <a:r>
              <a:t>≤0.016%</a:t>
            </a:r>
          </a:p>
        </p:txBody>
      </p:sp>
      <p:sp>
        <p:nvSpPr>
          <p:cNvPr id="20" name="TextBox 19"/>
          <p:cNvSpPr txBox="1"/>
          <p:nvPr/>
        </p:nvSpPr>
        <p:spPr>
          <a:xfrm>
            <a:off x="9838944" y="5010912"/>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maximum fixed-mesh CV</a:t>
            </a:r>
          </a:p>
        </p:txBody>
      </p:sp>
      <p:sp>
        <p:nvSpPr>
          <p:cNvPr id="21" name="TextBox 20"/>
          <p:cNvSpPr txBox="1"/>
          <p:nvPr/>
        </p:nvSpPr>
        <p:spPr>
          <a:xfrm>
            <a:off x="9665208" y="5870448"/>
            <a:ext cx="1920240" cy="384048"/>
          </a:xfrm>
          <a:prstGeom prst="rect">
            <a:avLst/>
          </a:prstGeom>
          <a:noFill/>
        </p:spPr>
        <p:txBody>
          <a:bodyPr wrap="square" lIns="36576" rIns="36576" tIns="0" bIns="0" anchor="t">
            <a:spAutoFit/>
          </a:bodyPr>
          <a:lstStyle/>
          <a:p>
            <a:pPr algn="ctr">
              <a:defRPr sz="1019" b="1">
                <a:solidFill>
                  <a:srgbClr val="0C1E30"/>
                </a:solidFill>
                <a:latin typeface="Noto Sans"/>
              </a:defRPr>
            </a:pPr>
            <a:r>
              <a:t>Blue spread collapses to an almost single orange value for every participant.</a:t>
            </a:r>
          </a:p>
        </p:txBody>
      </p:sp>
      <p:sp>
        <p:nvSpPr>
          <p:cNvPr id="22" name="TextBox 21"/>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n=10; 40 remesh + 40 fixed-mesh repeats per participant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2 • RIGHT M1</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M1 shows the same pattern: 1.62–2.79% remesh CV</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07</a:t>
            </a:r>
          </a:p>
        </p:txBody>
      </p:sp>
      <p:sp>
        <p:nvSpPr>
          <p:cNvPr id="7" name="Rounded Rectangle 6"/>
          <p:cNvSpPr/>
          <p:nvPr/>
        </p:nvSpPr>
        <p:spPr>
          <a:xfrm>
            <a:off x="457200" y="1188720"/>
            <a:ext cx="8979408" cy="507492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primary_median_roi_repeat_distributions.png"/>
          <p:cNvPicPr>
            <a:picLocks noChangeAspect="1"/>
          </p:cNvPicPr>
          <p:nvPr/>
        </p:nvPicPr>
        <p:blipFill>
          <a:blip r:embed="rId2"/>
          <a:stretch>
            <a:fillRect/>
          </a:stretch>
        </p:blipFill>
        <p:spPr>
          <a:xfrm>
            <a:off x="566928" y="1618018"/>
            <a:ext cx="8759952" cy="4188890"/>
          </a:xfrm>
          <a:prstGeom prst="rect">
            <a:avLst/>
          </a:prstGeom>
        </p:spPr>
      </p:pic>
      <p:sp>
        <p:nvSpPr>
          <p:cNvPr id="9" name="Rounded Rectangle 8"/>
          <p:cNvSpPr/>
          <p:nvPr/>
        </p:nvSpPr>
        <p:spPr>
          <a:xfrm>
            <a:off x="9637776" y="1371600"/>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37776" y="1371600"/>
            <a:ext cx="64008" cy="129844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38944" y="1517904"/>
            <a:ext cx="1655064" cy="429768"/>
          </a:xfrm>
          <a:prstGeom prst="rect">
            <a:avLst/>
          </a:prstGeom>
          <a:noFill/>
        </p:spPr>
        <p:txBody>
          <a:bodyPr wrap="square" lIns="36576" rIns="36576" tIns="0" bIns="0" anchor="t">
            <a:spAutoFit/>
          </a:bodyPr>
          <a:lstStyle/>
          <a:p>
            <a:pPr algn="l">
              <a:defRPr sz="2500" b="1">
                <a:solidFill>
                  <a:srgbClr val="256FA6"/>
                </a:solidFill>
                <a:latin typeface="Noto Sans"/>
              </a:defRPr>
            </a:pPr>
            <a:r>
              <a:t>2.54%</a:t>
            </a:r>
          </a:p>
        </p:txBody>
      </p:sp>
      <p:sp>
        <p:nvSpPr>
          <p:cNvPr id="12" name="TextBox 11"/>
          <p:cNvSpPr txBox="1"/>
          <p:nvPr/>
        </p:nvSpPr>
        <p:spPr>
          <a:xfrm>
            <a:off x="9838944" y="2029967"/>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median remesh CV</a:t>
            </a:r>
          </a:p>
        </p:txBody>
      </p:sp>
      <p:sp>
        <p:nvSpPr>
          <p:cNvPr id="13" name="Rounded Rectangle 12"/>
          <p:cNvSpPr/>
          <p:nvPr/>
        </p:nvSpPr>
        <p:spPr>
          <a:xfrm>
            <a:off x="9637776" y="2862072"/>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37776" y="2862072"/>
            <a:ext cx="64008" cy="129844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38944" y="3008376"/>
            <a:ext cx="1655064" cy="429768"/>
          </a:xfrm>
          <a:prstGeom prst="rect">
            <a:avLst/>
          </a:prstGeom>
          <a:noFill/>
        </p:spPr>
        <p:txBody>
          <a:bodyPr wrap="square" lIns="36576" rIns="36576" tIns="0" bIns="0" anchor="t">
            <a:spAutoFit/>
          </a:bodyPr>
          <a:lstStyle/>
          <a:p>
            <a:pPr algn="l">
              <a:defRPr sz="2100" b="1">
                <a:solidFill>
                  <a:srgbClr val="C25B23"/>
                </a:solidFill>
                <a:latin typeface="Noto Sans"/>
              </a:defRPr>
            </a:pPr>
            <a:r>
              <a:t>≥99.78%</a:t>
            </a:r>
          </a:p>
        </p:txBody>
      </p:sp>
      <p:sp>
        <p:nvSpPr>
          <p:cNvPr id="16" name="TextBox 15"/>
          <p:cNvSpPr txBox="1"/>
          <p:nvPr/>
        </p:nvSpPr>
        <p:spPr>
          <a:xfrm>
            <a:off x="9838944" y="3520439"/>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minimum reduction in SD with fixed mesh</a:t>
            </a:r>
          </a:p>
        </p:txBody>
      </p:sp>
      <p:sp>
        <p:nvSpPr>
          <p:cNvPr id="17" name="Rounded Rectangle 16"/>
          <p:cNvSpPr/>
          <p:nvPr/>
        </p:nvSpPr>
        <p:spPr>
          <a:xfrm>
            <a:off x="9637776" y="4352544"/>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37776" y="4352544"/>
            <a:ext cx="64008" cy="129844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38944" y="4498848"/>
            <a:ext cx="1655064" cy="429768"/>
          </a:xfrm>
          <a:prstGeom prst="rect">
            <a:avLst/>
          </a:prstGeom>
          <a:noFill/>
        </p:spPr>
        <p:txBody>
          <a:bodyPr wrap="square" lIns="36576" rIns="36576" tIns="0" bIns="0" anchor="t">
            <a:spAutoFit/>
          </a:bodyPr>
          <a:lstStyle/>
          <a:p>
            <a:pPr algn="l">
              <a:defRPr sz="2000" b="1">
                <a:solidFill>
                  <a:srgbClr val="1B8B7E"/>
                </a:solidFill>
                <a:latin typeface="Noto Sans"/>
              </a:defRPr>
            </a:pPr>
            <a:r>
              <a:t>≤0.0053%</a:t>
            </a:r>
          </a:p>
        </p:txBody>
      </p:sp>
      <p:sp>
        <p:nvSpPr>
          <p:cNvPr id="20" name="TextBox 19"/>
          <p:cNvSpPr txBox="1"/>
          <p:nvPr/>
        </p:nvSpPr>
        <p:spPr>
          <a:xfrm>
            <a:off x="9838944" y="5010912"/>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maximum fixed-mesh CV</a:t>
            </a:r>
          </a:p>
        </p:txBody>
      </p:sp>
      <p:sp>
        <p:nvSpPr>
          <p:cNvPr id="21" name="TextBox 20"/>
          <p:cNvSpPr txBox="1"/>
          <p:nvPr/>
        </p:nvSpPr>
        <p:spPr>
          <a:xfrm>
            <a:off x="9665208" y="5870448"/>
            <a:ext cx="1920240" cy="384048"/>
          </a:xfrm>
          <a:prstGeom prst="rect">
            <a:avLst/>
          </a:prstGeom>
          <a:noFill/>
        </p:spPr>
        <p:txBody>
          <a:bodyPr wrap="square" lIns="36576" rIns="36576" tIns="0" bIns="0" anchor="t">
            <a:spAutoFit/>
          </a:bodyPr>
          <a:lstStyle/>
          <a:p>
            <a:pPr algn="ctr">
              <a:defRPr sz="1019" b="1">
                <a:solidFill>
                  <a:srgbClr val="0C1E30"/>
                </a:solidFill>
                <a:latin typeface="Noto Sans"/>
              </a:defRPr>
            </a:pPr>
            <a:r>
              <a:t>Replication in a superficial target argues against a hippocampus-only artifact.</a:t>
            </a:r>
          </a:p>
        </p:txBody>
      </p:sp>
      <p:sp>
        <p:nvSpPr>
          <p:cNvPr id="22" name="TextBox 21"/>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n=10; 40 remesh + 40 fixed-mesh repeats per participant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3 • RANKING UNCERTAINTY</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Percent-level spread matters when subjects are closely matched</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08</a:t>
            </a:r>
          </a:p>
        </p:txBody>
      </p:sp>
      <p:sp>
        <p:nvSpPr>
          <p:cNvPr id="7" name="Rounded Rectangle 6"/>
          <p:cNvSpPr/>
          <p:nvPr/>
        </p:nvSpPr>
        <p:spPr>
          <a:xfrm>
            <a:off x="585216" y="1389888"/>
            <a:ext cx="5449824" cy="43708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536" y="1664208"/>
            <a:ext cx="1490472" cy="310896"/>
          </a:xfrm>
          <a:prstGeom prst="roundRect">
            <a:avLst/>
          </a:prstGeom>
          <a:solidFill>
            <a:srgbClr val="E0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46504"/>
            <a:ext cx="1380743" cy="146304"/>
          </a:xfrm>
          <a:prstGeom prst="rect">
            <a:avLst/>
          </a:prstGeom>
          <a:noFill/>
        </p:spPr>
        <p:txBody>
          <a:bodyPr wrap="square" lIns="36576" rIns="36576" tIns="0" bIns="0" anchor="t">
            <a:spAutoFit/>
          </a:bodyPr>
          <a:lstStyle/>
          <a:p>
            <a:pPr algn="ctr">
              <a:defRPr sz="840" b="1">
                <a:solidFill>
                  <a:srgbClr val="194874"/>
                </a:solidFill>
                <a:latin typeface="Noto Sans"/>
              </a:defRPr>
            </a:pPr>
            <a:r>
              <a:t>LEFT HIPPOCAMPUS</a:t>
            </a:r>
          </a:p>
        </p:txBody>
      </p:sp>
      <p:sp>
        <p:nvSpPr>
          <p:cNvPr id="10" name="TextBox 9"/>
          <p:cNvSpPr txBox="1"/>
          <p:nvPr/>
        </p:nvSpPr>
        <p:spPr>
          <a:xfrm>
            <a:off x="859536" y="2267712"/>
            <a:ext cx="2560320" cy="667512"/>
          </a:xfrm>
          <a:prstGeom prst="rect">
            <a:avLst/>
          </a:prstGeom>
          <a:noFill/>
        </p:spPr>
        <p:txBody>
          <a:bodyPr wrap="square" lIns="36576" rIns="36576" tIns="0" bIns="0" anchor="t">
            <a:spAutoFit/>
          </a:bodyPr>
          <a:lstStyle/>
          <a:p>
            <a:pPr algn="l">
              <a:defRPr sz="4000" b="1">
                <a:solidFill>
                  <a:srgbClr val="C25B23"/>
                </a:solidFill>
                <a:latin typeface="Noto Sans"/>
              </a:defRPr>
            </a:pPr>
            <a:r>
              <a:t>95.7%</a:t>
            </a:r>
          </a:p>
        </p:txBody>
      </p:sp>
      <p:sp>
        <p:nvSpPr>
          <p:cNvPr id="11" name="TextBox 10"/>
          <p:cNvSpPr txBox="1"/>
          <p:nvPr/>
        </p:nvSpPr>
        <p:spPr>
          <a:xfrm>
            <a:off x="877824" y="3017520"/>
            <a:ext cx="4443984" cy="402336"/>
          </a:xfrm>
          <a:prstGeom prst="rect">
            <a:avLst/>
          </a:prstGeom>
          <a:noFill/>
        </p:spPr>
        <p:txBody>
          <a:bodyPr wrap="square" lIns="36576" rIns="36576" tIns="0" bIns="0" anchor="t">
            <a:spAutoFit/>
          </a:bodyPr>
          <a:lstStyle/>
          <a:p>
            <a:pPr algn="l">
              <a:defRPr sz="1500" b="1">
                <a:solidFill>
                  <a:srgbClr val="1D2730"/>
                </a:solidFill>
                <a:latin typeface="Noto Sans"/>
              </a:defRPr>
            </a:pPr>
            <a:r>
              <a:t>of 20,000 draws contained ≥1 reversed pair</a:t>
            </a:r>
          </a:p>
        </p:txBody>
      </p:sp>
      <p:sp>
        <p:nvSpPr>
          <p:cNvPr id="12" name="Rounded Rectangle 11"/>
          <p:cNvSpPr/>
          <p:nvPr/>
        </p:nvSpPr>
        <p:spPr>
          <a:xfrm>
            <a:off x="859536" y="3712463"/>
            <a:ext cx="2139696"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9536" y="3712463"/>
            <a:ext cx="64008" cy="1344168"/>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3858768"/>
            <a:ext cx="1792224" cy="429768"/>
          </a:xfrm>
          <a:prstGeom prst="rect">
            <a:avLst/>
          </a:prstGeom>
          <a:noFill/>
        </p:spPr>
        <p:txBody>
          <a:bodyPr wrap="square" lIns="36576" rIns="36576" tIns="0" bIns="0" anchor="t">
            <a:spAutoFit/>
          </a:bodyPr>
          <a:lstStyle/>
          <a:p>
            <a:pPr algn="l">
              <a:defRPr sz="2400" b="1">
                <a:solidFill>
                  <a:srgbClr val="194874"/>
                </a:solidFill>
                <a:latin typeface="Noto Sans"/>
              </a:defRPr>
            </a:pPr>
            <a:r>
              <a:t>0.867</a:t>
            </a:r>
          </a:p>
        </p:txBody>
      </p:sp>
      <p:sp>
        <p:nvSpPr>
          <p:cNvPr id="15" name="TextBox 14"/>
          <p:cNvSpPr txBox="1"/>
          <p:nvPr/>
        </p:nvSpPr>
        <p:spPr>
          <a:xfrm>
            <a:off x="1060704" y="4370831"/>
            <a:ext cx="1792224" cy="594360"/>
          </a:xfrm>
          <a:prstGeom prst="rect">
            <a:avLst/>
          </a:prstGeom>
          <a:noFill/>
        </p:spPr>
        <p:txBody>
          <a:bodyPr wrap="square" lIns="36576" rIns="36576" tIns="0" bIns="0" anchor="t">
            <a:spAutoFit/>
          </a:bodyPr>
          <a:lstStyle/>
          <a:p>
            <a:pPr algn="l">
              <a:defRPr sz="1050" b="0">
                <a:solidFill>
                  <a:srgbClr val="566572"/>
                </a:solidFill>
                <a:latin typeface="Noto Sans"/>
              </a:defRPr>
            </a:pPr>
            <a:r>
              <a:t>median Kendall agreement</a:t>
            </a:r>
          </a:p>
        </p:txBody>
      </p:sp>
      <p:sp>
        <p:nvSpPr>
          <p:cNvPr id="16" name="Rounded Rectangle 15"/>
          <p:cNvSpPr/>
          <p:nvPr/>
        </p:nvSpPr>
        <p:spPr>
          <a:xfrm>
            <a:off x="3227832" y="3712463"/>
            <a:ext cx="2139696"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27832" y="3712463"/>
            <a:ext cx="64008" cy="13441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3858768"/>
            <a:ext cx="1792224" cy="429768"/>
          </a:xfrm>
          <a:prstGeom prst="rect">
            <a:avLst/>
          </a:prstGeom>
          <a:noFill/>
        </p:spPr>
        <p:txBody>
          <a:bodyPr wrap="square" lIns="36576" rIns="36576" tIns="0" bIns="0" anchor="t">
            <a:spAutoFit/>
          </a:bodyPr>
          <a:lstStyle/>
          <a:p>
            <a:pPr algn="l">
              <a:defRPr sz="2400" b="1">
                <a:solidFill>
                  <a:srgbClr val="B13A3A"/>
                </a:solidFill>
                <a:latin typeface="Noto Sans"/>
              </a:defRPr>
            </a:pPr>
            <a:r>
              <a:t>47.9%</a:t>
            </a:r>
          </a:p>
        </p:txBody>
      </p:sp>
      <p:sp>
        <p:nvSpPr>
          <p:cNvPr id="19" name="TextBox 18"/>
          <p:cNvSpPr txBox="1"/>
          <p:nvPr/>
        </p:nvSpPr>
        <p:spPr>
          <a:xfrm>
            <a:off x="3429000" y="4370831"/>
            <a:ext cx="1792224" cy="594360"/>
          </a:xfrm>
          <a:prstGeom prst="rect">
            <a:avLst/>
          </a:prstGeom>
          <a:noFill/>
        </p:spPr>
        <p:txBody>
          <a:bodyPr wrap="square" lIns="36576" rIns="36576" tIns="0" bIns="0" anchor="t">
            <a:spAutoFit/>
          </a:bodyPr>
          <a:lstStyle/>
          <a:p>
            <a:pPr algn="l">
              <a:defRPr sz="1050" b="0">
                <a:solidFill>
                  <a:srgbClr val="566572"/>
                </a:solidFill>
                <a:latin typeface="Noto Sans"/>
              </a:defRPr>
            </a:pPr>
            <a:r>
              <a:t>largest exact pair reversal</a:t>
            </a:r>
          </a:p>
        </p:txBody>
      </p:sp>
      <p:sp>
        <p:nvSpPr>
          <p:cNvPr id="20" name="TextBox 19"/>
          <p:cNvSpPr txBox="1"/>
          <p:nvPr/>
        </p:nvSpPr>
        <p:spPr>
          <a:xfrm>
            <a:off x="896112" y="5257800"/>
            <a:ext cx="4480560" cy="256032"/>
          </a:xfrm>
          <a:prstGeom prst="rect">
            <a:avLst/>
          </a:prstGeom>
          <a:noFill/>
        </p:spPr>
        <p:txBody>
          <a:bodyPr wrap="square" lIns="36576" rIns="36576" tIns="0" bIns="0" anchor="t">
            <a:spAutoFit/>
          </a:bodyPr>
          <a:lstStyle/>
          <a:p>
            <a:pPr algn="l">
              <a:defRPr sz="1000" b="0">
                <a:solidFill>
                  <a:srgbClr val="566572"/>
                </a:solidFill>
                <a:latin typeface="Noto Sans"/>
              </a:defRPr>
            </a:pPr>
            <a:r>
              <a:t>Closest high-risk pair: CC121144 vs CC720941</a:t>
            </a:r>
          </a:p>
        </p:txBody>
      </p:sp>
      <p:sp>
        <p:nvSpPr>
          <p:cNvPr id="21" name="Rounded Rectangle 20"/>
          <p:cNvSpPr/>
          <p:nvPr/>
        </p:nvSpPr>
        <p:spPr>
          <a:xfrm>
            <a:off x="6236208" y="1389888"/>
            <a:ext cx="5376672" cy="43708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1664208"/>
            <a:ext cx="1078992" cy="310896"/>
          </a:xfrm>
          <a:prstGeom prst="roundRect">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1746504"/>
            <a:ext cx="969264" cy="146304"/>
          </a:xfrm>
          <a:prstGeom prst="rect">
            <a:avLst/>
          </a:prstGeom>
          <a:noFill/>
        </p:spPr>
        <p:txBody>
          <a:bodyPr wrap="square" lIns="36576" rIns="36576" tIns="0" bIns="0" anchor="t">
            <a:spAutoFit/>
          </a:bodyPr>
          <a:lstStyle/>
          <a:p>
            <a:pPr algn="ctr">
              <a:defRPr sz="840" b="1">
                <a:solidFill>
                  <a:srgbClr val="1B8B7E"/>
                </a:solidFill>
                <a:latin typeface="Noto Sans"/>
              </a:defRPr>
            </a:pPr>
            <a:r>
              <a:t>RIGHT M1</a:t>
            </a:r>
          </a:p>
        </p:txBody>
      </p:sp>
      <p:sp>
        <p:nvSpPr>
          <p:cNvPr id="24" name="TextBox 23"/>
          <p:cNvSpPr txBox="1"/>
          <p:nvPr/>
        </p:nvSpPr>
        <p:spPr>
          <a:xfrm>
            <a:off x="6510528" y="2267712"/>
            <a:ext cx="2560320" cy="667512"/>
          </a:xfrm>
          <a:prstGeom prst="rect">
            <a:avLst/>
          </a:prstGeom>
          <a:noFill/>
        </p:spPr>
        <p:txBody>
          <a:bodyPr wrap="square" lIns="36576" rIns="36576" tIns="0" bIns="0" anchor="t">
            <a:spAutoFit/>
          </a:bodyPr>
          <a:lstStyle/>
          <a:p>
            <a:pPr algn="l">
              <a:defRPr sz="4000" b="1">
                <a:solidFill>
                  <a:srgbClr val="C25B23"/>
                </a:solidFill>
                <a:latin typeface="Noto Sans"/>
              </a:defRPr>
            </a:pPr>
            <a:r>
              <a:t>88.5%</a:t>
            </a:r>
          </a:p>
        </p:txBody>
      </p:sp>
      <p:sp>
        <p:nvSpPr>
          <p:cNvPr id="25" name="TextBox 24"/>
          <p:cNvSpPr txBox="1"/>
          <p:nvPr/>
        </p:nvSpPr>
        <p:spPr>
          <a:xfrm>
            <a:off x="6528816" y="3017520"/>
            <a:ext cx="4425696" cy="402336"/>
          </a:xfrm>
          <a:prstGeom prst="rect">
            <a:avLst/>
          </a:prstGeom>
          <a:noFill/>
        </p:spPr>
        <p:txBody>
          <a:bodyPr wrap="square" lIns="36576" rIns="36576" tIns="0" bIns="0" anchor="t">
            <a:spAutoFit/>
          </a:bodyPr>
          <a:lstStyle/>
          <a:p>
            <a:pPr algn="l">
              <a:defRPr sz="1500" b="1">
                <a:solidFill>
                  <a:srgbClr val="1D2730"/>
                </a:solidFill>
                <a:latin typeface="Noto Sans"/>
              </a:defRPr>
            </a:pPr>
            <a:r>
              <a:t>of 20,000 draws contained ≥1 reversed pair</a:t>
            </a:r>
          </a:p>
        </p:txBody>
      </p:sp>
      <p:sp>
        <p:nvSpPr>
          <p:cNvPr id="26" name="Rounded Rectangle 25"/>
          <p:cNvSpPr/>
          <p:nvPr/>
        </p:nvSpPr>
        <p:spPr>
          <a:xfrm>
            <a:off x="6510528" y="3712463"/>
            <a:ext cx="2121408"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10528" y="3712463"/>
            <a:ext cx="64008" cy="134416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11696" y="3858768"/>
            <a:ext cx="1773936" cy="429768"/>
          </a:xfrm>
          <a:prstGeom prst="rect">
            <a:avLst/>
          </a:prstGeom>
          <a:noFill/>
        </p:spPr>
        <p:txBody>
          <a:bodyPr wrap="square" lIns="36576" rIns="36576" tIns="0" bIns="0" anchor="t">
            <a:spAutoFit/>
          </a:bodyPr>
          <a:lstStyle/>
          <a:p>
            <a:pPr algn="l">
              <a:defRPr sz="2400" b="1">
                <a:solidFill>
                  <a:srgbClr val="1B8B7E"/>
                </a:solidFill>
                <a:latin typeface="Noto Sans"/>
              </a:defRPr>
            </a:pPr>
            <a:r>
              <a:t>0.911</a:t>
            </a:r>
          </a:p>
        </p:txBody>
      </p:sp>
      <p:sp>
        <p:nvSpPr>
          <p:cNvPr id="29" name="TextBox 28"/>
          <p:cNvSpPr txBox="1"/>
          <p:nvPr/>
        </p:nvSpPr>
        <p:spPr>
          <a:xfrm>
            <a:off x="6711696" y="4370831"/>
            <a:ext cx="1773936" cy="594360"/>
          </a:xfrm>
          <a:prstGeom prst="rect">
            <a:avLst/>
          </a:prstGeom>
          <a:noFill/>
        </p:spPr>
        <p:txBody>
          <a:bodyPr wrap="square" lIns="36576" rIns="36576" tIns="0" bIns="0" anchor="t">
            <a:spAutoFit/>
          </a:bodyPr>
          <a:lstStyle/>
          <a:p>
            <a:pPr algn="l">
              <a:defRPr sz="1050" b="0">
                <a:solidFill>
                  <a:srgbClr val="566572"/>
                </a:solidFill>
                <a:latin typeface="Noto Sans"/>
              </a:defRPr>
            </a:pPr>
            <a:r>
              <a:t>median Kendall agreement</a:t>
            </a:r>
          </a:p>
        </p:txBody>
      </p:sp>
      <p:sp>
        <p:nvSpPr>
          <p:cNvPr id="30" name="Rounded Rectangle 29"/>
          <p:cNvSpPr/>
          <p:nvPr/>
        </p:nvSpPr>
        <p:spPr>
          <a:xfrm>
            <a:off x="8860536" y="3712463"/>
            <a:ext cx="2121408"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60536" y="3712463"/>
            <a:ext cx="64008" cy="13441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61704" y="3858768"/>
            <a:ext cx="1773936" cy="429768"/>
          </a:xfrm>
          <a:prstGeom prst="rect">
            <a:avLst/>
          </a:prstGeom>
          <a:noFill/>
        </p:spPr>
        <p:txBody>
          <a:bodyPr wrap="square" lIns="36576" rIns="36576" tIns="0" bIns="0" anchor="t">
            <a:spAutoFit/>
          </a:bodyPr>
          <a:lstStyle/>
          <a:p>
            <a:pPr algn="l">
              <a:defRPr sz="2400" b="1">
                <a:solidFill>
                  <a:srgbClr val="B13A3A"/>
                </a:solidFill>
                <a:latin typeface="Noto Sans"/>
              </a:defRPr>
            </a:pPr>
            <a:r>
              <a:t>44.7%</a:t>
            </a:r>
          </a:p>
        </p:txBody>
      </p:sp>
      <p:sp>
        <p:nvSpPr>
          <p:cNvPr id="33" name="TextBox 32"/>
          <p:cNvSpPr txBox="1"/>
          <p:nvPr/>
        </p:nvSpPr>
        <p:spPr>
          <a:xfrm>
            <a:off x="9061704" y="4370831"/>
            <a:ext cx="1773936" cy="594360"/>
          </a:xfrm>
          <a:prstGeom prst="rect">
            <a:avLst/>
          </a:prstGeom>
          <a:noFill/>
        </p:spPr>
        <p:txBody>
          <a:bodyPr wrap="square" lIns="36576" rIns="36576" tIns="0" bIns="0" anchor="t">
            <a:spAutoFit/>
          </a:bodyPr>
          <a:lstStyle/>
          <a:p>
            <a:pPr algn="l">
              <a:defRPr sz="1050" b="0">
                <a:solidFill>
                  <a:srgbClr val="566572"/>
                </a:solidFill>
                <a:latin typeface="Noto Sans"/>
              </a:defRPr>
            </a:pPr>
            <a:r>
              <a:t>largest exact pair reversal</a:t>
            </a:r>
          </a:p>
        </p:txBody>
      </p:sp>
      <p:sp>
        <p:nvSpPr>
          <p:cNvPr id="34" name="TextBox 33"/>
          <p:cNvSpPr txBox="1"/>
          <p:nvPr/>
        </p:nvSpPr>
        <p:spPr>
          <a:xfrm>
            <a:off x="6547104" y="5257800"/>
            <a:ext cx="4389120" cy="256032"/>
          </a:xfrm>
          <a:prstGeom prst="rect">
            <a:avLst/>
          </a:prstGeom>
          <a:noFill/>
        </p:spPr>
        <p:txBody>
          <a:bodyPr wrap="square" lIns="36576" rIns="36576" tIns="0" bIns="0" anchor="t">
            <a:spAutoFit/>
          </a:bodyPr>
          <a:lstStyle/>
          <a:p>
            <a:pPr algn="l">
              <a:defRPr sz="1000" b="0">
                <a:solidFill>
                  <a:srgbClr val="566572"/>
                </a:solidFill>
                <a:latin typeface="Noto Sans"/>
              </a:defRPr>
            </a:pPr>
            <a:r>
              <a:t>Closest high-risk pair: CC610631 vs CC310407</a:t>
            </a:r>
          </a:p>
        </p:txBody>
      </p:sp>
      <p:sp>
        <p:nvSpPr>
          <p:cNvPr id="35" name="Rounded Rectangle 34"/>
          <p:cNvSpPr/>
          <p:nvPr/>
        </p:nvSpPr>
        <p:spPr>
          <a:xfrm>
            <a:off x="585216" y="5971032"/>
            <a:ext cx="11027664" cy="411480"/>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 y="6080760"/>
            <a:ext cx="10607040" cy="182880"/>
          </a:xfrm>
          <a:prstGeom prst="rect">
            <a:avLst/>
          </a:prstGeom>
          <a:noFill/>
        </p:spPr>
        <p:txBody>
          <a:bodyPr wrap="square" lIns="36576" rIns="36576" tIns="0" bIns="0" anchor="t">
            <a:spAutoFit/>
          </a:bodyPr>
          <a:lstStyle/>
          <a:p>
            <a:pPr algn="ctr">
              <a:defRPr sz="1200" b="1">
                <a:solidFill>
                  <a:srgbClr val="FFFFFF"/>
                </a:solidFill>
                <a:latin typeface="Noto Sans"/>
              </a:defRPr>
            </a:pPr>
            <a:r>
              <a:t>Global ordering remains fairly concordant, but a one-mesh ranking is fragile near ties.</a:t>
            </a:r>
          </a:p>
        </p:txBody>
      </p:sp>
      <p:sp>
        <p:nvSpPr>
          <p:cNvPr id="37" name="TextBox 36"/>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One remesh repeat selected independently for each participant per draw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MECHANISTIC EVIDENCE</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Remeshing changes the numerical head model—not only the final scalar</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09</a:t>
            </a:r>
          </a:p>
        </p:txBody>
      </p:sp>
      <p:sp>
        <p:nvSpPr>
          <p:cNvPr id="7" name="Rounded Rectangle 6"/>
          <p:cNvSpPr/>
          <p:nvPr/>
        </p:nvSpPr>
        <p:spPr>
          <a:xfrm>
            <a:off x="530352" y="1280160"/>
            <a:ext cx="7818120" cy="49560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_example_subject_tissue_composition.png"/>
          <p:cNvPicPr>
            <a:picLocks noChangeAspect="1"/>
          </p:cNvPicPr>
          <p:nvPr/>
        </p:nvPicPr>
        <p:blipFill>
          <a:blip r:embed="rId2"/>
          <a:stretch>
            <a:fillRect/>
          </a:stretch>
        </p:blipFill>
        <p:spPr>
          <a:xfrm>
            <a:off x="667512" y="2313101"/>
            <a:ext cx="7543800" cy="2780436"/>
          </a:xfrm>
          <a:prstGeom prst="rect">
            <a:avLst/>
          </a:prstGeom>
        </p:spPr>
      </p:pic>
      <p:sp>
        <p:nvSpPr>
          <p:cNvPr id="9" name="TextBox 8"/>
          <p:cNvSpPr txBox="1"/>
          <p:nvPr/>
        </p:nvSpPr>
        <p:spPr>
          <a:xfrm>
            <a:off x="786384" y="5870448"/>
            <a:ext cx="7296912" cy="201168"/>
          </a:xfrm>
          <a:prstGeom prst="rect">
            <a:avLst/>
          </a:prstGeom>
          <a:noFill/>
        </p:spPr>
        <p:txBody>
          <a:bodyPr wrap="square" lIns="36576" rIns="36576" tIns="0" bIns="0" anchor="t">
            <a:spAutoFit/>
          </a:bodyPr>
          <a:lstStyle/>
          <a:p>
            <a:pPr algn="ctr">
              <a:defRPr sz="850" b="0">
                <a:solidFill>
                  <a:srgbClr val="566572"/>
                </a:solidFill>
                <a:latin typeface="Noto Sans"/>
              </a:defRPr>
            </a:pPr>
            <a:r>
              <a:t>Example: CC320616, left-hippocampus remesh arm</a:t>
            </a:r>
          </a:p>
        </p:txBody>
      </p:sp>
      <p:sp>
        <p:nvSpPr>
          <p:cNvPr id="10" name="Rounded Rectangle 9"/>
          <p:cNvSpPr/>
          <p:nvPr/>
        </p:nvSpPr>
        <p:spPr>
          <a:xfrm>
            <a:off x="8586216" y="1444752"/>
            <a:ext cx="3017520" cy="13990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86216" y="1444752"/>
            <a:ext cx="64008" cy="1399032"/>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87384" y="1591056"/>
            <a:ext cx="2670048" cy="429768"/>
          </a:xfrm>
          <a:prstGeom prst="rect">
            <a:avLst/>
          </a:prstGeom>
          <a:noFill/>
        </p:spPr>
        <p:txBody>
          <a:bodyPr wrap="square" lIns="36576" rIns="36576" tIns="0" bIns="0" anchor="t">
            <a:spAutoFit/>
          </a:bodyPr>
          <a:lstStyle/>
          <a:p>
            <a:pPr algn="l">
              <a:defRPr sz="2600" b="1">
                <a:solidFill>
                  <a:srgbClr val="256FA6"/>
                </a:solidFill>
                <a:latin typeface="Noto Sans"/>
              </a:defRPr>
            </a:pPr>
            <a:r>
              <a:t>7,369</a:t>
            </a:r>
          </a:p>
        </p:txBody>
      </p:sp>
      <p:sp>
        <p:nvSpPr>
          <p:cNvPr id="13" name="TextBox 12"/>
          <p:cNvSpPr txBox="1"/>
          <p:nvPr/>
        </p:nvSpPr>
        <p:spPr>
          <a:xfrm>
            <a:off x="8787384" y="2103120"/>
            <a:ext cx="2670048" cy="649224"/>
          </a:xfrm>
          <a:prstGeom prst="rect">
            <a:avLst/>
          </a:prstGeom>
          <a:noFill/>
        </p:spPr>
        <p:txBody>
          <a:bodyPr wrap="square" lIns="36576" rIns="36576" tIns="0" bIns="0" anchor="t">
            <a:spAutoFit/>
          </a:bodyPr>
          <a:lstStyle/>
          <a:p>
            <a:pPr algn="l">
              <a:defRPr sz="1050" b="0">
                <a:solidFill>
                  <a:srgbClr val="566572"/>
                </a:solidFill>
                <a:latin typeface="Noto Sans"/>
              </a:defRPr>
            </a:pPr>
            <a:r>
              <a:t>mean within-participant SD of total tetrahedral element count • hippocampus</a:t>
            </a:r>
          </a:p>
        </p:txBody>
      </p:sp>
      <p:sp>
        <p:nvSpPr>
          <p:cNvPr id="14" name="Rounded Rectangle 13"/>
          <p:cNvSpPr/>
          <p:nvPr/>
        </p:nvSpPr>
        <p:spPr>
          <a:xfrm>
            <a:off x="8586216" y="3063240"/>
            <a:ext cx="3017520" cy="13990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86216" y="3063240"/>
            <a:ext cx="64008" cy="139903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87384" y="3209544"/>
            <a:ext cx="2670048" cy="429768"/>
          </a:xfrm>
          <a:prstGeom prst="rect">
            <a:avLst/>
          </a:prstGeom>
          <a:noFill/>
        </p:spPr>
        <p:txBody>
          <a:bodyPr wrap="square" lIns="36576" rIns="36576" tIns="0" bIns="0" anchor="t">
            <a:spAutoFit/>
          </a:bodyPr>
          <a:lstStyle/>
          <a:p>
            <a:pPr algn="l">
              <a:defRPr sz="2600" b="1">
                <a:solidFill>
                  <a:srgbClr val="1B8B7E"/>
                </a:solidFill>
                <a:latin typeface="Noto Sans"/>
              </a:defRPr>
            </a:pPr>
            <a:r>
              <a:t>7,704</a:t>
            </a:r>
          </a:p>
        </p:txBody>
      </p:sp>
      <p:sp>
        <p:nvSpPr>
          <p:cNvPr id="17" name="TextBox 16"/>
          <p:cNvSpPr txBox="1"/>
          <p:nvPr/>
        </p:nvSpPr>
        <p:spPr>
          <a:xfrm>
            <a:off x="8787384" y="3721608"/>
            <a:ext cx="2670048" cy="649224"/>
          </a:xfrm>
          <a:prstGeom prst="rect">
            <a:avLst/>
          </a:prstGeom>
          <a:noFill/>
        </p:spPr>
        <p:txBody>
          <a:bodyPr wrap="square" lIns="36576" rIns="36576" tIns="0" bIns="0" anchor="t">
            <a:spAutoFit/>
          </a:bodyPr>
          <a:lstStyle/>
          <a:p>
            <a:pPr algn="l">
              <a:defRPr sz="1050" b="0">
                <a:solidFill>
                  <a:srgbClr val="566572"/>
                </a:solidFill>
                <a:latin typeface="Noto Sans"/>
              </a:defRPr>
            </a:pPr>
            <a:r>
              <a:t>mean within-participant SD of total tetrahedral element count • M1</a:t>
            </a:r>
          </a:p>
        </p:txBody>
      </p:sp>
      <p:sp>
        <p:nvSpPr>
          <p:cNvPr id="18" name="Rounded Rectangle 17"/>
          <p:cNvSpPr/>
          <p:nvPr/>
        </p:nvSpPr>
        <p:spPr>
          <a:xfrm>
            <a:off x="8586216" y="4690872"/>
            <a:ext cx="3017520" cy="1325880"/>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42248" y="4937760"/>
            <a:ext cx="2496312" cy="237744"/>
          </a:xfrm>
          <a:prstGeom prst="rect">
            <a:avLst/>
          </a:prstGeom>
          <a:noFill/>
        </p:spPr>
        <p:txBody>
          <a:bodyPr wrap="square" lIns="36576" rIns="36576" tIns="0" bIns="0" anchor="t">
            <a:spAutoFit/>
          </a:bodyPr>
          <a:lstStyle/>
          <a:p>
            <a:pPr algn="l">
              <a:defRPr sz="1100" b="1">
                <a:solidFill>
                  <a:srgbClr val="C25B23"/>
                </a:solidFill>
                <a:latin typeface="Noto Sans"/>
              </a:defRPr>
            </a:pPr>
            <a:r>
              <a:t>Interpret carefully</a:t>
            </a:r>
          </a:p>
        </p:txBody>
      </p:sp>
      <p:sp>
        <p:nvSpPr>
          <p:cNvPr id="20" name="TextBox 19"/>
          <p:cNvSpPr txBox="1"/>
          <p:nvPr/>
        </p:nvSpPr>
        <p:spPr>
          <a:xfrm>
            <a:off x="8842248" y="5303520"/>
            <a:ext cx="2496312" cy="530352"/>
          </a:xfrm>
          <a:prstGeom prst="rect">
            <a:avLst/>
          </a:prstGeom>
          <a:noFill/>
        </p:spPr>
        <p:txBody>
          <a:bodyPr wrap="square" lIns="36576" rIns="36576" tIns="0" bIns="0" anchor="t">
            <a:spAutoFit/>
          </a:bodyPr>
          <a:lstStyle/>
          <a:p>
            <a:pPr algn="l">
              <a:defRPr sz="1200" b="0">
                <a:solidFill>
                  <a:srgbClr val="1D2730"/>
                </a:solidFill>
                <a:latin typeface="Noto Sans"/>
              </a:defRPr>
            </a:pPr>
            <a:r>
              <a:t>Element count and tissue fractions confirm different realizations; they do not identify the causal boundary change.</a:t>
            </a:r>
          </a:p>
        </p:txBody>
      </p:sp>
      <p:sp>
        <p:nvSpPr>
          <p:cNvPr id="21" name="TextBox 20"/>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Tissue deviations are percentage points from each tissue's 40-repeat mean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NESTED DESIGN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nested design creates two separable levels of technical variation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10</a:t>
            </a:r>
          </a:p>
        </p:txBody>
      </p:sp>
      <p:sp>
        <p:nvSpPr>
          <p:cNvPr id="7" name="Rounded Rectangle 6"/>
          <p:cNvSpPr/>
          <p:nvPr/>
        </p:nvSpPr>
        <p:spPr>
          <a:xfrm>
            <a:off x="566928" y="1353312"/>
            <a:ext cx="6446520" cy="452628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64208"/>
            <a:ext cx="2560320" cy="292608"/>
          </a:xfrm>
          <a:prstGeom prst="rect">
            <a:avLst/>
          </a:prstGeom>
          <a:noFill/>
        </p:spPr>
        <p:txBody>
          <a:bodyPr wrap="square" lIns="36576" rIns="36576" tIns="0" bIns="0" anchor="t">
            <a:spAutoFit/>
          </a:bodyPr>
          <a:lstStyle/>
          <a:p>
            <a:pPr algn="l">
              <a:defRPr sz="1800" b="1">
                <a:solidFill>
                  <a:srgbClr val="194874"/>
                </a:solidFill>
                <a:latin typeface="Noto Sans"/>
              </a:defRPr>
            </a:pPr>
            <a:r>
              <a:t>40 independent meshes</a:t>
            </a:r>
          </a:p>
        </p:txBody>
      </p:sp>
      <p:sp>
        <p:nvSpPr>
          <p:cNvPr id="9" name="TextBox 8"/>
          <p:cNvSpPr txBox="1"/>
          <p:nvPr/>
        </p:nvSpPr>
        <p:spPr>
          <a:xfrm>
            <a:off x="3236976" y="1691640"/>
            <a:ext cx="3246120" cy="256032"/>
          </a:xfrm>
          <a:prstGeom prst="rect">
            <a:avLst/>
          </a:prstGeom>
          <a:noFill/>
        </p:spPr>
        <p:txBody>
          <a:bodyPr wrap="square" lIns="36576" rIns="36576" tIns="0" bIns="0" anchor="t">
            <a:spAutoFit/>
          </a:bodyPr>
          <a:lstStyle/>
          <a:p>
            <a:pPr algn="r">
              <a:defRPr sz="1300" b="0">
                <a:solidFill>
                  <a:srgbClr val="566572"/>
                </a:solidFill>
                <a:latin typeface="Noto Sans"/>
              </a:defRPr>
            </a:pPr>
            <a:r>
              <a:t>each reused for 40 complete solutions</a:t>
            </a:r>
          </a:p>
        </p:txBody>
      </p:sp>
      <p:sp>
        <p:nvSpPr>
          <p:cNvPr id="10" name="TextBox 9"/>
          <p:cNvSpPr txBox="1"/>
          <p:nvPr/>
        </p:nvSpPr>
        <p:spPr>
          <a:xfrm>
            <a:off x="877824" y="2313432"/>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01</a:t>
            </a:r>
          </a:p>
        </p:txBody>
      </p:sp>
      <p:sp>
        <p:nvSpPr>
          <p:cNvPr id="11" name="Oval 10"/>
          <p:cNvSpPr/>
          <p:nvPr/>
        </p:nvSpPr>
        <p:spPr>
          <a:xfrm>
            <a:off x="182880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24028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5176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6324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472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8620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29768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70916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12064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53212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62472" y="2231136"/>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22" name="TextBox 21"/>
          <p:cNvSpPr txBox="1"/>
          <p:nvPr/>
        </p:nvSpPr>
        <p:spPr>
          <a:xfrm>
            <a:off x="877824" y="2944368"/>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02</a:t>
            </a:r>
          </a:p>
        </p:txBody>
      </p:sp>
      <p:sp>
        <p:nvSpPr>
          <p:cNvPr id="23" name="Oval 22"/>
          <p:cNvSpPr/>
          <p:nvPr/>
        </p:nvSpPr>
        <p:spPr>
          <a:xfrm>
            <a:off x="182880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24028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65176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06324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47472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8620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9768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0916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12064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53212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62472" y="2862072"/>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34" name="TextBox 33"/>
          <p:cNvSpPr txBox="1"/>
          <p:nvPr/>
        </p:nvSpPr>
        <p:spPr>
          <a:xfrm>
            <a:off x="877824" y="3575304"/>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03</a:t>
            </a:r>
          </a:p>
        </p:txBody>
      </p:sp>
      <p:sp>
        <p:nvSpPr>
          <p:cNvPr id="35" name="Oval 34"/>
          <p:cNvSpPr/>
          <p:nvPr/>
        </p:nvSpPr>
        <p:spPr>
          <a:xfrm>
            <a:off x="182880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24028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5176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324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7472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88620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29768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70916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2064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53212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62472" y="3493008"/>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46" name="TextBox 45"/>
          <p:cNvSpPr txBox="1"/>
          <p:nvPr/>
        </p:nvSpPr>
        <p:spPr>
          <a:xfrm>
            <a:off x="877824" y="4206240"/>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04</a:t>
            </a:r>
          </a:p>
        </p:txBody>
      </p:sp>
      <p:sp>
        <p:nvSpPr>
          <p:cNvPr id="47" name="Oval 46"/>
          <p:cNvSpPr/>
          <p:nvPr/>
        </p:nvSpPr>
        <p:spPr>
          <a:xfrm>
            <a:off x="182880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24028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65176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06324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7472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88620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29768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70916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12064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53212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062472" y="4123944"/>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58" name="TextBox 57"/>
          <p:cNvSpPr txBox="1"/>
          <p:nvPr/>
        </p:nvSpPr>
        <p:spPr>
          <a:xfrm>
            <a:off x="877824" y="4837175"/>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05</a:t>
            </a:r>
          </a:p>
        </p:txBody>
      </p:sp>
      <p:sp>
        <p:nvSpPr>
          <p:cNvPr id="59" name="Oval 58"/>
          <p:cNvSpPr/>
          <p:nvPr/>
        </p:nvSpPr>
        <p:spPr>
          <a:xfrm>
            <a:off x="182880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24028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65176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06324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47472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88620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29768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70916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12064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53212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062472" y="4754879"/>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70" name="TextBox 69"/>
          <p:cNvSpPr txBox="1"/>
          <p:nvPr/>
        </p:nvSpPr>
        <p:spPr>
          <a:xfrm>
            <a:off x="877824" y="5468112"/>
            <a:ext cx="786384" cy="219456"/>
          </a:xfrm>
          <a:prstGeom prst="rect">
            <a:avLst/>
          </a:prstGeom>
          <a:noFill/>
        </p:spPr>
        <p:txBody>
          <a:bodyPr wrap="square" lIns="36576" rIns="36576" tIns="0" bIns="0" anchor="t">
            <a:spAutoFit/>
          </a:bodyPr>
          <a:lstStyle/>
          <a:p>
            <a:pPr algn="r">
              <a:defRPr sz="1600" b="0">
                <a:solidFill>
                  <a:srgbClr val="566572"/>
                </a:solidFill>
                <a:latin typeface="Noto Sans"/>
              </a:defRPr>
            </a:pPr>
            <a:r>
              <a:t>⋮</a:t>
            </a:r>
          </a:p>
        </p:txBody>
      </p:sp>
      <p:sp>
        <p:nvSpPr>
          <p:cNvPr id="71" name="TextBox 70"/>
          <p:cNvSpPr txBox="1"/>
          <p:nvPr/>
        </p:nvSpPr>
        <p:spPr>
          <a:xfrm>
            <a:off x="1819656" y="5422392"/>
            <a:ext cx="4480560" cy="274320"/>
          </a:xfrm>
          <a:prstGeom prst="rect">
            <a:avLst/>
          </a:prstGeom>
          <a:noFill/>
        </p:spPr>
        <p:txBody>
          <a:bodyPr wrap="square" lIns="36576" rIns="36576" tIns="0" bIns="0" anchor="t">
            <a:spAutoFit/>
          </a:bodyPr>
          <a:lstStyle/>
          <a:p>
            <a:pPr algn="ctr">
              <a:defRPr sz="1100" b="1">
                <a:solidFill>
                  <a:srgbClr val="194874"/>
                </a:solidFill>
                <a:latin typeface="Noto Sans"/>
              </a:defRPr>
            </a:pPr>
            <a:r>
              <a:t>40 repeats conditional on the same geometry</a:t>
            </a:r>
          </a:p>
        </p:txBody>
      </p:sp>
      <p:sp>
        <p:nvSpPr>
          <p:cNvPr id="80" name="TextBox 79"/>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One fixed participant and target • 40 independently generated meshes • 40 complete solutions per mesh</a:t>
            </a:r>
          </a:p>
        </p:txBody>
      </p:sp>
      <p:sp>
        <p:nvSpPr>
          <p:cNvPr id="81" name="Rounded Rectangle 80"/>
          <p:cNvSpPr/>
          <p:nvPr/>
        </p:nvSpPr>
        <p:spPr>
          <a:xfrm>
            <a:off x="7223760" y="1353312"/>
            <a:ext cx="4389120" cy="1307592"/>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223760" y="1353312"/>
            <a:ext cx="73152" cy="1307592"/>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98079" y="1517904"/>
            <a:ext cx="2468880" cy="182880"/>
          </a:xfrm>
          <a:prstGeom prst="rect">
            <a:avLst/>
          </a:prstGeom>
          <a:noFill/>
        </p:spPr>
        <p:txBody>
          <a:bodyPr wrap="square" lIns="36576" rIns="36576" tIns="0" bIns="0" anchor="t">
            <a:spAutoFit/>
          </a:bodyPr>
          <a:lstStyle/>
          <a:p>
            <a:pPr algn="l">
              <a:defRPr sz="900" b="1">
                <a:solidFill>
                  <a:srgbClr val="194874"/>
                </a:solidFill>
                <a:latin typeface="Noto Sans"/>
              </a:defRPr>
            </a:pPr>
            <a:r>
              <a:t>BALANCED</a:t>
            </a:r>
          </a:p>
        </p:txBody>
      </p:sp>
      <p:sp>
        <p:nvSpPr>
          <p:cNvPr id="84" name="TextBox 83"/>
          <p:cNvSpPr txBox="1"/>
          <p:nvPr/>
        </p:nvSpPr>
        <p:spPr>
          <a:xfrm>
            <a:off x="7498079" y="1783080"/>
            <a:ext cx="3657600" cy="347472"/>
          </a:xfrm>
          <a:prstGeom prst="rect">
            <a:avLst/>
          </a:prstGeom>
          <a:noFill/>
        </p:spPr>
        <p:txBody>
          <a:bodyPr wrap="square" lIns="36576" rIns="36576" tIns="0" bIns="0" anchor="t">
            <a:spAutoFit/>
          </a:bodyPr>
          <a:lstStyle/>
          <a:p>
            <a:pPr algn="l">
              <a:defRPr sz="1520" b="1">
                <a:solidFill>
                  <a:srgbClr val="0C1E30"/>
                </a:solidFill>
                <a:latin typeface="Noto Sans"/>
              </a:defRPr>
            </a:pPr>
            <a:r>
              <a:t>40 meshes × 40 solutions</a:t>
            </a:r>
          </a:p>
        </p:txBody>
      </p:sp>
      <p:sp>
        <p:nvSpPr>
          <p:cNvPr id="85" name="TextBox 84"/>
          <p:cNvSpPr txBox="1"/>
          <p:nvPr/>
        </p:nvSpPr>
        <p:spPr>
          <a:xfrm>
            <a:off x="7498079" y="2231136"/>
            <a:ext cx="3657600" cy="310896"/>
          </a:xfrm>
          <a:prstGeom prst="rect">
            <a:avLst/>
          </a:prstGeom>
          <a:noFill/>
        </p:spPr>
        <p:txBody>
          <a:bodyPr wrap="square" lIns="36576" rIns="36576" tIns="0" bIns="0" anchor="t">
            <a:spAutoFit/>
          </a:bodyPr>
          <a:lstStyle/>
          <a:p>
            <a:pPr algn="l">
              <a:defRPr sz="950" b="0">
                <a:solidFill>
                  <a:srgbClr val="566572"/>
                </a:solidFill>
                <a:latin typeface="Noto Sans"/>
              </a:defRPr>
            </a:pPr>
            <a:r>
              <a:t>Every mesh contributes the same number of observations and therefore has equal weight.</a:t>
            </a:r>
          </a:p>
        </p:txBody>
      </p:sp>
      <p:sp>
        <p:nvSpPr>
          <p:cNvPr id="86" name="Rounded Rectangle 85"/>
          <p:cNvSpPr/>
          <p:nvPr/>
        </p:nvSpPr>
        <p:spPr>
          <a:xfrm>
            <a:off x="7223760" y="2816352"/>
            <a:ext cx="4389120" cy="1307592"/>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223760" y="2816352"/>
            <a:ext cx="73152" cy="130759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98079" y="2980944"/>
            <a:ext cx="2468880" cy="182880"/>
          </a:xfrm>
          <a:prstGeom prst="rect">
            <a:avLst/>
          </a:prstGeom>
          <a:noFill/>
        </p:spPr>
        <p:txBody>
          <a:bodyPr wrap="square" lIns="36576" rIns="36576" tIns="0" bIns="0" anchor="t">
            <a:spAutoFit/>
          </a:bodyPr>
          <a:lstStyle/>
          <a:p>
            <a:pPr algn="l">
              <a:defRPr sz="900" b="1">
                <a:solidFill>
                  <a:srgbClr val="1B8B7E"/>
                </a:solidFill>
                <a:latin typeface="Noto Sans"/>
              </a:defRPr>
            </a:pPr>
            <a:r>
              <a:t>NESTED</a:t>
            </a:r>
          </a:p>
        </p:txBody>
      </p:sp>
      <p:sp>
        <p:nvSpPr>
          <p:cNvPr id="89" name="TextBox 88"/>
          <p:cNvSpPr txBox="1"/>
          <p:nvPr/>
        </p:nvSpPr>
        <p:spPr>
          <a:xfrm>
            <a:off x="7498079" y="3246120"/>
            <a:ext cx="3657600" cy="347472"/>
          </a:xfrm>
          <a:prstGeom prst="rect">
            <a:avLst/>
          </a:prstGeom>
          <a:noFill/>
        </p:spPr>
        <p:txBody>
          <a:bodyPr wrap="square" lIns="36576" rIns="36576" tIns="0" bIns="0" anchor="t">
            <a:spAutoFit/>
          </a:bodyPr>
          <a:lstStyle/>
          <a:p>
            <a:pPr algn="l">
              <a:defRPr sz="1520" b="1">
                <a:solidFill>
                  <a:srgbClr val="0C1E30"/>
                </a:solidFill>
                <a:latin typeface="Noto Sans"/>
              </a:defRPr>
            </a:pPr>
            <a:r>
              <a:t>Each solution belongs to one mesh</a:t>
            </a:r>
          </a:p>
        </p:txBody>
      </p:sp>
      <p:sp>
        <p:nvSpPr>
          <p:cNvPr id="90" name="TextBox 89"/>
          <p:cNvSpPr txBox="1"/>
          <p:nvPr/>
        </p:nvSpPr>
        <p:spPr>
          <a:xfrm>
            <a:off x="7498079" y="3694176"/>
            <a:ext cx="3657600" cy="310896"/>
          </a:xfrm>
          <a:prstGeom prst="rect">
            <a:avLst/>
          </a:prstGeom>
          <a:noFill/>
        </p:spPr>
        <p:txBody>
          <a:bodyPr wrap="square" lIns="36576" rIns="36576" tIns="0" bIns="0" anchor="t">
            <a:spAutoFit/>
          </a:bodyPr>
          <a:lstStyle/>
          <a:p>
            <a:pPr algn="l">
              <a:defRPr sz="950" b="0">
                <a:solidFill>
                  <a:srgbClr val="566572"/>
                </a:solidFill>
                <a:latin typeface="Noto Sans"/>
              </a:defRPr>
            </a:pPr>
            <a:r>
              <a:t>Within-mesh comparisons hold the geometry fixed; mesh means are compared across geometries.</a:t>
            </a:r>
          </a:p>
        </p:txBody>
      </p:sp>
      <p:sp>
        <p:nvSpPr>
          <p:cNvPr id="91" name="Rounded Rectangle 90"/>
          <p:cNvSpPr/>
          <p:nvPr/>
        </p:nvSpPr>
        <p:spPr>
          <a:xfrm>
            <a:off x="7223760" y="4279392"/>
            <a:ext cx="4389120" cy="1307592"/>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223760" y="4279392"/>
            <a:ext cx="73152" cy="1307592"/>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498079" y="4443983"/>
            <a:ext cx="2468880" cy="182880"/>
          </a:xfrm>
          <a:prstGeom prst="rect">
            <a:avLst/>
          </a:prstGeom>
          <a:noFill/>
        </p:spPr>
        <p:txBody>
          <a:bodyPr wrap="square" lIns="36576" rIns="36576" tIns="0" bIns="0" anchor="t">
            <a:spAutoFit/>
          </a:bodyPr>
          <a:lstStyle/>
          <a:p>
            <a:pPr algn="l">
              <a:defRPr sz="900" b="1">
                <a:solidFill>
                  <a:srgbClr val="C25B23"/>
                </a:solidFill>
                <a:latin typeface="Noto Sans"/>
              </a:defRPr>
            </a:pPr>
            <a:r>
              <a:t>RANDOM MESH EFFECT</a:t>
            </a:r>
          </a:p>
        </p:txBody>
      </p:sp>
      <p:sp>
        <p:nvSpPr>
          <p:cNvPr id="94" name="TextBox 93"/>
          <p:cNvSpPr txBox="1"/>
          <p:nvPr/>
        </p:nvSpPr>
        <p:spPr>
          <a:xfrm>
            <a:off x="7498079" y="4709159"/>
            <a:ext cx="3657600" cy="347472"/>
          </a:xfrm>
          <a:prstGeom prst="rect">
            <a:avLst/>
          </a:prstGeom>
          <a:noFill/>
        </p:spPr>
        <p:txBody>
          <a:bodyPr wrap="square" lIns="36576" rIns="36576" tIns="0" bIns="0" anchor="t">
            <a:spAutoFit/>
          </a:bodyPr>
          <a:lstStyle/>
          <a:p>
            <a:pPr algn="l">
              <a:defRPr sz="1520" b="1">
                <a:solidFill>
                  <a:srgbClr val="0C1E30"/>
                </a:solidFill>
                <a:latin typeface="Noto Sans"/>
              </a:defRPr>
            </a:pPr>
            <a:r>
              <a:t>Meshes are sampled realizations</a:t>
            </a:r>
          </a:p>
        </p:txBody>
      </p:sp>
      <p:sp>
        <p:nvSpPr>
          <p:cNvPr id="95" name="TextBox 94"/>
          <p:cNvSpPr txBox="1"/>
          <p:nvPr/>
        </p:nvSpPr>
        <p:spPr>
          <a:xfrm>
            <a:off x="7498079" y="5157216"/>
            <a:ext cx="3657600" cy="310896"/>
          </a:xfrm>
          <a:prstGeom prst="rect">
            <a:avLst/>
          </a:prstGeom>
          <a:noFill/>
        </p:spPr>
        <p:txBody>
          <a:bodyPr wrap="square" lIns="36576" rIns="36576" tIns="0" bIns="0" anchor="t">
            <a:spAutoFit/>
          </a:bodyPr>
          <a:lstStyle/>
          <a:p>
            <a:pPr algn="l">
              <a:defRPr sz="950" b="0">
                <a:solidFill>
                  <a:srgbClr val="566572"/>
                </a:solidFill>
                <a:latin typeface="Noto Sans"/>
              </a:defRPr>
            </a:pPr>
            <a:r>
              <a:t>The goal is to estimate pipeline variability—not to compare named meshes as conditions.</a:t>
            </a:r>
          </a:p>
        </p:txBody>
      </p:sp>
      <p:sp>
        <p:nvSpPr>
          <p:cNvPr id="96" name="Rounded Rectangle 95"/>
          <p:cNvSpPr/>
          <p:nvPr/>
        </p:nvSpPr>
        <p:spPr>
          <a:xfrm>
            <a:off x="7223760" y="5751576"/>
            <a:ext cx="4389120" cy="466344"/>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424927" y="5852160"/>
            <a:ext cx="3977639" cy="237744"/>
          </a:xfrm>
          <a:prstGeom prst="rect">
            <a:avLst/>
          </a:prstGeom>
          <a:noFill/>
        </p:spPr>
        <p:txBody>
          <a:bodyPr wrap="square" lIns="36576" rIns="36576" tIns="0" bIns="0" anchor="t">
            <a:spAutoFit/>
          </a:bodyPr>
          <a:lstStyle/>
          <a:p>
            <a:pPr algn="ctr">
              <a:defRPr sz="1019" b="1">
                <a:solidFill>
                  <a:srgbClr val="1D2730"/>
                </a:solidFill>
                <a:latin typeface="Noto Sans"/>
              </a:defRPr>
            </a:pPr>
            <a:r>
              <a:t>Two questions: how far apart are mesh means, and how tightly do repeats cluster within a mesh?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4 • FULLY NESTED SUBJECT</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nested case assigns virtually all observed variance to mesh generation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12</a:t>
            </a:r>
          </a:p>
        </p:txBody>
      </p:sp>
      <p:sp>
        <p:nvSpPr>
          <p:cNvPr id="7" name="Rounded Rectangle 6"/>
          <p:cNvSpPr/>
          <p:nvPr/>
        </p:nvSpPr>
        <p:spPr>
          <a:xfrm>
            <a:off x="457200" y="1188720"/>
            <a:ext cx="11274552" cy="510235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nested_mesh_by_solver_repeatability.png"/>
          <p:cNvPicPr>
            <a:picLocks noChangeAspect="1"/>
          </p:cNvPicPr>
          <p:nvPr/>
        </p:nvPicPr>
        <p:blipFill>
          <a:blip r:embed="rId2"/>
          <a:stretch>
            <a:fillRect/>
          </a:stretch>
        </p:blipFill>
        <p:spPr>
          <a:xfrm>
            <a:off x="1891953" y="1298448"/>
            <a:ext cx="8395901" cy="4572000"/>
          </a:xfrm>
          <a:prstGeom prst="rect">
            <a:avLst/>
          </a:prstGeom>
        </p:spPr>
      </p:pic>
      <p:sp>
        <p:nvSpPr>
          <p:cNvPr id="9" name="Rounded Rectangle 8"/>
          <p:cNvSpPr/>
          <p:nvPr/>
        </p:nvSpPr>
        <p:spPr>
          <a:xfrm>
            <a:off x="749808" y="5934456"/>
            <a:ext cx="10680192" cy="301752"/>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016752"/>
            <a:ext cx="10369296" cy="146304"/>
          </a:xfrm>
          <a:prstGeom prst="rect">
            <a:avLst/>
          </a:prstGeom>
          <a:noFill/>
        </p:spPr>
        <p:txBody>
          <a:bodyPr wrap="square" lIns="36576" rIns="36576" tIns="0" bIns="0" anchor="t">
            <a:spAutoFit/>
          </a:bodyPr>
          <a:lstStyle/>
          <a:p>
            <a:pPr algn="ctr">
              <a:defRPr sz="950" b="1">
                <a:solidFill>
                  <a:srgbClr val="1D2730"/>
                </a:solidFill>
                <a:latin typeface="Noto Sans"/>
              </a:defRPr>
            </a:pPr>
            <a:r>
              <a:t>Boundary: one participant • one target • one workflow. Source attribution, not population prevalence.</a:t>
            </a:r>
          </a:p>
        </p:txBody>
      </p:sp>
      <p:sp>
        <p:nvSpPr>
          <p:cNvPr id="11" name="TextBox 10"/>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Between-mesh CV 2.018% • within-mesh CV 0.0040% • SD ratio 501×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SENSITIVITY • FIXED MNI152 MODEL</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Version sensitivity is systematic in amplitude—not spatial pattern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13</a:t>
            </a:r>
          </a:p>
        </p:txBody>
      </p:sp>
      <p:sp>
        <p:nvSpPr>
          <p:cNvPr id="7" name="Rounded Rectangle 6"/>
          <p:cNvSpPr/>
          <p:nvPr/>
        </p:nvSpPr>
        <p:spPr>
          <a:xfrm>
            <a:off x="457200" y="1280160"/>
            <a:ext cx="7818120" cy="509320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_01_mean_roi_field_by_version.png"/>
          <p:cNvPicPr>
            <a:picLocks noChangeAspect="1"/>
          </p:cNvPicPr>
          <p:nvPr/>
        </p:nvPicPr>
        <p:blipFill>
          <a:blip r:embed="rId2"/>
          <a:stretch>
            <a:fillRect/>
          </a:stretch>
        </p:blipFill>
        <p:spPr>
          <a:xfrm>
            <a:off x="592259" y="1344168"/>
            <a:ext cx="7548000" cy="4937760"/>
          </a:xfrm>
          <a:prstGeom prst="rect">
            <a:avLst/>
          </a:prstGeom>
        </p:spPr>
      </p:pic>
      <p:sp>
        <p:nvSpPr>
          <p:cNvPr id="9" name="Rounded Rectangle 8"/>
          <p:cNvSpPr/>
          <p:nvPr/>
        </p:nvSpPr>
        <p:spPr>
          <a:xfrm>
            <a:off x="8485632" y="1344168"/>
            <a:ext cx="3182112" cy="1207008"/>
          </a:xfrm>
          <a:prstGeom prst="roundRect">
            <a:avLst/>
          </a:prstGeom>
          <a:solidFill>
            <a:srgbClr val="FCECE2"/>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85632" y="1344168"/>
            <a:ext cx="64008" cy="120700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490472"/>
            <a:ext cx="2834640" cy="429768"/>
          </a:xfrm>
          <a:prstGeom prst="rect">
            <a:avLst/>
          </a:prstGeom>
          <a:noFill/>
        </p:spPr>
        <p:txBody>
          <a:bodyPr wrap="square" lIns="36576" rIns="36576" tIns="0" bIns="0" anchor="t">
            <a:spAutoFit/>
          </a:bodyPr>
          <a:lstStyle/>
          <a:p>
            <a:pPr algn="l">
              <a:defRPr sz="2500" b="1">
                <a:solidFill>
                  <a:srgbClr val="C25B23"/>
                </a:solidFill>
                <a:latin typeface="Noto Sans"/>
              </a:defRPr>
            </a:pPr>
            <a:r>
              <a:t>4 / 4</a:t>
            </a:r>
          </a:p>
        </p:txBody>
      </p:sp>
      <p:sp>
        <p:nvSpPr>
          <p:cNvPr id="12" name="TextBox 11"/>
          <p:cNvSpPr txBox="1"/>
          <p:nvPr/>
        </p:nvSpPr>
        <p:spPr>
          <a:xfrm>
            <a:off x="8686800" y="2002536"/>
            <a:ext cx="2834640" cy="457200"/>
          </a:xfrm>
          <a:prstGeom prst="rect">
            <a:avLst/>
          </a:prstGeom>
          <a:noFill/>
        </p:spPr>
        <p:txBody>
          <a:bodyPr wrap="square" lIns="36576" rIns="36576" tIns="0" bIns="0" anchor="t">
            <a:spAutoFit/>
          </a:bodyPr>
          <a:lstStyle/>
          <a:p>
            <a:pPr algn="l">
              <a:defRPr sz="1050" b="0">
                <a:solidFill>
                  <a:srgbClr val="566572"/>
                </a:solidFill>
                <a:latin typeface="Noto Sans"/>
              </a:defRPr>
            </a:pPr>
            <a:r>
              <a:t>ROIs lower under SimNIBS 4.0.1</a:t>
            </a:r>
          </a:p>
        </p:txBody>
      </p:sp>
      <p:sp>
        <p:nvSpPr>
          <p:cNvPr id="13" name="Rounded Rectangle 12"/>
          <p:cNvSpPr/>
          <p:nvPr/>
        </p:nvSpPr>
        <p:spPr>
          <a:xfrm>
            <a:off x="8485632" y="2761488"/>
            <a:ext cx="3182112" cy="1207008"/>
          </a:xfrm>
          <a:prstGeom prst="roundRect">
            <a:avLst/>
          </a:prstGeom>
          <a:solidFill>
            <a:srgbClr val="E0EFF9"/>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85632" y="2761488"/>
            <a:ext cx="64008" cy="1207008"/>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2907792"/>
            <a:ext cx="2834640" cy="429768"/>
          </a:xfrm>
          <a:prstGeom prst="rect">
            <a:avLst/>
          </a:prstGeom>
          <a:noFill/>
        </p:spPr>
        <p:txBody>
          <a:bodyPr wrap="square" lIns="36576" rIns="36576" tIns="0" bIns="0" anchor="t">
            <a:spAutoFit/>
          </a:bodyPr>
          <a:lstStyle/>
          <a:p>
            <a:pPr algn="l">
              <a:defRPr sz="2000" b="1">
                <a:solidFill>
                  <a:srgbClr val="194874"/>
                </a:solidFill>
                <a:latin typeface="Noto Sans"/>
              </a:defRPr>
            </a:pPr>
            <a:r>
              <a:t>−1.13% to −2.97%</a:t>
            </a:r>
          </a:p>
        </p:txBody>
      </p:sp>
      <p:sp>
        <p:nvSpPr>
          <p:cNvPr id="16" name="TextBox 15"/>
          <p:cNvSpPr txBox="1"/>
          <p:nvPr/>
        </p:nvSpPr>
        <p:spPr>
          <a:xfrm>
            <a:off x="8686800" y="3419856"/>
            <a:ext cx="2834640" cy="457200"/>
          </a:xfrm>
          <a:prstGeom prst="rect">
            <a:avLst/>
          </a:prstGeom>
          <a:noFill/>
        </p:spPr>
        <p:txBody>
          <a:bodyPr wrap="square" lIns="36576" rIns="36576" tIns="0" bIns="0" anchor="t">
            <a:spAutoFit/>
          </a:bodyPr>
          <a:lstStyle/>
          <a:p>
            <a:pPr algn="l">
              <a:defRPr sz="1050" b="0">
                <a:solidFill>
                  <a:srgbClr val="566572"/>
                </a:solidFill>
                <a:latin typeface="Noto Sans"/>
              </a:defRPr>
            </a:pPr>
            <a:r>
              <a:t>change in mean field, 4.0.1 versus 4.5.0</a:t>
            </a:r>
          </a:p>
        </p:txBody>
      </p:sp>
      <p:sp>
        <p:nvSpPr>
          <p:cNvPr id="17" name="Rounded Rectangle 16"/>
          <p:cNvSpPr/>
          <p:nvPr/>
        </p:nvSpPr>
        <p:spPr>
          <a:xfrm>
            <a:off x="8485632" y="4178808"/>
            <a:ext cx="3182112" cy="1207008"/>
          </a:xfrm>
          <a:prstGeom prst="roundRect">
            <a:avLst/>
          </a:prstGeom>
          <a:solidFill>
            <a:srgbClr val="E0F4F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85632" y="4178808"/>
            <a:ext cx="64008" cy="120700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4325112"/>
            <a:ext cx="2834640" cy="429768"/>
          </a:xfrm>
          <a:prstGeom prst="rect">
            <a:avLst/>
          </a:prstGeom>
          <a:noFill/>
        </p:spPr>
        <p:txBody>
          <a:bodyPr wrap="square" lIns="36576" rIns="36576" tIns="0" bIns="0" anchor="t">
            <a:spAutoFit/>
          </a:bodyPr>
          <a:lstStyle/>
          <a:p>
            <a:pPr algn="l">
              <a:defRPr sz="2200" b="1">
                <a:solidFill>
                  <a:srgbClr val="1B8B7E"/>
                </a:solidFill>
                <a:latin typeface="Noto Sans"/>
              </a:defRPr>
            </a:pPr>
            <a:r>
              <a:t>r ≥ 0.99983</a:t>
            </a:r>
          </a:p>
        </p:txBody>
      </p:sp>
      <p:sp>
        <p:nvSpPr>
          <p:cNvPr id="20" name="TextBox 19"/>
          <p:cNvSpPr txBox="1"/>
          <p:nvPr/>
        </p:nvSpPr>
        <p:spPr>
          <a:xfrm>
            <a:off x="8686800" y="4837176"/>
            <a:ext cx="2834640" cy="457200"/>
          </a:xfrm>
          <a:prstGeom prst="rect">
            <a:avLst/>
          </a:prstGeom>
          <a:noFill/>
        </p:spPr>
        <p:txBody>
          <a:bodyPr wrap="square" lIns="36576" rIns="36576" tIns="0" bIns="0" anchor="t">
            <a:spAutoFit/>
          </a:bodyPr>
          <a:lstStyle/>
          <a:p>
            <a:pPr algn="l">
              <a:defRPr sz="1050" b="0">
                <a:solidFill>
                  <a:srgbClr val="566572"/>
                </a:solidFill>
                <a:latin typeface="Noto Sans"/>
              </a:defRPr>
            </a:pPr>
            <a:r>
              <a:t>whole-brain voxelwise agreement</a:t>
            </a:r>
          </a:p>
        </p:txBody>
      </p:sp>
      <p:sp>
        <p:nvSpPr>
          <p:cNvPr id="21" name="Rounded Rectangle 20"/>
          <p:cNvSpPr/>
          <p:nvPr/>
        </p:nvSpPr>
        <p:spPr>
          <a:xfrm>
            <a:off x="8485632" y="5605272"/>
            <a:ext cx="3182112" cy="603504"/>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9368" y="5742432"/>
            <a:ext cx="2834640" cy="320040"/>
          </a:xfrm>
          <a:prstGeom prst="rect">
            <a:avLst/>
          </a:prstGeom>
          <a:noFill/>
        </p:spPr>
        <p:txBody>
          <a:bodyPr wrap="square" lIns="36576" rIns="36576" tIns="0" bIns="0" anchor="t">
            <a:spAutoFit/>
          </a:bodyPr>
          <a:lstStyle/>
          <a:p>
            <a:pPr algn="ctr">
              <a:defRPr sz="1050" b="1">
                <a:solidFill>
                  <a:srgbClr val="1D2730"/>
                </a:solidFill>
                <a:latin typeface="Noto Sans"/>
              </a:defRPr>
            </a:pPr>
            <a:r>
              <a:t>One fixed model: software sensitivity, not participant-level repeatability.</a:t>
            </a:r>
          </a:p>
        </p:txBody>
      </p:sp>
      <p:sp>
        <p:nvSpPr>
          <p:cNvPr id="23" name="TextBox 22"/>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Fixed mesh, reference image, montage, ROI definitions, conductivities, and currents; runtime version changed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INTERPRETATION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Within-version evidence converges on mesh realization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14</a:t>
            </a:r>
          </a:p>
        </p:txBody>
      </p:sp>
      <p:sp>
        <p:nvSpPr>
          <p:cNvPr id="7" name="Rounded Rectangle 6"/>
          <p:cNvSpPr/>
          <p:nvPr/>
        </p:nvSpPr>
        <p:spPr>
          <a:xfrm>
            <a:off x="594360" y="1481328"/>
            <a:ext cx="3474720" cy="3154680"/>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773936"/>
            <a:ext cx="475488" cy="475488"/>
          </a:xfrm>
          <a:prstGeom prst="ellipse">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92807"/>
            <a:ext cx="475488" cy="164592"/>
          </a:xfrm>
          <a:prstGeom prst="rect">
            <a:avLst/>
          </a:prstGeom>
          <a:noFill/>
        </p:spPr>
        <p:txBody>
          <a:bodyPr wrap="square" lIns="36576" rIns="36576" tIns="0" bIns="0" anchor="t">
            <a:spAutoFit/>
          </a:bodyPr>
          <a:lstStyle/>
          <a:p>
            <a:pPr algn="ctr">
              <a:defRPr sz="1000" b="1">
                <a:solidFill>
                  <a:srgbClr val="FFFFFF"/>
                </a:solidFill>
                <a:latin typeface="Noto Sans"/>
              </a:defRPr>
            </a:pPr>
            <a:r>
              <a:t>1</a:t>
            </a:r>
          </a:p>
        </p:txBody>
      </p:sp>
      <p:sp>
        <p:nvSpPr>
          <p:cNvPr id="10" name="TextBox 9"/>
          <p:cNvSpPr txBox="1"/>
          <p:nvPr/>
        </p:nvSpPr>
        <p:spPr>
          <a:xfrm>
            <a:off x="886968" y="2423160"/>
            <a:ext cx="2880360" cy="329184"/>
          </a:xfrm>
          <a:prstGeom prst="rect">
            <a:avLst/>
          </a:prstGeom>
          <a:noFill/>
        </p:spPr>
        <p:txBody>
          <a:bodyPr wrap="square" lIns="36576" rIns="36576" tIns="0" bIns="0" anchor="t">
            <a:spAutoFit/>
          </a:bodyPr>
          <a:lstStyle/>
          <a:p>
            <a:pPr algn="l">
              <a:defRPr sz="1800" b="1">
                <a:solidFill>
                  <a:srgbClr val="0C1E30"/>
                </a:solidFill>
                <a:latin typeface="Noto Sans"/>
              </a:defRPr>
            </a:pPr>
            <a:r>
              <a:t>Cohort contrast</a:t>
            </a:r>
          </a:p>
        </p:txBody>
      </p:sp>
      <p:sp>
        <p:nvSpPr>
          <p:cNvPr id="11" name="TextBox 10"/>
          <p:cNvSpPr txBox="1"/>
          <p:nvPr/>
        </p:nvSpPr>
        <p:spPr>
          <a:xfrm>
            <a:off x="886968" y="3008376"/>
            <a:ext cx="2852928" cy="1188720"/>
          </a:xfrm>
          <a:prstGeom prst="rect">
            <a:avLst/>
          </a:prstGeom>
          <a:noFill/>
        </p:spPr>
        <p:txBody>
          <a:bodyPr wrap="square" lIns="36576" rIns="36576" tIns="0" bIns="0" anchor="t">
            <a:spAutoFit/>
          </a:bodyPr>
          <a:lstStyle/>
          <a:p>
            <a:pPr algn="l">
              <a:defRPr sz="1500" b="0">
                <a:solidFill>
                  <a:srgbClr val="1D2730"/>
                </a:solidFill>
                <a:latin typeface="Noto Sans"/>
              </a:defRPr>
            </a:pPr>
            <a:r>
              <a:t>Remesh repeats spread; fixed-mesh repeats collapse across 10 participants and two targets.</a:t>
            </a:r>
          </a:p>
        </p:txBody>
      </p:sp>
      <p:sp>
        <p:nvSpPr>
          <p:cNvPr id="12" name="Rounded Rectangle 11"/>
          <p:cNvSpPr/>
          <p:nvPr/>
        </p:nvSpPr>
        <p:spPr>
          <a:xfrm>
            <a:off x="4361688" y="1481328"/>
            <a:ext cx="3474720" cy="3154680"/>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6008" y="1773936"/>
            <a:ext cx="475488" cy="475488"/>
          </a:xfrm>
          <a:prstGeom prst="ellipse">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1892807"/>
            <a:ext cx="475488" cy="164592"/>
          </a:xfrm>
          <a:prstGeom prst="rect">
            <a:avLst/>
          </a:prstGeom>
          <a:noFill/>
        </p:spPr>
        <p:txBody>
          <a:bodyPr wrap="square" lIns="36576" rIns="36576" tIns="0" bIns="0" anchor="t">
            <a:spAutoFit/>
          </a:bodyPr>
          <a:lstStyle/>
          <a:p>
            <a:pPr algn="ctr">
              <a:defRPr sz="1000" b="1">
                <a:solidFill>
                  <a:srgbClr val="FFFFFF"/>
                </a:solidFill>
                <a:latin typeface="Noto Sans"/>
              </a:defRPr>
            </a:pPr>
            <a:r>
              <a:t>2</a:t>
            </a:r>
          </a:p>
        </p:txBody>
      </p:sp>
      <p:sp>
        <p:nvSpPr>
          <p:cNvPr id="15" name="TextBox 14"/>
          <p:cNvSpPr txBox="1"/>
          <p:nvPr/>
        </p:nvSpPr>
        <p:spPr>
          <a:xfrm>
            <a:off x="4654296" y="2423160"/>
            <a:ext cx="2880360" cy="329184"/>
          </a:xfrm>
          <a:prstGeom prst="rect">
            <a:avLst/>
          </a:prstGeom>
          <a:noFill/>
        </p:spPr>
        <p:txBody>
          <a:bodyPr wrap="square" lIns="36576" rIns="36576" tIns="0" bIns="0" anchor="t">
            <a:spAutoFit/>
          </a:bodyPr>
          <a:lstStyle/>
          <a:p>
            <a:pPr algn="l">
              <a:defRPr sz="1800" b="1">
                <a:solidFill>
                  <a:srgbClr val="0C1E30"/>
                </a:solidFill>
                <a:latin typeface="Noto Sans"/>
              </a:defRPr>
            </a:pPr>
            <a:r>
              <a:t>Nested decomposition</a:t>
            </a:r>
          </a:p>
        </p:txBody>
      </p:sp>
      <p:sp>
        <p:nvSpPr>
          <p:cNvPr id="16" name="TextBox 15"/>
          <p:cNvSpPr txBox="1"/>
          <p:nvPr/>
        </p:nvSpPr>
        <p:spPr>
          <a:xfrm>
            <a:off x="4654296" y="3008376"/>
            <a:ext cx="2852928" cy="1188720"/>
          </a:xfrm>
          <a:prstGeom prst="rect">
            <a:avLst/>
          </a:prstGeom>
          <a:noFill/>
        </p:spPr>
        <p:txBody>
          <a:bodyPr wrap="square" lIns="36576" rIns="36576" tIns="0" bIns="0" anchor="t">
            <a:spAutoFit/>
          </a:bodyPr>
          <a:lstStyle/>
          <a:p>
            <a:pPr algn="l">
              <a:defRPr sz="1500" b="0">
                <a:solidFill>
                  <a:srgbClr val="1D2730"/>
                </a:solidFill>
                <a:latin typeface="Noto Sans"/>
              </a:defRPr>
            </a:pPr>
            <a:r>
              <a:t>Between-mesh SD is 501× the residual within-mesh SD in the fully nested subject.</a:t>
            </a:r>
          </a:p>
        </p:txBody>
      </p:sp>
      <p:sp>
        <p:nvSpPr>
          <p:cNvPr id="17" name="Rounded Rectangle 16"/>
          <p:cNvSpPr/>
          <p:nvPr/>
        </p:nvSpPr>
        <p:spPr>
          <a:xfrm>
            <a:off x="8129016" y="1481328"/>
            <a:ext cx="3474720" cy="3154680"/>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03336" y="1773936"/>
            <a:ext cx="475488" cy="47548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03336" y="1892807"/>
            <a:ext cx="475488" cy="164592"/>
          </a:xfrm>
          <a:prstGeom prst="rect">
            <a:avLst/>
          </a:prstGeom>
          <a:noFill/>
        </p:spPr>
        <p:txBody>
          <a:bodyPr wrap="square" lIns="36576" rIns="36576" tIns="0" bIns="0" anchor="t">
            <a:spAutoFit/>
          </a:bodyPr>
          <a:lstStyle/>
          <a:p>
            <a:pPr algn="ctr">
              <a:defRPr sz="1000" b="1">
                <a:solidFill>
                  <a:srgbClr val="FFFFFF"/>
                </a:solidFill>
                <a:latin typeface="Noto Sans"/>
              </a:defRPr>
            </a:pPr>
            <a:r>
              <a:t>3</a:t>
            </a:r>
          </a:p>
        </p:txBody>
      </p:sp>
      <p:sp>
        <p:nvSpPr>
          <p:cNvPr id="20" name="TextBox 19"/>
          <p:cNvSpPr txBox="1"/>
          <p:nvPr/>
        </p:nvSpPr>
        <p:spPr>
          <a:xfrm>
            <a:off x="8421624" y="2423160"/>
            <a:ext cx="2880360" cy="329184"/>
          </a:xfrm>
          <a:prstGeom prst="rect">
            <a:avLst/>
          </a:prstGeom>
          <a:noFill/>
        </p:spPr>
        <p:txBody>
          <a:bodyPr wrap="square" lIns="36576" rIns="36576" tIns="0" bIns="0" anchor="t">
            <a:spAutoFit/>
          </a:bodyPr>
          <a:lstStyle/>
          <a:p>
            <a:pPr algn="l">
              <a:defRPr sz="1800" b="1">
                <a:solidFill>
                  <a:srgbClr val="0C1E30"/>
                </a:solidFill>
                <a:latin typeface="Noto Sans"/>
              </a:defRPr>
            </a:pPr>
            <a:r>
              <a:t>Structural correlates</a:t>
            </a:r>
          </a:p>
        </p:txBody>
      </p:sp>
      <p:sp>
        <p:nvSpPr>
          <p:cNvPr id="21" name="TextBox 20"/>
          <p:cNvSpPr txBox="1"/>
          <p:nvPr/>
        </p:nvSpPr>
        <p:spPr>
          <a:xfrm>
            <a:off x="8421624" y="3008376"/>
            <a:ext cx="2852928" cy="1188720"/>
          </a:xfrm>
          <a:prstGeom prst="rect">
            <a:avLst/>
          </a:prstGeom>
          <a:noFill/>
        </p:spPr>
        <p:txBody>
          <a:bodyPr wrap="square" lIns="36576" rIns="36576" tIns="0" bIns="0" anchor="t">
            <a:spAutoFit/>
          </a:bodyPr>
          <a:lstStyle/>
          <a:p>
            <a:pPr algn="l">
              <a:defRPr sz="1500" b="0">
                <a:solidFill>
                  <a:srgbClr val="1D2730"/>
                </a:solidFill>
                <a:latin typeface="Noto Sans"/>
              </a:defRPr>
            </a:pPr>
            <a:r>
              <a:t>Element count and tissue-volume composition change across remesh realizations.</a:t>
            </a:r>
          </a:p>
        </p:txBody>
      </p:sp>
      <p:cxnSp>
        <p:nvCxnSpPr>
          <p:cNvPr id="22" name="Connector 21"/>
          <p:cNvCxnSpPr/>
          <p:nvPr/>
        </p:nvCxnSpPr>
        <p:spPr>
          <a:xfrm>
            <a:off x="2340864" y="4892040"/>
            <a:ext cx="3236976" cy="0"/>
          </a:xfrm>
          <a:prstGeom prst="line">
            <a:avLst/>
          </a:prstGeom>
          <a:ln w="20320">
            <a:solidFill>
              <a:srgbClr val="CFD8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345936" y="4892040"/>
            <a:ext cx="3273552" cy="0"/>
          </a:xfrm>
          <a:prstGeom prst="line">
            <a:avLst/>
          </a:prstGeom>
          <a:ln w="20320">
            <a:solidFill>
              <a:srgbClr val="CFD8E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325880" y="5175504"/>
            <a:ext cx="9537192" cy="822960"/>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36776" y="5422392"/>
            <a:ext cx="8915400" cy="310896"/>
          </a:xfrm>
          <a:prstGeom prst="rect">
            <a:avLst/>
          </a:prstGeom>
          <a:noFill/>
        </p:spPr>
        <p:txBody>
          <a:bodyPr wrap="square" lIns="36576" rIns="36576" tIns="0" bIns="0" anchor="t">
            <a:spAutoFit/>
          </a:bodyPr>
          <a:lstStyle/>
          <a:p>
            <a:pPr algn="ctr">
              <a:defRPr sz="1900" b="1">
                <a:solidFill>
                  <a:srgbClr val="FFFFFF"/>
                </a:solidFill>
                <a:latin typeface="Noto Sans"/>
              </a:defRPr>
            </a:pPr>
            <a:r>
              <a:t>Inference: mesh realization is a numerical experimental factor and belongs in the uncertainty budget.</a:t>
            </a:r>
          </a:p>
        </p:txBody>
      </p:sp>
      <p:sp>
        <p:nvSpPr>
          <p:cNvPr id="26" name="TextBox 25"/>
          <p:cNvSpPr txBox="1"/>
          <p:nvPr/>
        </p:nvSpPr>
        <p:spPr>
          <a:xfrm>
            <a:off x="1325880" y="6190488"/>
            <a:ext cx="9537192" cy="237744"/>
          </a:xfrm>
          <a:prstGeom prst="rect">
            <a:avLst/>
          </a:prstGeom>
          <a:noFill/>
        </p:spPr>
        <p:txBody>
          <a:bodyPr wrap="square" lIns="36576" rIns="36576" tIns="0" bIns="0" anchor="t">
            <a:spAutoFit/>
          </a:bodyPr>
          <a:lstStyle/>
          <a:p>
            <a:pPr algn="ctr">
              <a:defRPr sz="1100" b="1">
                <a:solidFill>
                  <a:srgbClr val="B13A3A"/>
                </a:solidFill>
                <a:latin typeface="Noto Sans"/>
              </a:defRPr>
            </a:pPr>
            <a:r>
              <a:t>Dominant source of repeated-run variation ≠ proof that the selected mesh is the most accurate anatomy.</a:t>
            </a:r>
          </a:p>
        </p:txBody>
      </p:sp>
      <p:sp>
        <p:nvSpPr>
          <p:cNvPr id="27" name="TextBox 26"/>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Evidence triangulation across field, variance, and mesh outcomes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IMPLICATIONS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practical response depends on the scientific comparison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15</a:t>
            </a:r>
          </a:p>
        </p:txBody>
      </p:sp>
      <p:sp>
        <p:nvSpPr>
          <p:cNvPr id="7" name="Rounded Rectangle 6"/>
          <p:cNvSpPr/>
          <p:nvPr/>
        </p:nvSpPr>
        <p:spPr>
          <a:xfrm>
            <a:off x="621792" y="1417320"/>
            <a:ext cx="5367528" cy="1883664"/>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1417320"/>
            <a:ext cx="82296" cy="188366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691640"/>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Controlled contrasts</a:t>
            </a:r>
          </a:p>
        </p:txBody>
      </p:sp>
      <p:sp>
        <p:nvSpPr>
          <p:cNvPr id="10" name="TextBox 9"/>
          <p:cNvSpPr txBox="1"/>
          <p:nvPr/>
        </p:nvSpPr>
        <p:spPr>
          <a:xfrm>
            <a:off x="932688" y="2221992"/>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Freeze and checksum the mesh when comparing conditions within the same anatomy and meshing is a nuisance factor.</a:t>
            </a:r>
          </a:p>
        </p:txBody>
      </p:sp>
      <p:sp>
        <p:nvSpPr>
          <p:cNvPr id="11" name="Rounded Rectangle 10"/>
          <p:cNvSpPr/>
          <p:nvPr/>
        </p:nvSpPr>
        <p:spPr>
          <a:xfrm>
            <a:off x="6199632" y="1417320"/>
            <a:ext cx="5367528" cy="1883664"/>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417320"/>
            <a:ext cx="82296" cy="1883664"/>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1691640"/>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Percent-level effects</a:t>
            </a:r>
          </a:p>
        </p:txBody>
      </p:sp>
      <p:sp>
        <p:nvSpPr>
          <p:cNvPr id="14" name="TextBox 13"/>
          <p:cNvSpPr txBox="1"/>
          <p:nvPr/>
        </p:nvSpPr>
        <p:spPr>
          <a:xfrm>
            <a:off x="6510528" y="2221992"/>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Repeat remeshing—or otherwise quantify discretization uncertainty—when the expected effect is similar to the observed CV.</a:t>
            </a:r>
          </a:p>
        </p:txBody>
      </p:sp>
      <p:sp>
        <p:nvSpPr>
          <p:cNvPr id="15" name="Rounded Rectangle 14"/>
          <p:cNvSpPr/>
          <p:nvPr/>
        </p:nvSpPr>
        <p:spPr>
          <a:xfrm>
            <a:off x="621792" y="3730752"/>
            <a:ext cx="5367528" cy="1883664"/>
          </a:xfrm>
          <a:prstGeom prst="roundRect">
            <a:avLst/>
          </a:prstGeom>
          <a:solidFill>
            <a:srgbClr val="FBE8E8"/>
          </a:solidFill>
          <a:ln w="10160">
            <a:solidFill>
              <a:srgbClr val="B13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 y="3730752"/>
            <a:ext cx="82296" cy="1883664"/>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05072"/>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Subject ranking</a:t>
            </a:r>
          </a:p>
        </p:txBody>
      </p:sp>
      <p:sp>
        <p:nvSpPr>
          <p:cNvPr id="18" name="TextBox 17"/>
          <p:cNvSpPr txBox="1"/>
          <p:nvPr/>
        </p:nvSpPr>
        <p:spPr>
          <a:xfrm>
            <a:off x="932688" y="4535424"/>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Avoid fine-grained selection or responder stratification from one mesh when participant means are close.</a:t>
            </a:r>
          </a:p>
        </p:txBody>
      </p:sp>
      <p:sp>
        <p:nvSpPr>
          <p:cNvPr id="19" name="Rounded Rectangle 18"/>
          <p:cNvSpPr/>
          <p:nvPr/>
        </p:nvSpPr>
        <p:spPr>
          <a:xfrm>
            <a:off x="6199632" y="3730752"/>
            <a:ext cx="5367528" cy="1883664"/>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3730752"/>
            <a:ext cx="82296" cy="1883664"/>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4005072"/>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Reproducibility</a:t>
            </a:r>
          </a:p>
        </p:txBody>
      </p:sp>
      <p:sp>
        <p:nvSpPr>
          <p:cNvPr id="22" name="TextBox 21"/>
          <p:cNvSpPr txBox="1"/>
          <p:nvPr/>
        </p:nvSpPr>
        <p:spPr>
          <a:xfrm>
            <a:off x="6510528" y="4535424"/>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Report meshing policy, selected-mesh provenance, software version, seed/selection rule, and remesh variability.</a:t>
            </a:r>
          </a:p>
        </p:txBody>
      </p:sp>
      <p:sp>
        <p:nvSpPr>
          <p:cNvPr id="23" name="TextBox 22"/>
          <p:cNvSpPr txBox="1"/>
          <p:nvPr/>
        </p:nvSpPr>
        <p:spPr>
          <a:xfrm>
            <a:off x="786384" y="5916168"/>
            <a:ext cx="2103120" cy="201168"/>
          </a:xfrm>
          <a:prstGeom prst="rect">
            <a:avLst/>
          </a:prstGeom>
          <a:noFill/>
        </p:spPr>
        <p:txBody>
          <a:bodyPr wrap="square" lIns="36576" rIns="36576" tIns="0" bIns="0" anchor="t">
            <a:spAutoFit/>
          </a:bodyPr>
          <a:lstStyle/>
          <a:p>
            <a:pPr algn="l">
              <a:defRPr sz="950" b="1">
                <a:solidFill>
                  <a:srgbClr val="C25B23"/>
                </a:solidFill>
                <a:latin typeface="Noto Sans"/>
              </a:defRPr>
            </a:pPr>
            <a:r>
              <a:t>Rule of thumb for interpretation</a:t>
            </a:r>
          </a:p>
        </p:txBody>
      </p:sp>
      <p:sp>
        <p:nvSpPr>
          <p:cNvPr id="24" name="TextBox 23"/>
          <p:cNvSpPr txBox="1"/>
          <p:nvPr/>
        </p:nvSpPr>
        <p:spPr>
          <a:xfrm>
            <a:off x="2816352" y="5852160"/>
            <a:ext cx="8357616" cy="365760"/>
          </a:xfrm>
          <a:prstGeom prst="rect">
            <a:avLst/>
          </a:prstGeom>
          <a:noFill/>
        </p:spPr>
        <p:txBody>
          <a:bodyPr wrap="square" lIns="36576" rIns="36576" tIns="0" bIns="0" anchor="t">
            <a:spAutoFit/>
          </a:bodyPr>
          <a:lstStyle/>
          <a:p>
            <a:pPr algn="l">
              <a:defRPr sz="1500" b="1">
                <a:solidFill>
                  <a:srgbClr val="0C1E30"/>
                </a:solidFill>
                <a:latin typeface="Noto Sans"/>
              </a:defRPr>
            </a:pPr>
            <a:r>
              <a:t>If the scientific contrast is smaller than the mesh-induced spread, the mesh must enter the design or uncertainty statement.</a:t>
            </a:r>
          </a:p>
        </p:txBody>
      </p:sp>
      <p:sp>
        <p:nvSpPr>
          <p:cNvPr id="25" name="TextBox 24"/>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Recommendations are scoped to the evaluated workflow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LIMITATIONS AND CLAIM BOUNDARIES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result is strong about repeatability—and deliberately narrow about validity</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16</a:t>
            </a:r>
          </a:p>
        </p:txBody>
      </p:sp>
      <p:sp>
        <p:nvSpPr>
          <p:cNvPr id="7" name="Rounded Rectangle 6"/>
          <p:cNvSpPr/>
          <p:nvPr/>
        </p:nvSpPr>
        <p:spPr>
          <a:xfrm>
            <a:off x="612648" y="1389888"/>
            <a:ext cx="5358384" cy="4526280"/>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19072"/>
            <a:ext cx="1188720" cy="246888"/>
          </a:xfrm>
          <a:prstGeom prst="rect">
            <a:avLst/>
          </a:prstGeom>
          <a:noFill/>
        </p:spPr>
        <p:txBody>
          <a:bodyPr wrap="square" lIns="36576" rIns="36576" tIns="0" bIns="0" anchor="t">
            <a:spAutoFit/>
          </a:bodyPr>
          <a:lstStyle/>
          <a:p>
            <a:pPr algn="l">
              <a:defRPr sz="1100" b="1">
                <a:solidFill>
                  <a:srgbClr val="1B8B7E"/>
                </a:solidFill>
                <a:latin typeface="Noto Sans"/>
              </a:defRPr>
            </a:pPr>
            <a:r>
              <a:t>SUPPORTED</a:t>
            </a:r>
          </a:p>
        </p:txBody>
      </p:sp>
      <p:sp>
        <p:nvSpPr>
          <p:cNvPr id="9" name="TextBox 8"/>
          <p:cNvSpPr txBox="1"/>
          <p:nvPr/>
        </p:nvSpPr>
        <p:spPr>
          <a:xfrm>
            <a:off x="896112" y="2194560"/>
            <a:ext cx="4645152" cy="3200400"/>
          </a:xfrm>
          <a:prstGeom prst="rect">
            <a:avLst/>
          </a:prstGeom>
          <a:noFill/>
        </p:spPr>
        <p:txBody>
          <a:bodyPr wrap="square" lIns="27432" rIns="27432" tIns="0" bIns="0">
            <a:spAutoFit/>
          </a:bodyPr>
          <a:lstStyle/>
          <a:p>
            <a:pPr>
              <a:spcAft>
                <a:spcPts val="800"/>
              </a:spcAft>
            </a:pPr>
            <a:r>
              <a:rPr sz="900">
                <a:solidFill>
                  <a:srgbClr val="1B8B7E"/>
                </a:solidFill>
                <a:latin typeface="Noto Sans"/>
              </a:rPr>
              <a:t>●  </a:t>
            </a:r>
            <a:r>
              <a:rPr sz="1400">
                <a:solidFill>
                  <a:srgbClr val="1D2730"/>
                </a:solidFill>
                <a:latin typeface="Noto Sans"/>
              </a:rPr>
              <a:t>Fresh remeshing introduces percent-level field variation in both evaluated targets.</a:t>
            </a:r>
          </a:p>
          <a:p>
            <a:pPr>
              <a:spcAft>
                <a:spcPts val="800"/>
              </a:spcAft>
            </a:pPr>
            <a:r>
              <a:rPr sz="900">
                <a:solidFill>
                  <a:srgbClr val="1B8B7E"/>
                </a:solidFill>
                <a:latin typeface="Noto Sans"/>
              </a:rPr>
              <a:t>●  </a:t>
            </a:r>
            <a:r>
              <a:rPr sz="1400">
                <a:solidFill>
                  <a:srgbClr val="1D2730"/>
                </a:solidFill>
                <a:latin typeface="Noto Sans"/>
              </a:rPr>
              <a:t>Repeated solving on one copied mesh is effectively deterministic.</a:t>
            </a:r>
          </a:p>
          <a:p>
            <a:pPr>
              <a:spcAft>
                <a:spcPts val="800"/>
              </a:spcAft>
            </a:pPr>
            <a:r>
              <a:rPr sz="900">
                <a:solidFill>
                  <a:srgbClr val="1B8B7E"/>
                </a:solidFill>
                <a:latin typeface="Noto Sans"/>
              </a:rPr>
              <a:t>●  </a:t>
            </a:r>
            <a:r>
              <a:rPr sz="1400">
                <a:solidFill>
                  <a:srgbClr val="1D2730"/>
                </a:solidFill>
                <a:latin typeface="Noto Sans"/>
              </a:rPr>
              <a:t>A single mesh can alter close between-subject rankings.</a:t>
            </a:r>
          </a:p>
          <a:p>
            <a:pPr>
              <a:spcAft>
                <a:spcPts val="800"/>
              </a:spcAft>
            </a:pPr>
            <a:r>
              <a:rPr sz="900">
                <a:solidFill>
                  <a:srgbClr val="1B8B7E"/>
                </a:solidFill>
                <a:latin typeface="Noto Sans"/>
              </a:rPr>
              <a:t>●  </a:t>
            </a:r>
            <a:r>
              <a:rPr sz="1400">
                <a:solidFill>
                  <a:srgbClr val="1D2730"/>
                </a:solidFill>
                <a:latin typeface="Noto Sans"/>
              </a:rPr>
              <a:t>The nested case isolates mesh generation as the dominant source for one participant.</a:t>
            </a:r>
          </a:p>
        </p:txBody>
      </p:sp>
      <p:sp>
        <p:nvSpPr>
          <p:cNvPr id="10" name="Rounded Rectangle 9"/>
          <p:cNvSpPr/>
          <p:nvPr/>
        </p:nvSpPr>
        <p:spPr>
          <a:xfrm>
            <a:off x="6217920" y="1389888"/>
            <a:ext cx="5358384" cy="4526280"/>
          </a:xfrm>
          <a:prstGeom prst="roundRect">
            <a:avLst/>
          </a:prstGeom>
          <a:solidFill>
            <a:srgbClr val="FBEBEB"/>
          </a:solidFill>
          <a:ln w="10160">
            <a:solidFill>
              <a:srgbClr val="B13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4" y="1719072"/>
            <a:ext cx="1600200" cy="246888"/>
          </a:xfrm>
          <a:prstGeom prst="rect">
            <a:avLst/>
          </a:prstGeom>
          <a:noFill/>
        </p:spPr>
        <p:txBody>
          <a:bodyPr wrap="square" lIns="36576" rIns="36576" tIns="0" bIns="0" anchor="t">
            <a:spAutoFit/>
          </a:bodyPr>
          <a:lstStyle/>
          <a:p>
            <a:pPr algn="l">
              <a:defRPr sz="1100" b="1">
                <a:solidFill>
                  <a:srgbClr val="B13A3A"/>
                </a:solidFill>
                <a:latin typeface="Noto Sans"/>
              </a:defRPr>
            </a:pPr>
            <a:r>
              <a:t>NOT ESTABLISHED</a:t>
            </a:r>
          </a:p>
        </p:txBody>
      </p:sp>
      <p:sp>
        <p:nvSpPr>
          <p:cNvPr id="12" name="TextBox 11"/>
          <p:cNvSpPr txBox="1"/>
          <p:nvPr/>
        </p:nvSpPr>
        <p:spPr>
          <a:xfrm>
            <a:off x="6501384" y="2194560"/>
            <a:ext cx="4626864" cy="3200400"/>
          </a:xfrm>
          <a:prstGeom prst="rect">
            <a:avLst/>
          </a:prstGeom>
          <a:noFill/>
        </p:spPr>
        <p:txBody>
          <a:bodyPr wrap="square" lIns="27432" rIns="27432" tIns="0" bIns="0">
            <a:spAutoFit/>
          </a:bodyPr>
          <a:lstStyle/>
          <a:p>
            <a:pPr>
              <a:spcAft>
                <a:spcPts val="800"/>
              </a:spcAft>
            </a:pPr>
            <a:r>
              <a:rPr sz="900">
                <a:solidFill>
                  <a:srgbClr val="B13A3A"/>
                </a:solidFill>
                <a:latin typeface="Noto Sans"/>
              </a:rPr>
              <a:t>●  </a:t>
            </a:r>
            <a:r>
              <a:rPr sz="1400">
                <a:solidFill>
                  <a:srgbClr val="1D2730"/>
                </a:solidFill>
                <a:latin typeface="Noto Sans"/>
              </a:rPr>
              <a:t>Which mesh is anatomically or physically most accurate.</a:t>
            </a:r>
          </a:p>
          <a:p>
            <a:pPr>
              <a:spcAft>
                <a:spcPts val="800"/>
              </a:spcAft>
            </a:pPr>
            <a:r>
              <a:rPr sz="900">
                <a:solidFill>
                  <a:srgbClr val="B13A3A"/>
                </a:solidFill>
                <a:latin typeface="Noto Sans"/>
              </a:rPr>
              <a:t>●  </a:t>
            </a:r>
            <a:r>
              <a:rPr sz="1400">
                <a:solidFill>
                  <a:srgbClr val="1D2730"/>
                </a:solidFill>
                <a:latin typeface="Noto Sans"/>
              </a:rPr>
              <a:t>Generalization beyond 10 datasets, two targets, and this CHARM–SimNIBS pipeline.</a:t>
            </a:r>
          </a:p>
          <a:p>
            <a:pPr>
              <a:spcAft>
                <a:spcPts val="800"/>
              </a:spcAft>
            </a:pPr>
            <a:r>
              <a:rPr sz="900">
                <a:solidFill>
                  <a:srgbClr val="B13A3A"/>
                </a:solidFill>
                <a:latin typeface="Noto Sans"/>
              </a:rPr>
              <a:t>●  </a:t>
            </a:r>
            <a:r>
              <a:rPr sz="1400">
                <a:solidFill>
                  <a:srgbClr val="1D2730"/>
                </a:solidFill>
                <a:latin typeface="Noto Sans"/>
              </a:rPr>
              <a:t>A specific tissue boundary or mesh metric as the causal mechanism.</a:t>
            </a:r>
          </a:p>
          <a:p>
            <a:pPr>
              <a:spcAft>
                <a:spcPts val="800"/>
              </a:spcAft>
            </a:pPr>
            <a:r>
              <a:rPr sz="900">
                <a:solidFill>
                  <a:srgbClr val="B13A3A"/>
                </a:solidFill>
                <a:latin typeface="Noto Sans"/>
              </a:rPr>
              <a:t>●  </a:t>
            </a:r>
            <a:r>
              <a:rPr sz="1400">
                <a:solidFill>
                  <a:srgbClr val="1D2730"/>
                </a:solidFill>
                <a:latin typeface="Noto Sans"/>
              </a:rPr>
              <a:t>Population inference from the 1,600 nested technical observations.</a:t>
            </a:r>
          </a:p>
        </p:txBody>
      </p:sp>
      <p:sp>
        <p:nvSpPr>
          <p:cNvPr id="13" name="Rounded Rectangle 12"/>
          <p:cNvSpPr/>
          <p:nvPr/>
        </p:nvSpPr>
        <p:spPr>
          <a:xfrm>
            <a:off x="960120" y="6062472"/>
            <a:ext cx="10241280" cy="338328"/>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4712" y="6144768"/>
            <a:ext cx="9912096" cy="182880"/>
          </a:xfrm>
          <a:prstGeom prst="rect">
            <a:avLst/>
          </a:prstGeom>
          <a:noFill/>
        </p:spPr>
        <p:txBody>
          <a:bodyPr wrap="square" lIns="36576" rIns="36576" tIns="0" bIns="0" anchor="t">
            <a:spAutoFit/>
          </a:bodyPr>
          <a:lstStyle/>
          <a:p>
            <a:pPr algn="ctr">
              <a:defRPr sz="1050" b="1">
                <a:solidFill>
                  <a:srgbClr val="1D2730"/>
                </a:solidFill>
                <a:latin typeface="Noto Sans"/>
              </a:defRPr>
            </a:pPr>
            <a:r>
              <a:t>Design caveat: the fixed mesh was selected using the primary outcome, so central agreement is partly imposed by design.</a:t>
            </a:r>
          </a:p>
        </p:txBody>
      </p:sp>
      <p:sp>
        <p:nvSpPr>
          <p:cNvPr id="15" name="TextBox 14"/>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Technical repeats are not independent participants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E30"/>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DISCUSSION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FFFFFF"/>
                </a:solidFill>
                <a:latin typeface="Noto Sans"/>
              </a:defRPr>
            </a:pPr>
            <a:r>
              <a:t>If the claim is smaller than the mesh noise, the mesh belongs in the claim</a:t>
            </a:r>
          </a:p>
        </p:txBody>
      </p:sp>
      <p:cxnSp>
        <p:nvCxnSpPr>
          <p:cNvPr id="4" name="Connector 3"/>
          <p:cNvCxnSpPr/>
          <p:nvPr/>
        </p:nvCxnSpPr>
        <p:spPr>
          <a:xfrm>
            <a:off x="502920" y="1143000"/>
            <a:ext cx="11183112" cy="0"/>
          </a:xfrm>
          <a:prstGeom prst="line">
            <a:avLst/>
          </a:prstGeom>
          <a:ln w="10160">
            <a:solidFill>
              <a:srgbClr val="435D7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BACAD7"/>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BACAD7"/>
                </a:solidFill>
                <a:latin typeface="Noto Sans"/>
              </a:defRPr>
            </a:pPr>
            <a:r>
              <a:t>17</a:t>
            </a:r>
          </a:p>
        </p:txBody>
      </p:sp>
      <p:sp>
        <p:nvSpPr>
          <p:cNvPr id="7" name="Oval 6"/>
          <p:cNvSpPr/>
          <p:nvPr/>
        </p:nvSpPr>
        <p:spPr>
          <a:xfrm>
            <a:off x="713232" y="1389888"/>
            <a:ext cx="566928" cy="56692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554480"/>
            <a:ext cx="566928" cy="182880"/>
          </a:xfrm>
          <a:prstGeom prst="rect">
            <a:avLst/>
          </a:prstGeom>
          <a:noFill/>
        </p:spPr>
        <p:txBody>
          <a:bodyPr wrap="square" lIns="36576" rIns="36576" tIns="0" bIns="0" anchor="t">
            <a:spAutoFit/>
          </a:bodyPr>
          <a:lstStyle/>
          <a:p>
            <a:pPr algn="ctr">
              <a:defRPr sz="1100" b="1">
                <a:solidFill>
                  <a:srgbClr val="FFFFFF"/>
                </a:solidFill>
                <a:latin typeface="Noto Sans"/>
              </a:defRPr>
            </a:pPr>
            <a:r>
              <a:t>1</a:t>
            </a:r>
          </a:p>
        </p:txBody>
      </p:sp>
      <p:sp>
        <p:nvSpPr>
          <p:cNvPr id="9" name="TextBox 8"/>
          <p:cNvSpPr txBox="1"/>
          <p:nvPr/>
        </p:nvSpPr>
        <p:spPr>
          <a:xfrm>
            <a:off x="1572768" y="1371600"/>
            <a:ext cx="9528048" cy="841248"/>
          </a:xfrm>
          <a:prstGeom prst="rect">
            <a:avLst/>
          </a:prstGeom>
          <a:noFill/>
        </p:spPr>
        <p:txBody>
          <a:bodyPr wrap="square" lIns="36576" rIns="36576" tIns="0" bIns="0" anchor="t">
            <a:spAutoFit/>
          </a:bodyPr>
          <a:lstStyle/>
          <a:p>
            <a:pPr algn="l">
              <a:defRPr sz="2000" b="1">
                <a:solidFill>
                  <a:srgbClr val="FFFFFF"/>
                </a:solidFill>
                <a:latin typeface="Noto Sans"/>
              </a:defRPr>
            </a:pPr>
            <a:r>
              <a:t>Should future primary analyses average across mesh realizations—or standardize one mesh and treat it as part of the model definition?</a:t>
            </a:r>
          </a:p>
        </p:txBody>
      </p:sp>
      <p:cxnSp>
        <p:nvCxnSpPr>
          <p:cNvPr id="10" name="Connector 9"/>
          <p:cNvCxnSpPr/>
          <p:nvPr/>
        </p:nvCxnSpPr>
        <p:spPr>
          <a:xfrm>
            <a:off x="1572768" y="2414016"/>
            <a:ext cx="9564624" cy="0"/>
          </a:xfrm>
          <a:prstGeom prst="line">
            <a:avLst/>
          </a:prstGeom>
          <a:ln w="8890">
            <a:solidFill>
              <a:srgbClr val="3E586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13232" y="2779776"/>
            <a:ext cx="566928" cy="56692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944368"/>
            <a:ext cx="566928" cy="182880"/>
          </a:xfrm>
          <a:prstGeom prst="rect">
            <a:avLst/>
          </a:prstGeom>
          <a:noFill/>
        </p:spPr>
        <p:txBody>
          <a:bodyPr wrap="square" lIns="36576" rIns="36576" tIns="0" bIns="0" anchor="t">
            <a:spAutoFit/>
          </a:bodyPr>
          <a:lstStyle/>
          <a:p>
            <a:pPr algn="ctr">
              <a:defRPr sz="1100" b="1">
                <a:solidFill>
                  <a:srgbClr val="FFFFFF"/>
                </a:solidFill>
                <a:latin typeface="Noto Sans"/>
              </a:defRPr>
            </a:pPr>
            <a:r>
              <a:t>2</a:t>
            </a:r>
          </a:p>
        </p:txBody>
      </p:sp>
      <p:sp>
        <p:nvSpPr>
          <p:cNvPr id="13" name="TextBox 12"/>
          <p:cNvSpPr txBox="1"/>
          <p:nvPr/>
        </p:nvSpPr>
        <p:spPr>
          <a:xfrm>
            <a:off x="1572768" y="2761488"/>
            <a:ext cx="9528048" cy="841248"/>
          </a:xfrm>
          <a:prstGeom prst="rect">
            <a:avLst/>
          </a:prstGeom>
          <a:noFill/>
        </p:spPr>
        <p:txBody>
          <a:bodyPr wrap="square" lIns="36576" rIns="36576" tIns="0" bIns="0" anchor="t">
            <a:spAutoFit/>
          </a:bodyPr>
          <a:lstStyle/>
          <a:p>
            <a:pPr algn="l">
              <a:defRPr sz="2000" b="1">
                <a:solidFill>
                  <a:srgbClr val="FFFFFF"/>
                </a:solidFill>
                <a:latin typeface="Noto Sans"/>
              </a:defRPr>
            </a:pPr>
            <a:r>
              <a:t>What numerical-uncertainty threshold is acceptable before a simulated field difference is interpreted biologically?</a:t>
            </a:r>
          </a:p>
        </p:txBody>
      </p:sp>
      <p:cxnSp>
        <p:nvCxnSpPr>
          <p:cNvPr id="14" name="Connector 13"/>
          <p:cNvCxnSpPr/>
          <p:nvPr/>
        </p:nvCxnSpPr>
        <p:spPr>
          <a:xfrm>
            <a:off x="1572768" y="3803904"/>
            <a:ext cx="9564624" cy="0"/>
          </a:xfrm>
          <a:prstGeom prst="line">
            <a:avLst/>
          </a:prstGeom>
          <a:ln w="8890">
            <a:solidFill>
              <a:srgbClr val="3E586B"/>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13232" y="4169664"/>
            <a:ext cx="566928" cy="566928"/>
          </a:xfrm>
          <a:prstGeom prst="ellipse">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334256"/>
            <a:ext cx="566928" cy="182880"/>
          </a:xfrm>
          <a:prstGeom prst="rect">
            <a:avLst/>
          </a:prstGeom>
          <a:noFill/>
        </p:spPr>
        <p:txBody>
          <a:bodyPr wrap="square" lIns="36576" rIns="36576" tIns="0" bIns="0" anchor="t">
            <a:spAutoFit/>
          </a:bodyPr>
          <a:lstStyle/>
          <a:p>
            <a:pPr algn="ctr">
              <a:defRPr sz="1100" b="1">
                <a:solidFill>
                  <a:srgbClr val="FFFFFF"/>
                </a:solidFill>
                <a:latin typeface="Noto Sans"/>
              </a:defRPr>
            </a:pPr>
            <a:r>
              <a:t>3</a:t>
            </a:r>
          </a:p>
        </p:txBody>
      </p:sp>
      <p:sp>
        <p:nvSpPr>
          <p:cNvPr id="17" name="TextBox 16"/>
          <p:cNvSpPr txBox="1"/>
          <p:nvPr/>
        </p:nvSpPr>
        <p:spPr>
          <a:xfrm>
            <a:off x="1572768" y="4151376"/>
            <a:ext cx="9528048" cy="841248"/>
          </a:xfrm>
          <a:prstGeom prst="rect">
            <a:avLst/>
          </a:prstGeom>
          <a:noFill/>
        </p:spPr>
        <p:txBody>
          <a:bodyPr wrap="square" lIns="36576" rIns="36576" tIns="0" bIns="0" anchor="t">
            <a:spAutoFit/>
          </a:bodyPr>
          <a:lstStyle/>
          <a:p>
            <a:pPr algn="l">
              <a:defRPr sz="2000" b="1">
                <a:solidFill>
                  <a:srgbClr val="FFFFFF"/>
                </a:solidFill>
                <a:latin typeface="Noto Sans"/>
              </a:defRPr>
            </a:pPr>
            <a:r>
              <a:t>Which extension adds the most value: more targets, another mesher, local boundary metrics, or convergence testing?</a:t>
            </a:r>
          </a:p>
        </p:txBody>
      </p:sp>
      <p:sp>
        <p:nvSpPr>
          <p:cNvPr id="18" name="Rounded Rectangle 17"/>
          <p:cNvSpPr/>
          <p:nvPr/>
        </p:nvSpPr>
        <p:spPr>
          <a:xfrm>
            <a:off x="713232" y="5687568"/>
            <a:ext cx="10716768" cy="594360"/>
          </a:xfrm>
          <a:prstGeom prst="roundRect">
            <a:avLst/>
          </a:prstGeom>
          <a:solidFill>
            <a:srgbClr val="163246"/>
          </a:solidFill>
          <a:ln w="10160">
            <a:solidFill>
              <a:srgbClr val="325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870448"/>
            <a:ext cx="10259568" cy="246888"/>
          </a:xfrm>
          <a:prstGeom prst="rect">
            <a:avLst/>
          </a:prstGeom>
          <a:noFill/>
        </p:spPr>
        <p:txBody>
          <a:bodyPr wrap="square" lIns="36576" rIns="36576" tIns="0" bIns="0" anchor="t">
            <a:spAutoFit/>
          </a:bodyPr>
          <a:lstStyle/>
          <a:p>
            <a:pPr algn="ctr">
              <a:defRPr sz="1500" b="1">
                <a:solidFill>
                  <a:srgbClr val="DDA83F"/>
                </a:solidFill>
                <a:latin typeface="Noto Sans"/>
              </a:defRPr>
            </a:pPr>
            <a:r>
              <a:t>Take-home: a reproducible individualized field estimate requires specifying the mesh—not only the anatomy and montage.</a:t>
            </a:r>
          </a:p>
        </p:txBody>
      </p:sp>
      <p:sp>
        <p:nvSpPr>
          <p:cNvPr id="20" name="TextBox 19"/>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AEC2CF"/>
                </a:solidFill>
                <a:latin typeface="Noto Sans"/>
              </a:defRPr>
            </a:pPr>
            <a:r>
              <a:t>Questions / critique / next experiment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full ranking analysis: left hippocampus</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18</a:t>
            </a:r>
          </a:p>
        </p:txBody>
      </p:sp>
      <p:sp>
        <p:nvSpPr>
          <p:cNvPr id="7" name="Rounded Rectangle 6"/>
          <p:cNvSpPr/>
          <p:nvPr/>
        </p:nvSpPr>
        <p:spPr>
          <a:xfrm>
            <a:off x="457200" y="1188720"/>
            <a:ext cx="11274552" cy="5157216"/>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single_repeat_subject_ranking_uncertainty.png"/>
          <p:cNvPicPr>
            <a:picLocks noChangeAspect="1"/>
          </p:cNvPicPr>
          <p:nvPr/>
        </p:nvPicPr>
        <p:blipFill>
          <a:blip r:embed="rId2"/>
          <a:stretch>
            <a:fillRect/>
          </a:stretch>
        </p:blipFill>
        <p:spPr>
          <a:xfrm>
            <a:off x="926749" y="1325880"/>
            <a:ext cx="10344596" cy="4882896"/>
          </a:xfrm>
          <a:prstGeom prst="rect">
            <a:avLst/>
          </a:prstGeom>
        </p:spPr>
      </p:pic>
      <p:sp>
        <p:nvSpPr>
          <p:cNvPr id="9" name="TextBox 8"/>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Exact pairwise probabilities + 20,000 one-repeat-per-participant draws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full ranking analysis: right M1</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19</a:t>
            </a:r>
          </a:p>
        </p:txBody>
      </p:sp>
      <p:sp>
        <p:nvSpPr>
          <p:cNvPr id="7" name="Rounded Rectangle 6"/>
          <p:cNvSpPr/>
          <p:nvPr/>
        </p:nvSpPr>
        <p:spPr>
          <a:xfrm>
            <a:off x="457200" y="1188720"/>
            <a:ext cx="11274552" cy="5157216"/>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single_repeat_subject_ranking_uncertainty.png"/>
          <p:cNvPicPr>
            <a:picLocks noChangeAspect="1"/>
          </p:cNvPicPr>
          <p:nvPr/>
        </p:nvPicPr>
        <p:blipFill>
          <a:blip r:embed="rId2"/>
          <a:stretch>
            <a:fillRect/>
          </a:stretch>
        </p:blipFill>
        <p:spPr>
          <a:xfrm>
            <a:off x="935985" y="1325880"/>
            <a:ext cx="10326124" cy="4882896"/>
          </a:xfrm>
          <a:prstGeom prst="rect">
            <a:avLst/>
          </a:prstGeom>
        </p:spPr>
      </p:pic>
      <p:sp>
        <p:nvSpPr>
          <p:cNvPr id="9" name="TextBox 8"/>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Exact pairwise probabilities + 20,000 one-repeat-per-participant draws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cohort and stimulation parameters</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20</a:t>
            </a:r>
          </a:p>
        </p:txBody>
      </p:sp>
      <p:sp>
        <p:nvSpPr>
          <p:cNvPr id="7" name="Rounded Rectangle 6"/>
          <p:cNvSpPr/>
          <p:nvPr/>
        </p:nvSpPr>
        <p:spPr>
          <a:xfrm>
            <a:off x="576072" y="1307592"/>
            <a:ext cx="5440680" cy="489204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00200"/>
            <a:ext cx="2194560" cy="292608"/>
          </a:xfrm>
          <a:prstGeom prst="rect">
            <a:avLst/>
          </a:prstGeom>
          <a:noFill/>
        </p:spPr>
        <p:txBody>
          <a:bodyPr wrap="square" lIns="36576" rIns="36576" tIns="0" bIns="0" anchor="t">
            <a:spAutoFit/>
          </a:bodyPr>
          <a:lstStyle/>
          <a:p>
            <a:pPr algn="l">
              <a:defRPr sz="1700" b="1">
                <a:solidFill>
                  <a:srgbClr val="0C1E30"/>
                </a:solidFill>
                <a:latin typeface="Noto Sans"/>
              </a:defRPr>
            </a:pPr>
            <a:r>
              <a:t>CamCAN cohort</a:t>
            </a:r>
          </a:p>
        </p:txBody>
      </p:sp>
      <p:sp>
        <p:nvSpPr>
          <p:cNvPr id="9" name="TextBox 8"/>
          <p:cNvSpPr txBox="1"/>
          <p:nvPr/>
        </p:nvSpPr>
        <p:spPr>
          <a:xfrm>
            <a:off x="886968" y="2066543"/>
            <a:ext cx="1691640" cy="201168"/>
          </a:xfrm>
          <a:prstGeom prst="rect">
            <a:avLst/>
          </a:prstGeom>
          <a:noFill/>
        </p:spPr>
        <p:txBody>
          <a:bodyPr wrap="square" lIns="36576" rIns="36576" tIns="0" bIns="0" anchor="t">
            <a:spAutoFit/>
          </a:bodyPr>
          <a:lstStyle/>
          <a:p>
            <a:pPr algn="l">
              <a:defRPr sz="950" b="1">
                <a:solidFill>
                  <a:srgbClr val="566572"/>
                </a:solidFill>
                <a:latin typeface="Noto Sans"/>
              </a:defRPr>
            </a:pPr>
            <a:r>
              <a:t>ID</a:t>
            </a:r>
          </a:p>
        </p:txBody>
      </p:sp>
      <p:sp>
        <p:nvSpPr>
          <p:cNvPr id="10" name="TextBox 9"/>
          <p:cNvSpPr txBox="1"/>
          <p:nvPr/>
        </p:nvSpPr>
        <p:spPr>
          <a:xfrm>
            <a:off x="2788920" y="2066543"/>
            <a:ext cx="1645920" cy="201168"/>
          </a:xfrm>
          <a:prstGeom prst="rect">
            <a:avLst/>
          </a:prstGeom>
          <a:noFill/>
        </p:spPr>
        <p:txBody>
          <a:bodyPr wrap="square" lIns="36576" rIns="36576" tIns="0" bIns="0" anchor="t">
            <a:spAutoFit/>
          </a:bodyPr>
          <a:lstStyle/>
          <a:p>
            <a:pPr algn="l">
              <a:defRPr sz="950" b="1">
                <a:solidFill>
                  <a:srgbClr val="566572"/>
                </a:solidFill>
                <a:latin typeface="Noto Sans"/>
              </a:defRPr>
            </a:pPr>
            <a:r>
              <a:t>Recorded sex</a:t>
            </a:r>
          </a:p>
        </p:txBody>
      </p:sp>
      <p:sp>
        <p:nvSpPr>
          <p:cNvPr id="11" name="TextBox 10"/>
          <p:cNvSpPr txBox="1"/>
          <p:nvPr/>
        </p:nvSpPr>
        <p:spPr>
          <a:xfrm>
            <a:off x="4709160" y="2066543"/>
            <a:ext cx="822960" cy="201168"/>
          </a:xfrm>
          <a:prstGeom prst="rect">
            <a:avLst/>
          </a:prstGeom>
          <a:noFill/>
        </p:spPr>
        <p:txBody>
          <a:bodyPr wrap="square" lIns="36576" rIns="36576" tIns="0" bIns="0" anchor="t">
            <a:spAutoFit/>
          </a:bodyPr>
          <a:lstStyle/>
          <a:p>
            <a:pPr algn="r">
              <a:defRPr sz="950" b="1">
                <a:solidFill>
                  <a:srgbClr val="566572"/>
                </a:solidFill>
                <a:latin typeface="Noto Sans"/>
              </a:defRPr>
            </a:pPr>
            <a:r>
              <a:t>Age</a:t>
            </a:r>
          </a:p>
        </p:txBody>
      </p:sp>
      <p:cxnSp>
        <p:nvCxnSpPr>
          <p:cNvPr id="12" name="Connector 11"/>
          <p:cNvCxnSpPr/>
          <p:nvPr/>
        </p:nvCxnSpPr>
        <p:spPr>
          <a:xfrm>
            <a:off x="868680" y="2359152"/>
            <a:ext cx="4809744"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50392" y="245059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47802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CC110174</a:t>
            </a:r>
          </a:p>
        </p:txBody>
      </p:sp>
      <p:sp>
        <p:nvSpPr>
          <p:cNvPr id="15" name="TextBox 14"/>
          <p:cNvSpPr txBox="1"/>
          <p:nvPr/>
        </p:nvSpPr>
        <p:spPr>
          <a:xfrm>
            <a:off x="2788920" y="247802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16" name="TextBox 15"/>
          <p:cNvSpPr txBox="1"/>
          <p:nvPr/>
        </p:nvSpPr>
        <p:spPr>
          <a:xfrm>
            <a:off x="4709160" y="247802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26.00</a:t>
            </a:r>
          </a:p>
        </p:txBody>
      </p:sp>
      <p:sp>
        <p:nvSpPr>
          <p:cNvPr id="17" name="TextBox 16"/>
          <p:cNvSpPr txBox="1"/>
          <p:nvPr/>
        </p:nvSpPr>
        <p:spPr>
          <a:xfrm>
            <a:off x="886968" y="279806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CC121144</a:t>
            </a:r>
          </a:p>
        </p:txBody>
      </p:sp>
      <p:sp>
        <p:nvSpPr>
          <p:cNvPr id="18" name="TextBox 17"/>
          <p:cNvSpPr txBox="1"/>
          <p:nvPr/>
        </p:nvSpPr>
        <p:spPr>
          <a:xfrm>
            <a:off x="2788920" y="279806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19" name="TextBox 18"/>
          <p:cNvSpPr txBox="1"/>
          <p:nvPr/>
        </p:nvSpPr>
        <p:spPr>
          <a:xfrm>
            <a:off x="4709160" y="279806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26.00</a:t>
            </a:r>
          </a:p>
        </p:txBody>
      </p:sp>
      <p:sp>
        <p:nvSpPr>
          <p:cNvPr id="20" name="Rectangle 19"/>
          <p:cNvSpPr/>
          <p:nvPr/>
        </p:nvSpPr>
        <p:spPr>
          <a:xfrm>
            <a:off x="850392" y="309067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311810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CC310407</a:t>
            </a:r>
          </a:p>
        </p:txBody>
      </p:sp>
      <p:sp>
        <p:nvSpPr>
          <p:cNvPr id="22" name="TextBox 21"/>
          <p:cNvSpPr txBox="1"/>
          <p:nvPr/>
        </p:nvSpPr>
        <p:spPr>
          <a:xfrm>
            <a:off x="2788920" y="311810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23" name="TextBox 22"/>
          <p:cNvSpPr txBox="1"/>
          <p:nvPr/>
        </p:nvSpPr>
        <p:spPr>
          <a:xfrm>
            <a:off x="4709160" y="311810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39.00</a:t>
            </a:r>
          </a:p>
        </p:txBody>
      </p:sp>
      <p:sp>
        <p:nvSpPr>
          <p:cNvPr id="24" name="TextBox 23"/>
          <p:cNvSpPr txBox="1"/>
          <p:nvPr/>
        </p:nvSpPr>
        <p:spPr>
          <a:xfrm>
            <a:off x="886968" y="343814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CC320616</a:t>
            </a:r>
          </a:p>
        </p:txBody>
      </p:sp>
      <p:sp>
        <p:nvSpPr>
          <p:cNvPr id="25" name="TextBox 24"/>
          <p:cNvSpPr txBox="1"/>
          <p:nvPr/>
        </p:nvSpPr>
        <p:spPr>
          <a:xfrm>
            <a:off x="2788920" y="343814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26" name="TextBox 25"/>
          <p:cNvSpPr txBox="1"/>
          <p:nvPr/>
        </p:nvSpPr>
        <p:spPr>
          <a:xfrm>
            <a:off x="4709160" y="343814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39.08</a:t>
            </a:r>
          </a:p>
        </p:txBody>
      </p:sp>
      <p:sp>
        <p:nvSpPr>
          <p:cNvPr id="27" name="Rectangle 26"/>
          <p:cNvSpPr/>
          <p:nvPr/>
        </p:nvSpPr>
        <p:spPr>
          <a:xfrm>
            <a:off x="850392" y="3730751"/>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3758183"/>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CC420071</a:t>
            </a:r>
          </a:p>
        </p:txBody>
      </p:sp>
      <p:sp>
        <p:nvSpPr>
          <p:cNvPr id="29" name="TextBox 28"/>
          <p:cNvSpPr txBox="1"/>
          <p:nvPr/>
        </p:nvSpPr>
        <p:spPr>
          <a:xfrm>
            <a:off x="2788920" y="3758183"/>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30" name="TextBox 29"/>
          <p:cNvSpPr txBox="1"/>
          <p:nvPr/>
        </p:nvSpPr>
        <p:spPr>
          <a:xfrm>
            <a:off x="4709160" y="3758183"/>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52.58</a:t>
            </a:r>
          </a:p>
        </p:txBody>
      </p:sp>
      <p:sp>
        <p:nvSpPr>
          <p:cNvPr id="31" name="TextBox 30"/>
          <p:cNvSpPr txBox="1"/>
          <p:nvPr/>
        </p:nvSpPr>
        <p:spPr>
          <a:xfrm>
            <a:off x="886968" y="407822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CC410432</a:t>
            </a:r>
          </a:p>
        </p:txBody>
      </p:sp>
      <p:sp>
        <p:nvSpPr>
          <p:cNvPr id="32" name="TextBox 31"/>
          <p:cNvSpPr txBox="1"/>
          <p:nvPr/>
        </p:nvSpPr>
        <p:spPr>
          <a:xfrm>
            <a:off x="2788920" y="407822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33" name="TextBox 32"/>
          <p:cNvSpPr txBox="1"/>
          <p:nvPr/>
        </p:nvSpPr>
        <p:spPr>
          <a:xfrm>
            <a:off x="4709160" y="407822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52.58</a:t>
            </a:r>
          </a:p>
        </p:txBody>
      </p:sp>
      <p:sp>
        <p:nvSpPr>
          <p:cNvPr id="34" name="Rectangle 33"/>
          <p:cNvSpPr/>
          <p:nvPr/>
        </p:nvSpPr>
        <p:spPr>
          <a:xfrm>
            <a:off x="850392" y="4370831"/>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 y="439826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CC520083</a:t>
            </a:r>
          </a:p>
        </p:txBody>
      </p:sp>
      <p:sp>
        <p:nvSpPr>
          <p:cNvPr id="36" name="TextBox 35"/>
          <p:cNvSpPr txBox="1"/>
          <p:nvPr/>
        </p:nvSpPr>
        <p:spPr>
          <a:xfrm>
            <a:off x="2788920" y="439826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37" name="TextBox 36"/>
          <p:cNvSpPr txBox="1"/>
          <p:nvPr/>
        </p:nvSpPr>
        <p:spPr>
          <a:xfrm>
            <a:off x="4709160" y="439826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65.08</a:t>
            </a:r>
          </a:p>
        </p:txBody>
      </p:sp>
      <p:sp>
        <p:nvSpPr>
          <p:cNvPr id="38" name="TextBox 37"/>
          <p:cNvSpPr txBox="1"/>
          <p:nvPr/>
        </p:nvSpPr>
        <p:spPr>
          <a:xfrm>
            <a:off x="886968" y="471830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CC520127</a:t>
            </a:r>
          </a:p>
        </p:txBody>
      </p:sp>
      <p:sp>
        <p:nvSpPr>
          <p:cNvPr id="39" name="TextBox 38"/>
          <p:cNvSpPr txBox="1"/>
          <p:nvPr/>
        </p:nvSpPr>
        <p:spPr>
          <a:xfrm>
            <a:off x="2788920" y="471830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40" name="TextBox 39"/>
          <p:cNvSpPr txBox="1"/>
          <p:nvPr/>
        </p:nvSpPr>
        <p:spPr>
          <a:xfrm>
            <a:off x="4709160" y="471830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66.00</a:t>
            </a:r>
          </a:p>
        </p:txBody>
      </p:sp>
      <p:sp>
        <p:nvSpPr>
          <p:cNvPr id="41" name="Rectangle 40"/>
          <p:cNvSpPr/>
          <p:nvPr/>
        </p:nvSpPr>
        <p:spPr>
          <a:xfrm>
            <a:off x="850392" y="501091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 y="503834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CC610631</a:t>
            </a:r>
          </a:p>
        </p:txBody>
      </p:sp>
      <p:sp>
        <p:nvSpPr>
          <p:cNvPr id="43" name="TextBox 42"/>
          <p:cNvSpPr txBox="1"/>
          <p:nvPr/>
        </p:nvSpPr>
        <p:spPr>
          <a:xfrm>
            <a:off x="2788920" y="503834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44" name="TextBox 43"/>
          <p:cNvSpPr txBox="1"/>
          <p:nvPr/>
        </p:nvSpPr>
        <p:spPr>
          <a:xfrm>
            <a:off x="4709160" y="503834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77.58</a:t>
            </a:r>
          </a:p>
        </p:txBody>
      </p:sp>
      <p:sp>
        <p:nvSpPr>
          <p:cNvPr id="45" name="TextBox 44"/>
          <p:cNvSpPr txBox="1"/>
          <p:nvPr/>
        </p:nvSpPr>
        <p:spPr>
          <a:xfrm>
            <a:off x="886968" y="5358383"/>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CC720941</a:t>
            </a:r>
          </a:p>
        </p:txBody>
      </p:sp>
      <p:sp>
        <p:nvSpPr>
          <p:cNvPr id="46" name="TextBox 45"/>
          <p:cNvSpPr txBox="1"/>
          <p:nvPr/>
        </p:nvSpPr>
        <p:spPr>
          <a:xfrm>
            <a:off x="2788920" y="5358383"/>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47" name="TextBox 46"/>
          <p:cNvSpPr txBox="1"/>
          <p:nvPr/>
        </p:nvSpPr>
        <p:spPr>
          <a:xfrm>
            <a:off x="4709160" y="5358383"/>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79.17</a:t>
            </a:r>
          </a:p>
        </p:txBody>
      </p:sp>
      <p:sp>
        <p:nvSpPr>
          <p:cNvPr id="48" name="Rounded Rectangle 47"/>
          <p:cNvSpPr/>
          <p:nvPr/>
        </p:nvSpPr>
        <p:spPr>
          <a:xfrm>
            <a:off x="6236208" y="1307592"/>
            <a:ext cx="5376672" cy="489204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28816" y="1600200"/>
            <a:ext cx="3108960" cy="292608"/>
          </a:xfrm>
          <a:prstGeom prst="rect">
            <a:avLst/>
          </a:prstGeom>
          <a:noFill/>
        </p:spPr>
        <p:txBody>
          <a:bodyPr wrap="square" lIns="36576" rIns="36576" tIns="0" bIns="0" anchor="t">
            <a:spAutoFit/>
          </a:bodyPr>
          <a:lstStyle/>
          <a:p>
            <a:pPr algn="l">
              <a:defRPr sz="1700" b="1">
                <a:solidFill>
                  <a:srgbClr val="0C1E30"/>
                </a:solidFill>
                <a:latin typeface="Noto Sans"/>
              </a:defRPr>
            </a:pPr>
            <a:r>
              <a:t>Target-specific TI montages</a:t>
            </a:r>
          </a:p>
        </p:txBody>
      </p:sp>
      <p:sp>
        <p:nvSpPr>
          <p:cNvPr id="50" name="TextBox 49"/>
          <p:cNvSpPr txBox="1"/>
          <p:nvPr/>
        </p:nvSpPr>
        <p:spPr>
          <a:xfrm>
            <a:off x="6556248" y="2084831"/>
            <a:ext cx="1600200" cy="201168"/>
          </a:xfrm>
          <a:prstGeom prst="rect">
            <a:avLst/>
          </a:prstGeom>
          <a:noFill/>
        </p:spPr>
        <p:txBody>
          <a:bodyPr wrap="square" lIns="36576" rIns="36576" tIns="0" bIns="0" anchor="t">
            <a:spAutoFit/>
          </a:bodyPr>
          <a:lstStyle/>
          <a:p>
            <a:pPr algn="l">
              <a:defRPr sz="950" b="1">
                <a:solidFill>
                  <a:srgbClr val="566572"/>
                </a:solidFill>
                <a:latin typeface="Noto Sans"/>
              </a:defRPr>
            </a:pPr>
            <a:r>
              <a:t>Target</a:t>
            </a:r>
          </a:p>
        </p:txBody>
      </p:sp>
      <p:sp>
        <p:nvSpPr>
          <p:cNvPr id="51" name="TextBox 50"/>
          <p:cNvSpPr txBox="1"/>
          <p:nvPr/>
        </p:nvSpPr>
        <p:spPr>
          <a:xfrm>
            <a:off x="8321040" y="2084831"/>
            <a:ext cx="1508760" cy="201168"/>
          </a:xfrm>
          <a:prstGeom prst="rect">
            <a:avLst/>
          </a:prstGeom>
          <a:noFill/>
        </p:spPr>
        <p:txBody>
          <a:bodyPr wrap="square" lIns="36576" rIns="36576" tIns="0" bIns="0" anchor="t">
            <a:spAutoFit/>
          </a:bodyPr>
          <a:lstStyle/>
          <a:p>
            <a:pPr algn="l">
              <a:defRPr sz="950" b="1">
                <a:solidFill>
                  <a:srgbClr val="566572"/>
                </a:solidFill>
                <a:latin typeface="Noto Sans"/>
              </a:defRPr>
            </a:pPr>
            <a:r>
              <a:t>Electrode pair</a:t>
            </a:r>
          </a:p>
        </p:txBody>
      </p:sp>
      <p:sp>
        <p:nvSpPr>
          <p:cNvPr id="52" name="TextBox 51"/>
          <p:cNvSpPr txBox="1"/>
          <p:nvPr/>
        </p:nvSpPr>
        <p:spPr>
          <a:xfrm>
            <a:off x="10149840" y="2084831"/>
            <a:ext cx="1097280" cy="201168"/>
          </a:xfrm>
          <a:prstGeom prst="rect">
            <a:avLst/>
          </a:prstGeom>
          <a:noFill/>
        </p:spPr>
        <p:txBody>
          <a:bodyPr wrap="square" lIns="36576" rIns="36576" tIns="0" bIns="0" anchor="t">
            <a:spAutoFit/>
          </a:bodyPr>
          <a:lstStyle/>
          <a:p>
            <a:pPr algn="r">
              <a:defRPr sz="950" b="1">
                <a:solidFill>
                  <a:srgbClr val="566572"/>
                </a:solidFill>
                <a:latin typeface="Noto Sans"/>
              </a:defRPr>
            </a:pPr>
            <a:r>
              <a:t>Current</a:t>
            </a:r>
          </a:p>
        </p:txBody>
      </p:sp>
      <p:cxnSp>
        <p:nvCxnSpPr>
          <p:cNvPr id="53" name="Connector 52"/>
          <p:cNvCxnSpPr/>
          <p:nvPr/>
        </p:nvCxnSpPr>
        <p:spPr>
          <a:xfrm>
            <a:off x="6537960" y="2359152"/>
            <a:ext cx="473659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519672" y="2560320"/>
            <a:ext cx="4773168" cy="42976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65392" y="2606040"/>
            <a:ext cx="1600200" cy="201168"/>
          </a:xfrm>
          <a:prstGeom prst="rect">
            <a:avLst/>
          </a:prstGeom>
          <a:noFill/>
        </p:spPr>
        <p:txBody>
          <a:bodyPr wrap="square" lIns="36576" rIns="36576" tIns="0" bIns="0" anchor="t">
            <a:spAutoFit/>
          </a:bodyPr>
          <a:lstStyle/>
          <a:p>
            <a:pPr algn="l">
              <a:defRPr sz="1019" b="1">
                <a:solidFill>
                  <a:srgbClr val="1D2730"/>
                </a:solidFill>
                <a:latin typeface="Noto Sans"/>
              </a:defRPr>
            </a:pPr>
            <a:r>
              <a:t>Left hippocampus</a:t>
            </a:r>
          </a:p>
        </p:txBody>
      </p:sp>
      <p:sp>
        <p:nvSpPr>
          <p:cNvPr id="56" name="TextBox 55"/>
          <p:cNvSpPr txBox="1"/>
          <p:nvPr/>
        </p:nvSpPr>
        <p:spPr>
          <a:xfrm>
            <a:off x="8321040" y="260604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F8–P8</a:t>
            </a:r>
          </a:p>
        </p:txBody>
      </p:sp>
      <p:sp>
        <p:nvSpPr>
          <p:cNvPr id="57" name="TextBox 56"/>
          <p:cNvSpPr txBox="1"/>
          <p:nvPr/>
        </p:nvSpPr>
        <p:spPr>
          <a:xfrm>
            <a:off x="10085832" y="260604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2.000 mA</a:t>
            </a:r>
          </a:p>
        </p:txBody>
      </p:sp>
      <p:sp>
        <p:nvSpPr>
          <p:cNvPr id="58" name="TextBox 57"/>
          <p:cNvSpPr txBox="1"/>
          <p:nvPr/>
        </p:nvSpPr>
        <p:spPr>
          <a:xfrm>
            <a:off x="6565392" y="3108960"/>
            <a:ext cx="1600200" cy="201168"/>
          </a:xfrm>
          <a:prstGeom prst="rect">
            <a:avLst/>
          </a:prstGeom>
          <a:noFill/>
        </p:spPr>
        <p:txBody>
          <a:bodyPr wrap="square" lIns="36576" rIns="36576" tIns="0" bIns="0" anchor="t">
            <a:spAutoFit/>
          </a:bodyPr>
          <a:lstStyle/>
          <a:p>
            <a:pPr algn="l">
              <a:defRPr sz="1019" b="0">
                <a:solidFill>
                  <a:srgbClr val="1D2730"/>
                </a:solidFill>
                <a:latin typeface="Noto Sans"/>
              </a:defRPr>
            </a:pPr>
          </a:p>
        </p:txBody>
      </p:sp>
      <p:sp>
        <p:nvSpPr>
          <p:cNvPr id="59" name="TextBox 58"/>
          <p:cNvSpPr txBox="1"/>
          <p:nvPr/>
        </p:nvSpPr>
        <p:spPr>
          <a:xfrm>
            <a:off x="8321040" y="310896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T7–P7</a:t>
            </a:r>
          </a:p>
        </p:txBody>
      </p:sp>
      <p:sp>
        <p:nvSpPr>
          <p:cNvPr id="60" name="TextBox 59"/>
          <p:cNvSpPr txBox="1"/>
          <p:nvPr/>
        </p:nvSpPr>
        <p:spPr>
          <a:xfrm>
            <a:off x="10085832" y="310896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1.588656 mA</a:t>
            </a:r>
          </a:p>
        </p:txBody>
      </p:sp>
      <p:sp>
        <p:nvSpPr>
          <p:cNvPr id="61" name="Rectangle 60"/>
          <p:cNvSpPr/>
          <p:nvPr/>
        </p:nvSpPr>
        <p:spPr>
          <a:xfrm>
            <a:off x="6519672" y="3566160"/>
            <a:ext cx="4773168" cy="42976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65392" y="3611880"/>
            <a:ext cx="1600200" cy="201168"/>
          </a:xfrm>
          <a:prstGeom prst="rect">
            <a:avLst/>
          </a:prstGeom>
          <a:noFill/>
        </p:spPr>
        <p:txBody>
          <a:bodyPr wrap="square" lIns="36576" rIns="36576" tIns="0" bIns="0" anchor="t">
            <a:spAutoFit/>
          </a:bodyPr>
          <a:lstStyle/>
          <a:p>
            <a:pPr algn="l">
              <a:defRPr sz="1019" b="1">
                <a:solidFill>
                  <a:srgbClr val="1D2730"/>
                </a:solidFill>
                <a:latin typeface="Noto Sans"/>
              </a:defRPr>
            </a:pPr>
            <a:r>
              <a:t>Right M1</a:t>
            </a:r>
          </a:p>
        </p:txBody>
      </p:sp>
      <p:sp>
        <p:nvSpPr>
          <p:cNvPr id="63" name="TextBox 62"/>
          <p:cNvSpPr txBox="1"/>
          <p:nvPr/>
        </p:nvSpPr>
        <p:spPr>
          <a:xfrm>
            <a:off x="8321040" y="361188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Fp2–F6</a:t>
            </a:r>
          </a:p>
        </p:txBody>
      </p:sp>
      <p:sp>
        <p:nvSpPr>
          <p:cNvPr id="64" name="TextBox 63"/>
          <p:cNvSpPr txBox="1"/>
          <p:nvPr/>
        </p:nvSpPr>
        <p:spPr>
          <a:xfrm>
            <a:off x="10085832" y="361188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2.000 mA</a:t>
            </a:r>
          </a:p>
        </p:txBody>
      </p:sp>
      <p:sp>
        <p:nvSpPr>
          <p:cNvPr id="65" name="TextBox 64"/>
          <p:cNvSpPr txBox="1"/>
          <p:nvPr/>
        </p:nvSpPr>
        <p:spPr>
          <a:xfrm>
            <a:off x="6565392" y="4114800"/>
            <a:ext cx="1600200" cy="201168"/>
          </a:xfrm>
          <a:prstGeom prst="rect">
            <a:avLst/>
          </a:prstGeom>
          <a:noFill/>
        </p:spPr>
        <p:txBody>
          <a:bodyPr wrap="square" lIns="36576" rIns="36576" tIns="0" bIns="0" anchor="t">
            <a:spAutoFit/>
          </a:bodyPr>
          <a:lstStyle/>
          <a:p>
            <a:pPr algn="l">
              <a:defRPr sz="1019" b="0">
                <a:solidFill>
                  <a:srgbClr val="1D2730"/>
                </a:solidFill>
                <a:latin typeface="Noto Sans"/>
              </a:defRPr>
            </a:pPr>
          </a:p>
        </p:txBody>
      </p:sp>
      <p:sp>
        <p:nvSpPr>
          <p:cNvPr id="66" name="TextBox 65"/>
          <p:cNvSpPr txBox="1"/>
          <p:nvPr/>
        </p:nvSpPr>
        <p:spPr>
          <a:xfrm>
            <a:off x="8321040" y="411480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C4–CP2</a:t>
            </a:r>
          </a:p>
        </p:txBody>
      </p:sp>
      <p:sp>
        <p:nvSpPr>
          <p:cNvPr id="67" name="TextBox 66"/>
          <p:cNvSpPr txBox="1"/>
          <p:nvPr/>
        </p:nvSpPr>
        <p:spPr>
          <a:xfrm>
            <a:off x="10085832" y="411480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0.632456 mA</a:t>
            </a:r>
          </a:p>
        </p:txBody>
      </p:sp>
      <p:sp>
        <p:nvSpPr>
          <p:cNvPr id="68" name="Rounded Rectangle 67"/>
          <p:cNvSpPr/>
          <p:nvPr/>
        </p:nvSpPr>
        <p:spPr>
          <a:xfrm>
            <a:off x="6528816" y="4983480"/>
            <a:ext cx="4754880" cy="841248"/>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93992" y="5212080"/>
            <a:ext cx="1097280" cy="201168"/>
          </a:xfrm>
          <a:prstGeom prst="rect">
            <a:avLst/>
          </a:prstGeom>
          <a:noFill/>
        </p:spPr>
        <p:txBody>
          <a:bodyPr wrap="square" lIns="36576" rIns="36576" tIns="0" bIns="0" anchor="t">
            <a:spAutoFit/>
          </a:bodyPr>
          <a:lstStyle/>
          <a:p>
            <a:pPr algn="l">
              <a:defRPr sz="1000" b="1">
                <a:solidFill>
                  <a:srgbClr val="194874"/>
                </a:solidFill>
                <a:latin typeface="Noto Sans"/>
              </a:defRPr>
            </a:pPr>
            <a:r>
              <a:t>Electrodes</a:t>
            </a:r>
          </a:p>
        </p:txBody>
      </p:sp>
      <p:sp>
        <p:nvSpPr>
          <p:cNvPr id="70" name="TextBox 69"/>
          <p:cNvSpPr txBox="1"/>
          <p:nvPr/>
        </p:nvSpPr>
        <p:spPr>
          <a:xfrm>
            <a:off x="7818120" y="5157216"/>
            <a:ext cx="3163824" cy="393192"/>
          </a:xfrm>
          <a:prstGeom prst="rect">
            <a:avLst/>
          </a:prstGeom>
          <a:noFill/>
        </p:spPr>
        <p:txBody>
          <a:bodyPr wrap="square" lIns="36576" rIns="36576" tIns="0" bIns="0" anchor="t">
            <a:spAutoFit/>
          </a:bodyPr>
          <a:lstStyle/>
          <a:p>
            <a:pPr algn="l">
              <a:defRPr sz="1150" b="0">
                <a:solidFill>
                  <a:srgbClr val="1D2730"/>
                </a:solidFill>
                <a:latin typeface="Noto Sans"/>
              </a:defRPr>
            </a:pPr>
            <a:r>
              <a:t>20 × 20 × 2 mm circular in-plane • conductivity 1.4 S/m</a:t>
            </a:r>
          </a:p>
        </p:txBody>
      </p:sp>
      <p:sp>
        <p:nvSpPr>
          <p:cNvPr id="71" name="TextBox 70"/>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Same participants evaluated for both target ROIs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PROVENANCE AND SENSITIVITY CHECKS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the current results use the corrected spherical-ROI workflow</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21</a:t>
            </a:r>
          </a:p>
        </p:txBody>
      </p:sp>
      <p:sp>
        <p:nvSpPr>
          <p:cNvPr id="7" name="Rounded Rectangle 6"/>
          <p:cNvSpPr/>
          <p:nvPr/>
        </p:nvSpPr>
        <p:spPr>
          <a:xfrm>
            <a:off x="594360" y="1344168"/>
            <a:ext cx="5376672" cy="4517136"/>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73352"/>
            <a:ext cx="4480560" cy="320040"/>
          </a:xfrm>
          <a:prstGeom prst="rect">
            <a:avLst/>
          </a:prstGeom>
          <a:noFill/>
        </p:spPr>
        <p:txBody>
          <a:bodyPr wrap="square" lIns="36576" rIns="36576" tIns="0" bIns="0" anchor="t">
            <a:spAutoFit/>
          </a:bodyPr>
          <a:lstStyle/>
          <a:p>
            <a:pPr algn="l">
              <a:defRPr sz="1800" b="1">
                <a:solidFill>
                  <a:srgbClr val="0C1E30"/>
                </a:solidFill>
                <a:latin typeface="Noto Sans"/>
              </a:defRPr>
            </a:pPr>
            <a:r>
              <a:t>Fixed-mesh selection correction</a:t>
            </a:r>
          </a:p>
        </p:txBody>
      </p:sp>
      <p:sp>
        <p:nvSpPr>
          <p:cNvPr id="9" name="TextBox 8"/>
          <p:cNvSpPr txBox="1"/>
          <p:nvPr/>
        </p:nvSpPr>
        <p:spPr>
          <a:xfrm>
            <a:off x="896112" y="2286000"/>
            <a:ext cx="1645920" cy="201168"/>
          </a:xfrm>
          <a:prstGeom prst="rect">
            <a:avLst/>
          </a:prstGeom>
          <a:noFill/>
        </p:spPr>
        <p:txBody>
          <a:bodyPr wrap="square" lIns="36576" rIns="36576" tIns="0" bIns="0" anchor="t">
            <a:spAutoFit/>
          </a:bodyPr>
          <a:lstStyle/>
          <a:p>
            <a:pPr algn="l">
              <a:defRPr sz="1000" b="1">
                <a:solidFill>
                  <a:srgbClr val="566572"/>
                </a:solidFill>
                <a:latin typeface="Noto Sans"/>
              </a:defRPr>
            </a:pPr>
            <a:r>
              <a:t>Historical selector</a:t>
            </a:r>
          </a:p>
        </p:txBody>
      </p:sp>
      <p:sp>
        <p:nvSpPr>
          <p:cNvPr id="10" name="TextBox 9"/>
          <p:cNvSpPr txBox="1"/>
          <p:nvPr/>
        </p:nvSpPr>
        <p:spPr>
          <a:xfrm>
            <a:off x="2322576" y="2258568"/>
            <a:ext cx="3017520" cy="274320"/>
          </a:xfrm>
          <a:prstGeom prst="rect">
            <a:avLst/>
          </a:prstGeom>
          <a:noFill/>
        </p:spPr>
        <p:txBody>
          <a:bodyPr wrap="square" lIns="36576" rIns="36576" tIns="0" bIns="0" anchor="t">
            <a:spAutoFit/>
          </a:bodyPr>
          <a:lstStyle/>
          <a:p>
            <a:pPr algn="l">
              <a:defRPr sz="1400" b="0">
                <a:solidFill>
                  <a:srgbClr val="1D2730"/>
                </a:solidFill>
                <a:latin typeface="Noto Sans"/>
              </a:defRPr>
            </a:pPr>
            <a:r>
              <a:t>whole anatomical parcel median</a:t>
            </a:r>
          </a:p>
        </p:txBody>
      </p:sp>
      <p:cxnSp>
        <p:nvCxnSpPr>
          <p:cNvPr id="11" name="Connector 10"/>
          <p:cNvCxnSpPr/>
          <p:nvPr/>
        </p:nvCxnSpPr>
        <p:spPr>
          <a:xfrm>
            <a:off x="1371600" y="2944368"/>
            <a:ext cx="3794760" cy="0"/>
          </a:xfrm>
          <a:prstGeom prst="line">
            <a:avLst/>
          </a:prstGeom>
          <a:ln w="20320">
            <a:solidFill>
              <a:srgbClr val="C25B2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96112" y="3255264"/>
            <a:ext cx="1645920" cy="201168"/>
          </a:xfrm>
          <a:prstGeom prst="rect">
            <a:avLst/>
          </a:prstGeom>
          <a:noFill/>
        </p:spPr>
        <p:txBody>
          <a:bodyPr wrap="square" lIns="36576" rIns="36576" tIns="0" bIns="0" anchor="t">
            <a:spAutoFit/>
          </a:bodyPr>
          <a:lstStyle/>
          <a:p>
            <a:pPr algn="l">
              <a:defRPr sz="1000" b="1">
                <a:solidFill>
                  <a:srgbClr val="C25B23"/>
                </a:solidFill>
                <a:latin typeface="Noto Sans"/>
              </a:defRPr>
            </a:pPr>
            <a:r>
              <a:t>Corrected selector</a:t>
            </a:r>
          </a:p>
        </p:txBody>
      </p:sp>
      <p:sp>
        <p:nvSpPr>
          <p:cNvPr id="13" name="TextBox 12"/>
          <p:cNvSpPr txBox="1"/>
          <p:nvPr/>
        </p:nvSpPr>
        <p:spPr>
          <a:xfrm>
            <a:off x="2322576" y="3218688"/>
            <a:ext cx="3063240" cy="310896"/>
          </a:xfrm>
          <a:prstGeom prst="rect">
            <a:avLst/>
          </a:prstGeom>
          <a:noFill/>
        </p:spPr>
        <p:txBody>
          <a:bodyPr wrap="square" lIns="36576" rIns="36576" tIns="0" bIns="0" anchor="t">
            <a:spAutoFit/>
          </a:bodyPr>
          <a:lstStyle/>
          <a:p>
            <a:pPr algn="l">
              <a:defRPr sz="1400" b="1">
                <a:solidFill>
                  <a:srgbClr val="1D2730"/>
                </a:solidFill>
                <a:latin typeface="Noto Sans"/>
              </a:defRPr>
            </a:pPr>
            <a:r>
              <a:t>optimizer-matched spherical ROI median</a:t>
            </a:r>
          </a:p>
        </p:txBody>
      </p:sp>
      <p:sp>
        <p:nvSpPr>
          <p:cNvPr id="14" name="TextBox 13"/>
          <p:cNvSpPr txBox="1"/>
          <p:nvPr/>
        </p:nvSpPr>
        <p:spPr>
          <a:xfrm>
            <a:off x="896112" y="3986784"/>
            <a:ext cx="1664208" cy="502920"/>
          </a:xfrm>
          <a:prstGeom prst="rect">
            <a:avLst/>
          </a:prstGeom>
          <a:noFill/>
        </p:spPr>
        <p:txBody>
          <a:bodyPr wrap="square" lIns="36576" rIns="36576" tIns="0" bIns="0" anchor="t">
            <a:spAutoFit/>
          </a:bodyPr>
          <a:lstStyle/>
          <a:p>
            <a:pPr algn="l">
              <a:defRPr sz="3000" b="1">
                <a:solidFill>
                  <a:srgbClr val="C25B23"/>
                </a:solidFill>
                <a:latin typeface="Noto Sans"/>
              </a:defRPr>
            </a:pPr>
            <a:r>
              <a:t>18 / 20</a:t>
            </a:r>
          </a:p>
        </p:txBody>
      </p:sp>
      <p:sp>
        <p:nvSpPr>
          <p:cNvPr id="15" name="TextBox 14"/>
          <p:cNvSpPr txBox="1"/>
          <p:nvPr/>
        </p:nvSpPr>
        <p:spPr>
          <a:xfrm>
            <a:off x="2350008" y="4041648"/>
            <a:ext cx="3017520" cy="475488"/>
          </a:xfrm>
          <a:prstGeom prst="rect">
            <a:avLst/>
          </a:prstGeom>
          <a:noFill/>
        </p:spPr>
        <p:txBody>
          <a:bodyPr wrap="square" lIns="36576" rIns="36576" tIns="0" bIns="0" anchor="t">
            <a:spAutoFit/>
          </a:bodyPr>
          <a:lstStyle/>
          <a:p>
            <a:pPr algn="l">
              <a:defRPr sz="1400" b="1">
                <a:solidFill>
                  <a:srgbClr val="1D2730"/>
                </a:solidFill>
                <a:latin typeface="Noto Sans"/>
              </a:defRPr>
            </a:pPr>
            <a:r>
              <a:t>participant–target representative meshes changed</a:t>
            </a:r>
          </a:p>
        </p:txBody>
      </p:sp>
      <p:sp>
        <p:nvSpPr>
          <p:cNvPr id="16" name="TextBox 15"/>
          <p:cNvSpPr txBox="1"/>
          <p:nvPr/>
        </p:nvSpPr>
        <p:spPr>
          <a:xfrm>
            <a:off x="896112" y="4919472"/>
            <a:ext cx="4663440" cy="530352"/>
          </a:xfrm>
          <a:prstGeom prst="rect">
            <a:avLst/>
          </a:prstGeom>
          <a:noFill/>
        </p:spPr>
        <p:txBody>
          <a:bodyPr wrap="square" lIns="36576" rIns="36576" tIns="0" bIns="0" anchor="t">
            <a:spAutoFit/>
          </a:bodyPr>
          <a:lstStyle/>
          <a:p>
            <a:pPr algn="l">
              <a:defRPr sz="1300" b="1">
                <a:solidFill>
                  <a:srgbClr val="0C1E30"/>
                </a:solidFill>
                <a:latin typeface="Noto Sans"/>
              </a:defRPr>
            </a:pPr>
            <a:r>
              <a:t>Current deck uses the corrected fixed runs and unchanged historical remesh rows.</a:t>
            </a:r>
          </a:p>
        </p:txBody>
      </p:sp>
      <p:sp>
        <p:nvSpPr>
          <p:cNvPr id="17" name="Rounded Rectangle 16"/>
          <p:cNvSpPr/>
          <p:nvPr/>
        </p:nvSpPr>
        <p:spPr>
          <a:xfrm>
            <a:off x="6217920" y="1344168"/>
            <a:ext cx="5376672" cy="4517136"/>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1673352"/>
            <a:ext cx="4480560" cy="320040"/>
          </a:xfrm>
          <a:prstGeom prst="rect">
            <a:avLst/>
          </a:prstGeom>
          <a:noFill/>
        </p:spPr>
        <p:txBody>
          <a:bodyPr wrap="square" lIns="36576" rIns="36576" tIns="0" bIns="0" anchor="t">
            <a:spAutoFit/>
          </a:bodyPr>
          <a:lstStyle/>
          <a:p>
            <a:pPr algn="l">
              <a:defRPr sz="1800" b="1">
                <a:solidFill>
                  <a:srgbClr val="0C1E30"/>
                </a:solidFill>
                <a:latin typeface="Noto Sans"/>
              </a:defRPr>
            </a:pPr>
            <a:r>
              <a:t>Finite-support sensitivity audit</a:t>
            </a:r>
          </a:p>
        </p:txBody>
      </p:sp>
      <p:sp>
        <p:nvSpPr>
          <p:cNvPr id="19" name="Rounded Rectangle 18"/>
          <p:cNvSpPr/>
          <p:nvPr/>
        </p:nvSpPr>
        <p:spPr>
          <a:xfrm>
            <a:off x="6519672" y="2176272"/>
            <a:ext cx="2176272" cy="128016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19672" y="2176272"/>
            <a:ext cx="64008" cy="1280160"/>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2322576"/>
            <a:ext cx="1828800" cy="429768"/>
          </a:xfrm>
          <a:prstGeom prst="rect">
            <a:avLst/>
          </a:prstGeom>
          <a:noFill/>
        </p:spPr>
        <p:txBody>
          <a:bodyPr wrap="square" lIns="36576" rIns="36576" tIns="0" bIns="0" anchor="t">
            <a:spAutoFit/>
          </a:bodyPr>
          <a:lstStyle/>
          <a:p>
            <a:pPr algn="l">
              <a:defRPr sz="2500" b="1">
                <a:solidFill>
                  <a:srgbClr val="194874"/>
                </a:solidFill>
                <a:latin typeface="Noto Sans"/>
              </a:defRPr>
            </a:pPr>
            <a:r>
              <a:t>97%</a:t>
            </a:r>
          </a:p>
        </p:txBody>
      </p:sp>
      <p:sp>
        <p:nvSpPr>
          <p:cNvPr id="22" name="TextBox 21"/>
          <p:cNvSpPr txBox="1"/>
          <p:nvPr/>
        </p:nvSpPr>
        <p:spPr>
          <a:xfrm>
            <a:off x="6720840" y="2834639"/>
            <a:ext cx="1828800" cy="530352"/>
          </a:xfrm>
          <a:prstGeom prst="rect">
            <a:avLst/>
          </a:prstGeom>
          <a:noFill/>
        </p:spPr>
        <p:txBody>
          <a:bodyPr wrap="square" lIns="36576" rIns="36576" tIns="0" bIns="0" anchor="t">
            <a:spAutoFit/>
          </a:bodyPr>
          <a:lstStyle/>
          <a:p>
            <a:pPr algn="l">
              <a:defRPr sz="1050" b="0">
                <a:solidFill>
                  <a:srgbClr val="566572"/>
                </a:solidFill>
                <a:latin typeface="Noto Sans"/>
              </a:defRPr>
            </a:pPr>
            <a:r>
              <a:t>minimum finite ROI fraction • hippocampus</a:t>
            </a:r>
          </a:p>
        </p:txBody>
      </p:sp>
      <p:sp>
        <p:nvSpPr>
          <p:cNvPr id="23" name="Rounded Rectangle 22"/>
          <p:cNvSpPr/>
          <p:nvPr/>
        </p:nvSpPr>
        <p:spPr>
          <a:xfrm>
            <a:off x="8979408" y="2176272"/>
            <a:ext cx="2176272" cy="128016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9408" y="2176272"/>
            <a:ext cx="64008" cy="1280160"/>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0576" y="2322576"/>
            <a:ext cx="1828800" cy="429768"/>
          </a:xfrm>
          <a:prstGeom prst="rect">
            <a:avLst/>
          </a:prstGeom>
          <a:noFill/>
        </p:spPr>
        <p:txBody>
          <a:bodyPr wrap="square" lIns="36576" rIns="36576" tIns="0" bIns="0" anchor="t">
            <a:spAutoFit/>
          </a:bodyPr>
          <a:lstStyle/>
          <a:p>
            <a:pPr algn="l">
              <a:defRPr sz="2500" b="1">
                <a:solidFill>
                  <a:srgbClr val="1B8B7E"/>
                </a:solidFill>
                <a:latin typeface="Noto Sans"/>
              </a:defRPr>
            </a:pPr>
            <a:r>
              <a:t>99%</a:t>
            </a:r>
          </a:p>
        </p:txBody>
      </p:sp>
      <p:sp>
        <p:nvSpPr>
          <p:cNvPr id="26" name="TextBox 25"/>
          <p:cNvSpPr txBox="1"/>
          <p:nvPr/>
        </p:nvSpPr>
        <p:spPr>
          <a:xfrm>
            <a:off x="9180576" y="2834639"/>
            <a:ext cx="1828800" cy="530352"/>
          </a:xfrm>
          <a:prstGeom prst="rect">
            <a:avLst/>
          </a:prstGeom>
          <a:noFill/>
        </p:spPr>
        <p:txBody>
          <a:bodyPr wrap="square" lIns="36576" rIns="36576" tIns="0" bIns="0" anchor="t">
            <a:spAutoFit/>
          </a:bodyPr>
          <a:lstStyle/>
          <a:p>
            <a:pPr algn="l">
              <a:defRPr sz="1050" b="0">
                <a:solidFill>
                  <a:srgbClr val="566572"/>
                </a:solidFill>
                <a:latin typeface="Noto Sans"/>
              </a:defRPr>
            </a:pPr>
            <a:r>
              <a:t>minimum finite ROI fraction • M1</a:t>
            </a:r>
          </a:p>
        </p:txBody>
      </p:sp>
      <p:sp>
        <p:nvSpPr>
          <p:cNvPr id="27" name="TextBox 26"/>
          <p:cNvSpPr txBox="1"/>
          <p:nvPr/>
        </p:nvSpPr>
        <p:spPr>
          <a:xfrm>
            <a:off x="6528816" y="3776472"/>
            <a:ext cx="4608576" cy="457200"/>
          </a:xfrm>
          <a:prstGeom prst="rect">
            <a:avLst/>
          </a:prstGeom>
          <a:noFill/>
        </p:spPr>
        <p:txBody>
          <a:bodyPr wrap="square" lIns="36576" rIns="36576" tIns="0" bIns="0" anchor="t">
            <a:spAutoFit/>
          </a:bodyPr>
          <a:lstStyle/>
          <a:p>
            <a:pPr algn="l">
              <a:defRPr sz="1300" b="1">
                <a:solidFill>
                  <a:srgbClr val="1D2730"/>
                </a:solidFill>
                <a:latin typeface="Noto Sans"/>
              </a:defRPr>
            </a:pPr>
            <a:r>
              <a:t>Within participant × condition correlations between finite support and field were weak:</a:t>
            </a:r>
          </a:p>
        </p:txBody>
      </p:sp>
      <p:sp>
        <p:nvSpPr>
          <p:cNvPr id="28" name="TextBox 27"/>
          <p:cNvSpPr txBox="1"/>
          <p:nvPr/>
        </p:nvSpPr>
        <p:spPr>
          <a:xfrm>
            <a:off x="6528816" y="4407408"/>
            <a:ext cx="4608576" cy="256032"/>
          </a:xfrm>
          <a:prstGeom prst="rect">
            <a:avLst/>
          </a:prstGeom>
          <a:noFill/>
        </p:spPr>
        <p:txBody>
          <a:bodyPr wrap="square" lIns="36576" rIns="36576" tIns="0" bIns="0" anchor="t">
            <a:spAutoFit/>
          </a:bodyPr>
          <a:lstStyle/>
          <a:p>
            <a:pPr algn="l">
              <a:defRPr sz="1300" b="0">
                <a:solidFill>
                  <a:srgbClr val="194874"/>
                </a:solidFill>
                <a:latin typeface="Noto Sans"/>
              </a:defRPr>
            </a:pPr>
            <a:r>
              <a:t>hippocampus r = −0.074, ρ = −0.030</a:t>
            </a:r>
          </a:p>
        </p:txBody>
      </p:sp>
      <p:sp>
        <p:nvSpPr>
          <p:cNvPr id="29" name="TextBox 28"/>
          <p:cNvSpPr txBox="1"/>
          <p:nvPr/>
        </p:nvSpPr>
        <p:spPr>
          <a:xfrm>
            <a:off x="6528816" y="4818888"/>
            <a:ext cx="4608576" cy="256032"/>
          </a:xfrm>
          <a:prstGeom prst="rect">
            <a:avLst/>
          </a:prstGeom>
          <a:noFill/>
        </p:spPr>
        <p:txBody>
          <a:bodyPr wrap="square" lIns="36576" rIns="36576" tIns="0" bIns="0" anchor="t">
            <a:spAutoFit/>
          </a:bodyPr>
          <a:lstStyle/>
          <a:p>
            <a:pPr algn="l">
              <a:defRPr sz="1300" b="0">
                <a:solidFill>
                  <a:srgbClr val="1B8B7E"/>
                </a:solidFill>
                <a:latin typeface="Noto Sans"/>
              </a:defRPr>
            </a:pPr>
            <a:r>
              <a:t>M1 r = 0.097, ρ = 0.063</a:t>
            </a:r>
          </a:p>
        </p:txBody>
      </p:sp>
      <p:sp>
        <p:nvSpPr>
          <p:cNvPr id="30" name="TextBox 29"/>
          <p:cNvSpPr txBox="1"/>
          <p:nvPr/>
        </p:nvSpPr>
        <p:spPr>
          <a:xfrm>
            <a:off x="6528816" y="5285232"/>
            <a:ext cx="4608576" cy="274320"/>
          </a:xfrm>
          <a:prstGeom prst="rect">
            <a:avLst/>
          </a:prstGeom>
          <a:noFill/>
        </p:spPr>
        <p:txBody>
          <a:bodyPr wrap="square" lIns="36576" rIns="36576" tIns="0" bIns="0" anchor="t">
            <a:spAutoFit/>
          </a:bodyPr>
          <a:lstStyle/>
          <a:p>
            <a:pPr algn="l">
              <a:defRPr sz="1100" b="1">
                <a:solidFill>
                  <a:srgbClr val="B13A3A"/>
                </a:solidFill>
                <a:latin typeface="Noto Sans"/>
              </a:defRPr>
            </a:pPr>
            <a:r>
              <a:t>Descriptive sensitivity check; not evidence of causality.</a:t>
            </a:r>
          </a:p>
        </p:txBody>
      </p:sp>
      <p:sp>
        <p:nvSpPr>
          <p:cNvPr id="31" name="Rounded Rectangle 30"/>
          <p:cNvSpPr/>
          <p:nvPr/>
        </p:nvSpPr>
        <p:spPr>
          <a:xfrm>
            <a:off x="841248" y="6099048"/>
            <a:ext cx="10533888" cy="283464"/>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6172200"/>
            <a:ext cx="10195560" cy="146304"/>
          </a:xfrm>
          <a:prstGeom prst="rect">
            <a:avLst/>
          </a:prstGeom>
          <a:noFill/>
        </p:spPr>
        <p:txBody>
          <a:bodyPr wrap="square" lIns="36576" rIns="36576" tIns="0" bIns="0" anchor="t">
            <a:spAutoFit/>
          </a:bodyPr>
          <a:lstStyle/>
          <a:p>
            <a:pPr algn="ctr">
              <a:defRPr sz="950" b="1">
                <a:solidFill>
                  <a:srgbClr val="FFFFFF"/>
                </a:solidFill>
                <a:latin typeface="Noto Sans"/>
              </a:defRPr>
            </a:pPr>
            <a:r>
              <a:t>Analysis status: complete • 1,600 corrected cohort rows + 1,600 nested rows • source outputs read only</a:t>
            </a:r>
          </a:p>
        </p:txBody>
      </p:sp>
      <p:sp>
        <p:nvSpPr>
          <p:cNvPr id="33" name="TextBox 32"/>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Analysis manifests dated 11 Sep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References and evidence sources</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22</a:t>
            </a:r>
          </a:p>
        </p:txBody>
      </p:sp>
      <p:sp>
        <p:nvSpPr>
          <p:cNvPr id="7" name="Rounded Rectangle 6"/>
          <p:cNvSpPr/>
          <p:nvPr/>
        </p:nvSpPr>
        <p:spPr>
          <a:xfrm>
            <a:off x="585216" y="1325880"/>
            <a:ext cx="11027664" cy="45445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627632"/>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1</a:t>
            </a:r>
          </a:p>
        </p:txBody>
      </p:sp>
      <p:sp>
        <p:nvSpPr>
          <p:cNvPr id="9" name="TextBox 8"/>
          <p:cNvSpPr txBox="1"/>
          <p:nvPr/>
        </p:nvSpPr>
        <p:spPr>
          <a:xfrm>
            <a:off x="1344168" y="1609344"/>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Grossman N, et al. Noninvasive deep brain stimulation via temporally interfering electric fields. Cell. 2017;169:1029–1041.e16.</a:t>
            </a:r>
          </a:p>
        </p:txBody>
      </p:sp>
      <p:sp>
        <p:nvSpPr>
          <p:cNvPr id="10" name="TextBox 9"/>
          <p:cNvSpPr txBox="1"/>
          <p:nvPr/>
        </p:nvSpPr>
        <p:spPr>
          <a:xfrm>
            <a:off x="877824" y="2203704"/>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2</a:t>
            </a:r>
          </a:p>
        </p:txBody>
      </p:sp>
      <p:sp>
        <p:nvSpPr>
          <p:cNvPr id="11" name="TextBox 10"/>
          <p:cNvSpPr txBox="1"/>
          <p:nvPr/>
        </p:nvSpPr>
        <p:spPr>
          <a:xfrm>
            <a:off x="1344168" y="2185416"/>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Rampersad S, et al. Prospects for transcranial temporal interference stimulation in humans: A computational study. NeuroImage. 2019;202:116124.</a:t>
            </a:r>
          </a:p>
        </p:txBody>
      </p:sp>
      <p:sp>
        <p:nvSpPr>
          <p:cNvPr id="12" name="TextBox 11"/>
          <p:cNvSpPr txBox="1"/>
          <p:nvPr/>
        </p:nvSpPr>
        <p:spPr>
          <a:xfrm>
            <a:off x="877824" y="2779776"/>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3</a:t>
            </a:r>
          </a:p>
        </p:txBody>
      </p:sp>
      <p:sp>
        <p:nvSpPr>
          <p:cNvPr id="13" name="TextBox 12"/>
          <p:cNvSpPr txBox="1"/>
          <p:nvPr/>
        </p:nvSpPr>
        <p:spPr>
          <a:xfrm>
            <a:off x="1344168" y="2761488"/>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Windhoff M, Opitz A, Thielscher A. Electric field calculations in brain stimulation based on finite elements. Human Brain Mapping. 2013;34:923–935.</a:t>
            </a:r>
          </a:p>
        </p:txBody>
      </p:sp>
      <p:sp>
        <p:nvSpPr>
          <p:cNvPr id="14" name="TextBox 13"/>
          <p:cNvSpPr txBox="1"/>
          <p:nvPr/>
        </p:nvSpPr>
        <p:spPr>
          <a:xfrm>
            <a:off x="877824" y="3355848"/>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4</a:t>
            </a:r>
          </a:p>
        </p:txBody>
      </p:sp>
      <p:sp>
        <p:nvSpPr>
          <p:cNvPr id="15" name="TextBox 14"/>
          <p:cNvSpPr txBox="1"/>
          <p:nvPr/>
        </p:nvSpPr>
        <p:spPr>
          <a:xfrm>
            <a:off x="1344168" y="3337560"/>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Saturnino GB, et al. SimNIBS 2.1: A comprehensive pipeline for individualized electric-field modelling. In: Brain and Human Body Modeling. 2019.</a:t>
            </a:r>
          </a:p>
        </p:txBody>
      </p:sp>
      <p:sp>
        <p:nvSpPr>
          <p:cNvPr id="16" name="TextBox 15"/>
          <p:cNvSpPr txBox="1"/>
          <p:nvPr/>
        </p:nvSpPr>
        <p:spPr>
          <a:xfrm>
            <a:off x="877824" y="3931920"/>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5</a:t>
            </a:r>
          </a:p>
        </p:txBody>
      </p:sp>
      <p:sp>
        <p:nvSpPr>
          <p:cNvPr id="17" name="TextBox 16"/>
          <p:cNvSpPr txBox="1"/>
          <p:nvPr/>
        </p:nvSpPr>
        <p:spPr>
          <a:xfrm>
            <a:off x="1344168" y="3913632"/>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Puonti O, et al. Accurate and robust whole-head segmentation from MRI for individualized head modelling. NeuroImage. 2020;219:117044.</a:t>
            </a:r>
          </a:p>
        </p:txBody>
      </p:sp>
      <p:sp>
        <p:nvSpPr>
          <p:cNvPr id="18" name="TextBox 17"/>
          <p:cNvSpPr txBox="1"/>
          <p:nvPr/>
        </p:nvSpPr>
        <p:spPr>
          <a:xfrm>
            <a:off x="877824" y="4507992"/>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6</a:t>
            </a:r>
          </a:p>
        </p:txBody>
      </p:sp>
      <p:sp>
        <p:nvSpPr>
          <p:cNvPr id="19" name="TextBox 18"/>
          <p:cNvSpPr txBox="1"/>
          <p:nvPr/>
        </p:nvSpPr>
        <p:spPr>
          <a:xfrm>
            <a:off x="1344168" y="4489704"/>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Indahlastari A, Chauhan M, Sadleir RJ. Benchmarking transcranial electrical-stimulation finite-element models. J Neural Eng. 2019;16:026019.</a:t>
            </a:r>
          </a:p>
        </p:txBody>
      </p:sp>
      <p:sp>
        <p:nvSpPr>
          <p:cNvPr id="20" name="TextBox 19"/>
          <p:cNvSpPr txBox="1"/>
          <p:nvPr/>
        </p:nvSpPr>
        <p:spPr>
          <a:xfrm>
            <a:off x="877824" y="5084064"/>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7</a:t>
            </a:r>
          </a:p>
        </p:txBody>
      </p:sp>
      <p:sp>
        <p:nvSpPr>
          <p:cNvPr id="21" name="TextBox 20"/>
          <p:cNvSpPr txBox="1"/>
          <p:nvPr/>
        </p:nvSpPr>
        <p:spPr>
          <a:xfrm>
            <a:off x="1344168" y="5065776"/>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Shafto MA, et al. The Cambridge Centre for Ageing and Neuroscience study protocol. BMC Neurology. 2014;14:204.</a:t>
            </a:r>
          </a:p>
        </p:txBody>
      </p:sp>
      <p:sp>
        <p:nvSpPr>
          <p:cNvPr id="22" name="Rounded Rectangle 21"/>
          <p:cNvSpPr/>
          <p:nvPr/>
        </p:nvSpPr>
        <p:spPr>
          <a:xfrm>
            <a:off x="585216" y="6053328"/>
            <a:ext cx="11027664" cy="365760"/>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6144768"/>
            <a:ext cx="10570464" cy="182880"/>
          </a:xfrm>
          <a:prstGeom prst="rect">
            <a:avLst/>
          </a:prstGeom>
          <a:noFill/>
        </p:spPr>
        <p:txBody>
          <a:bodyPr wrap="square" lIns="36576" rIns="36576" tIns="0" bIns="0" anchor="t">
            <a:spAutoFit/>
          </a:bodyPr>
          <a:lstStyle/>
          <a:p>
            <a:pPr algn="ctr">
              <a:defRPr sz="1000" b="1">
                <a:solidFill>
                  <a:srgbClr val="0C1E30"/>
                </a:solidFill>
                <a:latin typeface="Noto Sans"/>
              </a:defRPr>
            </a:pPr>
            <a:r>
              <a:t>Primary presentation evidence: corrected spherical-fixed and nested analysis manifests generated 11 September 2026.</a:t>
            </a:r>
          </a:p>
        </p:txBody>
      </p:sp>
      <p:sp>
        <p:nvSpPr>
          <p:cNvPr id="24" name="TextBox 23"/>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Internal initial draft • source paths documented in build script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RANDOM-EFFECTS MODEL</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model separates between-mesh from within-mesh variation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11</a:t>
            </a:r>
          </a:p>
        </p:txBody>
      </p:sp>
      <p:sp>
        <p:nvSpPr>
          <p:cNvPr id="7" name="Rounded Rectangle 6"/>
          <p:cNvSpPr/>
          <p:nvPr/>
        </p:nvSpPr>
        <p:spPr>
          <a:xfrm>
            <a:off x="612648" y="1335024"/>
            <a:ext cx="10963656" cy="132588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517904"/>
            <a:ext cx="1920240" cy="164592"/>
          </a:xfrm>
          <a:prstGeom prst="rect">
            <a:avLst/>
          </a:prstGeom>
          <a:noFill/>
        </p:spPr>
        <p:txBody>
          <a:bodyPr wrap="square" lIns="36576" rIns="36576" tIns="0" bIns="0" anchor="t">
            <a:spAutoFit/>
          </a:bodyPr>
          <a:lstStyle/>
          <a:p>
            <a:pPr algn="l">
              <a:defRPr sz="880" b="1">
                <a:solidFill>
                  <a:srgbClr val="566572"/>
                </a:solidFill>
                <a:latin typeface="Noto Sans"/>
              </a:defRPr>
            </a:pPr>
            <a:r>
              <a:t>ONE OBSERVED ROI FIELD</a:t>
            </a:r>
          </a:p>
        </p:txBody>
      </p:sp>
      <p:sp>
        <p:nvSpPr>
          <p:cNvPr id="9" name="Rounded Rectangle 8"/>
          <p:cNvSpPr/>
          <p:nvPr/>
        </p:nvSpPr>
        <p:spPr>
          <a:xfrm>
            <a:off x="859536" y="1773936"/>
            <a:ext cx="1627632" cy="512064"/>
          </a:xfrm>
          <a:prstGeom prst="roundRect">
            <a:avLst/>
          </a:prstGeom>
          <a:solidFill>
            <a:srgbClr val="F6F8FA"/>
          </a:solidFill>
          <a:ln w="10160">
            <a:solidFill>
              <a:srgbClr val="0C1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29384"/>
            <a:ext cx="1481328" cy="201168"/>
          </a:xfrm>
          <a:prstGeom prst="rect">
            <a:avLst/>
          </a:prstGeom>
          <a:noFill/>
        </p:spPr>
        <p:txBody>
          <a:bodyPr wrap="square" lIns="36576" rIns="36576" tIns="0" bIns="0" anchor="t">
            <a:spAutoFit/>
          </a:bodyPr>
          <a:lstStyle/>
          <a:p>
            <a:pPr algn="ctr">
              <a:defRPr sz="1220" b="1">
                <a:solidFill>
                  <a:srgbClr val="0C1E30"/>
                </a:solidFill>
                <a:latin typeface="Noto Sans"/>
              </a:defRPr>
            </a:pPr>
            <a:r>
              <a:t>observed field</a:t>
            </a:r>
          </a:p>
        </p:txBody>
      </p:sp>
      <p:sp>
        <p:nvSpPr>
          <p:cNvPr id="11" name="TextBox 10"/>
          <p:cNvSpPr txBox="1"/>
          <p:nvPr/>
        </p:nvSpPr>
        <p:spPr>
          <a:xfrm>
            <a:off x="2578608" y="1883664"/>
            <a:ext cx="310896" cy="256032"/>
          </a:xfrm>
          <a:prstGeom prst="rect">
            <a:avLst/>
          </a:prstGeom>
          <a:noFill/>
        </p:spPr>
        <p:txBody>
          <a:bodyPr wrap="square" lIns="36576" rIns="36576" tIns="0" bIns="0" anchor="t">
            <a:spAutoFit/>
          </a:bodyPr>
          <a:lstStyle/>
          <a:p>
            <a:pPr algn="ctr">
              <a:defRPr sz="2000" b="1">
                <a:solidFill>
                  <a:srgbClr val="566572"/>
                </a:solidFill>
                <a:latin typeface="Noto Sans"/>
              </a:defRPr>
            </a:pPr>
            <a:r>
              <a:t>=</a:t>
            </a:r>
          </a:p>
        </p:txBody>
      </p:sp>
      <p:sp>
        <p:nvSpPr>
          <p:cNvPr id="12" name="Rounded Rectangle 11"/>
          <p:cNvSpPr/>
          <p:nvPr/>
        </p:nvSpPr>
        <p:spPr>
          <a:xfrm>
            <a:off x="2971800" y="1773936"/>
            <a:ext cx="1847088" cy="512064"/>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4952" y="1929384"/>
            <a:ext cx="1700784" cy="201168"/>
          </a:xfrm>
          <a:prstGeom prst="rect">
            <a:avLst/>
          </a:prstGeom>
          <a:noFill/>
        </p:spPr>
        <p:txBody>
          <a:bodyPr wrap="square" lIns="36576" rIns="36576" tIns="0" bIns="0" anchor="t">
            <a:spAutoFit/>
          </a:bodyPr>
          <a:lstStyle/>
          <a:p>
            <a:pPr algn="ctr">
              <a:defRPr sz="1220" b="1">
                <a:solidFill>
                  <a:srgbClr val="194874"/>
                </a:solidFill>
                <a:latin typeface="Noto Sans"/>
              </a:defRPr>
            </a:pPr>
            <a:r>
              <a:t>overall mean</a:t>
            </a:r>
          </a:p>
        </p:txBody>
      </p:sp>
      <p:sp>
        <p:nvSpPr>
          <p:cNvPr id="14" name="TextBox 13"/>
          <p:cNvSpPr txBox="1"/>
          <p:nvPr/>
        </p:nvSpPr>
        <p:spPr>
          <a:xfrm>
            <a:off x="4919472" y="1883664"/>
            <a:ext cx="310896" cy="256032"/>
          </a:xfrm>
          <a:prstGeom prst="rect">
            <a:avLst/>
          </a:prstGeom>
          <a:noFill/>
        </p:spPr>
        <p:txBody>
          <a:bodyPr wrap="square" lIns="36576" rIns="36576" tIns="0" bIns="0" anchor="t">
            <a:spAutoFit/>
          </a:bodyPr>
          <a:lstStyle/>
          <a:p>
            <a:pPr algn="ctr">
              <a:defRPr sz="2000" b="1">
                <a:solidFill>
                  <a:srgbClr val="566572"/>
                </a:solidFill>
                <a:latin typeface="Noto Sans"/>
              </a:defRPr>
            </a:pPr>
            <a:r>
              <a:t>+</a:t>
            </a:r>
          </a:p>
        </p:txBody>
      </p:sp>
      <p:sp>
        <p:nvSpPr>
          <p:cNvPr id="15" name="Rounded Rectangle 14"/>
          <p:cNvSpPr/>
          <p:nvPr/>
        </p:nvSpPr>
        <p:spPr>
          <a:xfrm>
            <a:off x="5321808" y="1773936"/>
            <a:ext cx="2304288" cy="512064"/>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1929384"/>
            <a:ext cx="2157984" cy="201168"/>
          </a:xfrm>
          <a:prstGeom prst="rect">
            <a:avLst/>
          </a:prstGeom>
          <a:noFill/>
        </p:spPr>
        <p:txBody>
          <a:bodyPr wrap="square" lIns="36576" rIns="36576" tIns="0" bIns="0" anchor="t">
            <a:spAutoFit/>
          </a:bodyPr>
          <a:lstStyle/>
          <a:p>
            <a:pPr algn="ctr">
              <a:defRPr sz="1220" b="1">
                <a:solidFill>
                  <a:srgbClr val="C25B23"/>
                </a:solidFill>
                <a:latin typeface="Noto Sans"/>
              </a:defRPr>
            </a:pPr>
            <a:r>
              <a:t>mesh-specific shift</a:t>
            </a:r>
          </a:p>
        </p:txBody>
      </p:sp>
      <p:sp>
        <p:nvSpPr>
          <p:cNvPr id="17" name="TextBox 16"/>
          <p:cNvSpPr txBox="1"/>
          <p:nvPr/>
        </p:nvSpPr>
        <p:spPr>
          <a:xfrm>
            <a:off x="7726679" y="1883664"/>
            <a:ext cx="310896" cy="256032"/>
          </a:xfrm>
          <a:prstGeom prst="rect">
            <a:avLst/>
          </a:prstGeom>
          <a:noFill/>
        </p:spPr>
        <p:txBody>
          <a:bodyPr wrap="square" lIns="36576" rIns="36576" tIns="0" bIns="0" anchor="t">
            <a:spAutoFit/>
          </a:bodyPr>
          <a:lstStyle/>
          <a:p>
            <a:pPr algn="ctr">
              <a:defRPr sz="2000" b="1">
                <a:solidFill>
                  <a:srgbClr val="566572"/>
                </a:solidFill>
                <a:latin typeface="Noto Sans"/>
              </a:defRPr>
            </a:pPr>
            <a:r>
              <a:t>+</a:t>
            </a:r>
          </a:p>
        </p:txBody>
      </p:sp>
      <p:sp>
        <p:nvSpPr>
          <p:cNvPr id="18" name="Rounded Rectangle 17"/>
          <p:cNvSpPr/>
          <p:nvPr/>
        </p:nvSpPr>
        <p:spPr>
          <a:xfrm>
            <a:off x="8129016" y="1773936"/>
            <a:ext cx="2724912" cy="512064"/>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8" y="1929384"/>
            <a:ext cx="2578608" cy="201168"/>
          </a:xfrm>
          <a:prstGeom prst="rect">
            <a:avLst/>
          </a:prstGeom>
          <a:noFill/>
        </p:spPr>
        <p:txBody>
          <a:bodyPr wrap="square" lIns="36576" rIns="36576" tIns="0" bIns="0" anchor="t">
            <a:spAutoFit/>
          </a:bodyPr>
          <a:lstStyle/>
          <a:p>
            <a:pPr algn="ctr">
              <a:defRPr sz="1220" b="1">
                <a:solidFill>
                  <a:srgbClr val="1B8B7E"/>
                </a:solidFill>
                <a:latin typeface="Noto Sans"/>
              </a:defRPr>
            </a:pPr>
            <a:r>
              <a:t>repeat-to-repeat residual</a:t>
            </a:r>
          </a:p>
        </p:txBody>
      </p:sp>
      <p:sp>
        <p:nvSpPr>
          <p:cNvPr id="20" name="TextBox 19"/>
          <p:cNvSpPr txBox="1"/>
          <p:nvPr/>
        </p:nvSpPr>
        <p:spPr>
          <a:xfrm>
            <a:off x="859536" y="2386584"/>
            <a:ext cx="10378440" cy="192024"/>
          </a:xfrm>
          <a:prstGeom prst="rect">
            <a:avLst/>
          </a:prstGeom>
          <a:noFill/>
        </p:spPr>
        <p:txBody>
          <a:bodyPr wrap="square" lIns="36576" rIns="36576" tIns="0" bIns="0" anchor="t">
            <a:spAutoFit/>
          </a:bodyPr>
          <a:lstStyle/>
          <a:p>
            <a:pPr algn="ctr">
              <a:defRPr sz="1150" b="1">
                <a:solidFill>
                  <a:srgbClr val="566572"/>
                </a:solidFill>
                <a:latin typeface="Noto Sans"/>
              </a:defRPr>
            </a:pPr>
            <a:r>
              <a:t>yₘᵣ = μ + uₘ + εₘᵣ</a:t>
            </a:r>
          </a:p>
        </p:txBody>
      </p:sp>
      <p:sp>
        <p:nvSpPr>
          <p:cNvPr id="21" name="Rounded Rectangle 20"/>
          <p:cNvSpPr/>
          <p:nvPr/>
        </p:nvSpPr>
        <p:spPr>
          <a:xfrm>
            <a:off x="612648" y="2880360"/>
            <a:ext cx="5276088" cy="2276856"/>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182112"/>
            <a:ext cx="4023360" cy="237744"/>
          </a:xfrm>
          <a:prstGeom prst="rect">
            <a:avLst/>
          </a:prstGeom>
          <a:noFill/>
        </p:spPr>
        <p:txBody>
          <a:bodyPr wrap="square" lIns="36576" rIns="36576" tIns="0" bIns="0" anchor="t">
            <a:spAutoFit/>
          </a:bodyPr>
          <a:lstStyle/>
          <a:p>
            <a:pPr algn="l">
              <a:defRPr sz="1400" b="1">
                <a:solidFill>
                  <a:srgbClr val="C25B23"/>
                </a:solidFill>
                <a:latin typeface="Noto Sans"/>
              </a:defRPr>
            </a:pPr>
            <a:r>
              <a:t>BETWEEN MESHES  •  MESH VARIANCE</a:t>
            </a:r>
          </a:p>
        </p:txBody>
      </p:sp>
      <p:sp>
        <p:nvSpPr>
          <p:cNvPr id="23" name="TextBox 22"/>
          <p:cNvSpPr txBox="1"/>
          <p:nvPr/>
        </p:nvSpPr>
        <p:spPr>
          <a:xfrm>
            <a:off x="896112" y="3575304"/>
            <a:ext cx="4553712" cy="502920"/>
          </a:xfrm>
          <a:prstGeom prst="rect">
            <a:avLst/>
          </a:prstGeom>
          <a:noFill/>
        </p:spPr>
        <p:txBody>
          <a:bodyPr wrap="square" lIns="36576" rIns="36576" tIns="0" bIns="0" anchor="t">
            <a:spAutoFit/>
          </a:bodyPr>
          <a:lstStyle/>
          <a:p>
            <a:pPr algn="l">
              <a:defRPr sz="1700" b="1">
                <a:solidFill>
                  <a:srgbClr val="0C1E30"/>
                </a:solidFill>
                <a:latin typeface="Noto Sans"/>
              </a:defRPr>
            </a:pPr>
            <a:r>
              <a:t>Do independently generated geometries give different average fields?</a:t>
            </a:r>
          </a:p>
        </p:txBody>
      </p:sp>
      <p:sp>
        <p:nvSpPr>
          <p:cNvPr id="24" name="TextBox 23"/>
          <p:cNvSpPr txBox="1"/>
          <p:nvPr/>
        </p:nvSpPr>
        <p:spPr>
          <a:xfrm>
            <a:off x="896112" y="4279392"/>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1  Average the 40 solutions within each mesh</a:t>
            </a:r>
          </a:p>
        </p:txBody>
      </p:sp>
      <p:sp>
        <p:nvSpPr>
          <p:cNvPr id="25" name="TextBox 24"/>
          <p:cNvSpPr txBox="1"/>
          <p:nvPr/>
        </p:nvSpPr>
        <p:spPr>
          <a:xfrm>
            <a:off x="896112" y="4617720"/>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2  Compare the 40 mesh means</a:t>
            </a:r>
          </a:p>
        </p:txBody>
      </p:sp>
      <p:sp>
        <p:nvSpPr>
          <p:cNvPr id="26" name="TextBox 25"/>
          <p:cNvSpPr txBox="1"/>
          <p:nvPr/>
        </p:nvSpPr>
        <p:spPr>
          <a:xfrm>
            <a:off x="896112" y="4937760"/>
            <a:ext cx="4553712" cy="182880"/>
          </a:xfrm>
          <a:prstGeom prst="rect">
            <a:avLst/>
          </a:prstGeom>
          <a:noFill/>
        </p:spPr>
        <p:txBody>
          <a:bodyPr wrap="square" lIns="36576" rIns="36576" tIns="0" bIns="0" anchor="t">
            <a:spAutoFit/>
          </a:bodyPr>
          <a:lstStyle/>
          <a:p>
            <a:pPr algn="l">
              <a:defRPr sz="1050" b="1">
                <a:solidFill>
                  <a:srgbClr val="C25B23"/>
                </a:solidFill>
                <a:latin typeface="Noto Sans"/>
              </a:defRPr>
            </a:pPr>
            <a:r>
              <a:t>Large value → remeshing changes the estimated field</a:t>
            </a:r>
          </a:p>
        </p:txBody>
      </p:sp>
      <p:sp>
        <p:nvSpPr>
          <p:cNvPr id="27" name="Rounded Rectangle 26"/>
          <p:cNvSpPr/>
          <p:nvPr/>
        </p:nvSpPr>
        <p:spPr>
          <a:xfrm>
            <a:off x="6300216" y="2880360"/>
            <a:ext cx="5276088" cy="2276856"/>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3182112"/>
            <a:ext cx="4114800" cy="237744"/>
          </a:xfrm>
          <a:prstGeom prst="rect">
            <a:avLst/>
          </a:prstGeom>
          <a:noFill/>
        </p:spPr>
        <p:txBody>
          <a:bodyPr wrap="square" lIns="36576" rIns="36576" tIns="0" bIns="0" anchor="t">
            <a:spAutoFit/>
          </a:bodyPr>
          <a:lstStyle/>
          <a:p>
            <a:pPr algn="l">
              <a:defRPr sz="1400" b="1">
                <a:solidFill>
                  <a:srgbClr val="1B8B7E"/>
                </a:solidFill>
                <a:latin typeface="Noto Sans"/>
              </a:defRPr>
            </a:pPr>
            <a:r>
              <a:t>WITHIN A MESH  •  RESIDUAL VARIANCE</a:t>
            </a:r>
          </a:p>
        </p:txBody>
      </p:sp>
      <p:sp>
        <p:nvSpPr>
          <p:cNvPr id="29" name="TextBox 28"/>
          <p:cNvSpPr txBox="1"/>
          <p:nvPr/>
        </p:nvSpPr>
        <p:spPr>
          <a:xfrm>
            <a:off x="6583680" y="3575304"/>
            <a:ext cx="4553712" cy="502920"/>
          </a:xfrm>
          <a:prstGeom prst="rect">
            <a:avLst/>
          </a:prstGeom>
          <a:noFill/>
        </p:spPr>
        <p:txBody>
          <a:bodyPr wrap="square" lIns="36576" rIns="36576" tIns="0" bIns="0" anchor="t">
            <a:spAutoFit/>
          </a:bodyPr>
          <a:lstStyle/>
          <a:p>
            <a:pPr algn="l">
              <a:defRPr sz="1700" b="1">
                <a:solidFill>
                  <a:srgbClr val="0C1E30"/>
                </a:solidFill>
                <a:latin typeface="Noto Sans"/>
              </a:defRPr>
            </a:pPr>
            <a:r>
              <a:t>If geometry is fixed, how much do repeated solutions still differ?</a:t>
            </a:r>
          </a:p>
        </p:txBody>
      </p:sp>
      <p:sp>
        <p:nvSpPr>
          <p:cNvPr id="30" name="TextBox 29"/>
          <p:cNvSpPr txBox="1"/>
          <p:nvPr/>
        </p:nvSpPr>
        <p:spPr>
          <a:xfrm>
            <a:off x="6583680" y="4279392"/>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1  Compare each solution with its own mesh mean</a:t>
            </a:r>
          </a:p>
        </p:txBody>
      </p:sp>
      <p:sp>
        <p:nvSpPr>
          <p:cNvPr id="31" name="TextBox 30"/>
          <p:cNvSpPr txBox="1"/>
          <p:nvPr/>
        </p:nvSpPr>
        <p:spPr>
          <a:xfrm>
            <a:off x="6583680" y="4617720"/>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2  Pool the remaining within-mesh scatter</a:t>
            </a:r>
          </a:p>
        </p:txBody>
      </p:sp>
      <p:sp>
        <p:nvSpPr>
          <p:cNvPr id="32" name="TextBox 31"/>
          <p:cNvSpPr txBox="1"/>
          <p:nvPr/>
        </p:nvSpPr>
        <p:spPr>
          <a:xfrm>
            <a:off x="6583680" y="4937760"/>
            <a:ext cx="4553712" cy="182880"/>
          </a:xfrm>
          <a:prstGeom prst="rect">
            <a:avLst/>
          </a:prstGeom>
          <a:noFill/>
        </p:spPr>
        <p:txBody>
          <a:bodyPr wrap="square" lIns="36576" rIns="36576" tIns="0" bIns="0" anchor="t">
            <a:spAutoFit/>
          </a:bodyPr>
          <a:lstStyle/>
          <a:p>
            <a:pPr algn="l">
              <a:defRPr sz="1050" b="1">
                <a:solidFill>
                  <a:srgbClr val="1B8B7E"/>
                </a:solidFill>
                <a:latin typeface="Noto Sans"/>
              </a:defRPr>
            </a:pPr>
            <a:r>
              <a:t>Small value → the same mesh solves reproducibly</a:t>
            </a:r>
          </a:p>
        </p:txBody>
      </p:sp>
      <p:sp>
        <p:nvSpPr>
          <p:cNvPr id="33" name="Rounded Rectangle 32"/>
          <p:cNvSpPr/>
          <p:nvPr/>
        </p:nvSpPr>
        <p:spPr>
          <a:xfrm>
            <a:off x="822960" y="5449824"/>
            <a:ext cx="10533888" cy="612648"/>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8992" y="5650992"/>
            <a:ext cx="10021824" cy="219456"/>
          </a:xfrm>
          <a:prstGeom prst="rect">
            <a:avLst/>
          </a:prstGeom>
          <a:noFill/>
        </p:spPr>
        <p:txBody>
          <a:bodyPr wrap="square" lIns="36576" rIns="36576" tIns="0" bIns="0" anchor="t">
            <a:spAutoFit/>
          </a:bodyPr>
          <a:lstStyle/>
          <a:p>
            <a:pPr algn="ctr">
              <a:defRPr sz="1400" b="1">
                <a:solidFill>
                  <a:srgbClr val="FFFFFF"/>
                </a:solidFill>
                <a:latin typeface="Noto Sans"/>
              </a:defRPr>
            </a:pPr>
            <a:r>
              <a:t>Total technical variance = mesh variance + within-mesh variance     •     mesh share = mesh variance / total</a:t>
            </a:r>
          </a:p>
        </p:txBody>
      </p:sp>
      <p:sp>
        <p:nvSpPr>
          <p:cNvPr id="35" name="TextBox 34"/>
          <p:cNvSpPr txBox="1"/>
          <p:nvPr/>
        </p:nvSpPr>
        <p:spPr>
          <a:xfrm>
            <a:off x="841248" y="6181344"/>
            <a:ext cx="10497312" cy="219456"/>
          </a:xfrm>
          <a:prstGeom prst="rect">
            <a:avLst/>
          </a:prstGeom>
          <a:noFill/>
        </p:spPr>
        <p:txBody>
          <a:bodyPr wrap="square" lIns="36576" rIns="36576" tIns="0" bIns="0" anchor="t">
            <a:spAutoFit/>
          </a:bodyPr>
          <a:lstStyle/>
          <a:p>
            <a:pPr algn="ctr">
              <a:defRPr sz="1030" b="1">
                <a:solidFill>
                  <a:srgbClr val="B13A3A"/>
                </a:solidFill>
                <a:latin typeface="Noto Sans"/>
              </a:defRPr>
            </a:pPr>
            <a:r>
              <a:t>Scope: one fixed participant and target. The model attributes technical variation; it does not estimate population variance.</a:t>
            </a:r>
          </a:p>
        </p:txBody>
      </p:sp>
      <p:sp>
        <p:nvSpPr>
          <p:cNvPr id="36" name="TextBox 35"/>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m = mesh • r = repeated solution • uₘ = mesh effect • εₘᵣ = residual within that mesh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